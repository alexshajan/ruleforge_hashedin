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6"/>
  </p:notesMasterIdLst>
  <p:sldIdLst>
    <p:sldId id="256" r:id="rId2"/>
    <p:sldId id="257" r:id="rId3"/>
    <p:sldId id="258" r:id="rId4"/>
    <p:sldId id="259" r:id="rId5"/>
    <p:sldId id="277" r:id="rId6"/>
    <p:sldId id="260" r:id="rId7"/>
    <p:sldId id="261" r:id="rId8"/>
    <p:sldId id="262" r:id="rId9"/>
    <p:sldId id="263" r:id="rId10"/>
    <p:sldId id="278"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9" r:id="rId2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008"/>
    <p:restoredTop sz="94667"/>
  </p:normalViewPr>
  <p:slideViewPr>
    <p:cSldViewPr snapToGrid="0" snapToObjects="1">
      <p:cViewPr varScale="1">
        <p:scale>
          <a:sx n="91" d="100"/>
          <a:sy n="91" d="100"/>
        </p:scale>
        <p:origin x="192" y="60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929957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Business case in SME-days avoids picking an uncertain salary figure. Citation accuracy is the only hard target set in advance.</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End on the decision you want from the panel.</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Every number in the deck traces to one of these.</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Links. Figma: https://tinyurl.com/tc9nc223 . Prototype: https://alexshajan.github.io/Ruleforge_HashedIn/RuleForge_Wireframes_v3.html (needs GitHub Pages on the repo, branch main). Repo: https://github.com/alexshajan/Ruleforge_HashedIn .</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10/27/26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10/27/26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10/27/26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10/27/26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10/27/26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10/27/26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10/27/26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9.xml"/><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3.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hyperlink" Target="https://tinyurl.com/tc9nc223" TargetMode="External"/><Relationship Id="rId2" Type="http://schemas.openxmlformats.org/officeDocument/2006/relationships/notesSlide" Target="../notesSlides/notesSlide24.xml"/><Relationship Id="rId1" Type="http://schemas.openxmlformats.org/officeDocument/2006/relationships/slideLayout" Target="../slideLayouts/slideLayout7.xml"/><Relationship Id="rId5" Type="http://schemas.openxmlformats.org/officeDocument/2006/relationships/hyperlink" Target="https://github.com/alexshajan/Ruleforge_HashedIn" TargetMode="External"/><Relationship Id="rId4" Type="http://schemas.openxmlformats.org/officeDocument/2006/relationships/hyperlink" Target="https://alexshajan.github.io/Ruleforge_HashedIn/RuleForge_Wireframes_v3.html"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D0D0D"/>
        </a:solidFill>
        <a:effectLst/>
      </p:bgPr>
    </p:bg>
    <p:spTree>
      <p:nvGrpSpPr>
        <p:cNvPr id="1" name=""/>
        <p:cNvGrpSpPr/>
        <p:nvPr/>
      </p:nvGrpSpPr>
      <p:grpSpPr>
        <a:xfrm>
          <a:off x="0" y="0"/>
          <a:ext cx="0" cy="0"/>
          <a:chOff x="0" y="0"/>
          <a:chExt cx="0" cy="0"/>
        </a:xfrm>
      </p:grpSpPr>
      <p:sp>
        <p:nvSpPr>
          <p:cNvPr id="2" name="SlideNo"/>
          <p:cNvSpPr txBox="1"/>
          <p:nvPr/>
        </p:nvSpPr>
        <p:spPr>
          <a:xfrm>
            <a:off x="11064240" y="6355080"/>
            <a:ext cx="576072" cy="320040"/>
          </a:xfrm>
          <a:prstGeom prst="rect">
            <a:avLst/>
          </a:prstGeom>
          <a:noFill/>
        </p:spPr>
        <p:txBody>
          <a:bodyPr wrap="square" lIns="0" tIns="0" rIns="0" bIns="0" anchor="t">
            <a:spAutoFit/>
          </a:bodyPr>
          <a:lstStyle/>
          <a:p>
            <a:pPr algn="r">
              <a:spcAft>
                <a:spcPts val="400"/>
              </a:spcAft>
            </a:pPr>
            <a:r>
              <a:rPr sz="1000" b="0" i="0">
                <a:solidFill>
                  <a:srgbClr val="C9CDD1"/>
                </a:solidFill>
                <a:latin typeface="Calibri"/>
              </a:rPr>
              <a:t>1</a:t>
            </a:r>
          </a:p>
        </p:txBody>
      </p:sp>
      <p:sp>
        <p:nvSpPr>
          <p:cNvPr id="3" name="TextBox 2"/>
          <p:cNvSpPr txBox="1"/>
          <p:nvPr/>
        </p:nvSpPr>
        <p:spPr>
          <a:xfrm>
            <a:off x="731520" y="1097280"/>
            <a:ext cx="8229600" cy="184666"/>
          </a:xfrm>
          <a:prstGeom prst="rect">
            <a:avLst/>
          </a:prstGeom>
          <a:noFill/>
        </p:spPr>
        <p:txBody>
          <a:bodyPr wrap="square" lIns="0" tIns="0" rIns="0" bIns="0" anchor="t">
            <a:spAutoFit/>
          </a:bodyPr>
          <a:lstStyle/>
          <a:p>
            <a:pPr algn="l">
              <a:spcAft>
                <a:spcPts val="400"/>
              </a:spcAft>
            </a:pPr>
            <a:r>
              <a:rPr sz="1200" b="1" i="0" dirty="0">
                <a:solidFill>
                  <a:srgbClr val="C9CDD1"/>
                </a:solidFill>
                <a:latin typeface="Arial"/>
              </a:rPr>
              <a:t>HASHEDIN BY DELOITTE · CAMPUS PM HIRING 2026 · CASE 14</a:t>
            </a:r>
          </a:p>
        </p:txBody>
      </p:sp>
      <p:sp>
        <p:nvSpPr>
          <p:cNvPr id="4" name="TextBox 3"/>
          <p:cNvSpPr txBox="1"/>
          <p:nvPr/>
        </p:nvSpPr>
        <p:spPr>
          <a:xfrm>
            <a:off x="731520" y="1828800"/>
            <a:ext cx="10515600" cy="1645920"/>
          </a:xfrm>
          <a:prstGeom prst="rect">
            <a:avLst/>
          </a:prstGeom>
          <a:noFill/>
        </p:spPr>
        <p:txBody>
          <a:bodyPr wrap="square" lIns="0" tIns="0" rIns="0" bIns="0" anchor="t">
            <a:spAutoFit/>
          </a:bodyPr>
          <a:lstStyle/>
          <a:p>
            <a:pPr algn="l">
              <a:spcAft>
                <a:spcPts val="400"/>
              </a:spcAft>
            </a:pPr>
            <a:r>
              <a:rPr sz="4400" b="1" i="0">
                <a:solidFill>
                  <a:srgbClr val="FFFFFF"/>
                </a:solidFill>
                <a:latin typeface="Arial"/>
              </a:rPr>
              <a:t>RuleForge: agentic rule generation for CloudGuard Labs</a:t>
            </a:r>
          </a:p>
        </p:txBody>
      </p:sp>
      <p:sp>
        <p:nvSpPr>
          <p:cNvPr id="5" name="TextBox 4"/>
          <p:cNvSpPr txBox="1"/>
          <p:nvPr/>
        </p:nvSpPr>
        <p:spPr>
          <a:xfrm>
            <a:off x="731520" y="3566160"/>
            <a:ext cx="10058400" cy="731520"/>
          </a:xfrm>
          <a:prstGeom prst="rect">
            <a:avLst/>
          </a:prstGeom>
          <a:noFill/>
        </p:spPr>
        <p:txBody>
          <a:bodyPr wrap="square" lIns="0" tIns="0" rIns="0" bIns="0" anchor="t">
            <a:spAutoFit/>
          </a:bodyPr>
          <a:lstStyle/>
          <a:p>
            <a:pPr algn="l">
              <a:spcAft>
                <a:spcPts val="400"/>
              </a:spcAft>
            </a:pPr>
            <a:r>
              <a:rPr sz="2200" b="0" i="1">
                <a:solidFill>
                  <a:srgbClr val="C9CDD1"/>
                </a:solidFill>
                <a:latin typeface="Calibri"/>
              </a:rPr>
              <a:t>AI drafts the evidence. SMEs decide. Every finding stays provable.</a:t>
            </a:r>
          </a:p>
        </p:txBody>
      </p:sp>
      <p:sp>
        <p:nvSpPr>
          <p:cNvPr id="6" name="Rounded Rectangle 5"/>
          <p:cNvSpPr/>
          <p:nvPr/>
        </p:nvSpPr>
        <p:spPr>
          <a:xfrm>
            <a:off x="731520" y="4297680"/>
            <a:ext cx="3931920" cy="384048"/>
          </a:xfrm>
          <a:prstGeom prst="roundRect">
            <a:avLst>
              <a:gd name="adj" fmla="val 50000"/>
            </a:avLst>
          </a:prstGeom>
          <a:solidFill>
            <a:srgbClr val="86BC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731520" y="4297680"/>
            <a:ext cx="3931920" cy="384048"/>
          </a:xfrm>
          <a:prstGeom prst="rect">
            <a:avLst/>
          </a:prstGeom>
          <a:noFill/>
        </p:spPr>
        <p:txBody>
          <a:bodyPr wrap="square" lIns="0" tIns="0" rIns="0" bIns="0" anchor="ctr">
            <a:spAutoFit/>
          </a:bodyPr>
          <a:lstStyle/>
          <a:p>
            <a:pPr algn="ctr">
              <a:spcAft>
                <a:spcPts val="400"/>
              </a:spcAft>
            </a:pPr>
            <a:r>
              <a:rPr sz="1300" b="1" i="0">
                <a:solidFill>
                  <a:srgbClr val="0D0D0D"/>
                </a:solidFill>
                <a:latin typeface="Arial"/>
              </a:rPr>
              <a:t>MVP · AWS only · 100% SME sign-off</a:t>
            </a:r>
          </a:p>
        </p:txBody>
      </p:sp>
      <p:sp>
        <p:nvSpPr>
          <p:cNvPr id="8" name="Rounded Rectangle 7"/>
          <p:cNvSpPr/>
          <p:nvPr/>
        </p:nvSpPr>
        <p:spPr>
          <a:xfrm>
            <a:off x="731520" y="5029200"/>
            <a:ext cx="3840480" cy="822960"/>
          </a:xfrm>
          <a:prstGeom prst="roundRect">
            <a:avLst>
              <a:gd name="adj" fmla="val 6000"/>
            </a:avLst>
          </a:prstGeom>
          <a:solidFill>
            <a:srgbClr val="1F23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914400" y="5138928"/>
            <a:ext cx="3566160" cy="640080"/>
          </a:xfrm>
          <a:prstGeom prst="rect">
            <a:avLst/>
          </a:prstGeom>
          <a:noFill/>
        </p:spPr>
        <p:txBody>
          <a:bodyPr wrap="square" lIns="0" tIns="0" rIns="0" bIns="0" anchor="t">
            <a:spAutoFit/>
          </a:bodyPr>
          <a:lstStyle/>
          <a:p>
            <a:pPr algn="l">
              <a:spcAft>
                <a:spcPts val="400"/>
              </a:spcAft>
            </a:pPr>
            <a:r>
              <a:rPr sz="1600" b="1" i="0">
                <a:solidFill>
                  <a:srgbClr val="FFFFFF"/>
                </a:solidFill>
                <a:latin typeface="Calibri"/>
              </a:rPr>
              <a:t>Alex Shajan</a:t>
            </a:r>
          </a:p>
          <a:p>
            <a:pPr algn="l">
              <a:spcAft>
                <a:spcPts val="400"/>
              </a:spcAft>
            </a:pPr>
            <a:r>
              <a:rPr sz="1300" b="0" i="0">
                <a:solidFill>
                  <a:srgbClr val="C9CDD1"/>
                </a:solidFill>
                <a:latin typeface="Calibri"/>
              </a:rPr>
              <a:t>IIM Shillong · 2025PGP280</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ection"/>
          <p:cNvSpPr txBox="1"/>
          <p:nvPr/>
        </p:nvSpPr>
        <p:spPr>
          <a:xfrm>
            <a:off x="548640" y="292608"/>
            <a:ext cx="8229600" cy="274320"/>
          </a:xfrm>
          <a:prstGeom prst="rect">
            <a:avLst/>
          </a:prstGeom>
          <a:noFill/>
        </p:spPr>
        <p:txBody>
          <a:bodyPr wrap="square" lIns="0" tIns="0" rIns="0" bIns="0" anchor="t">
            <a:spAutoFit/>
          </a:bodyPr>
          <a:lstStyle/>
          <a:p>
            <a:pPr algn="l">
              <a:spcAft>
                <a:spcPts val="400"/>
              </a:spcAft>
            </a:pPr>
            <a:r>
              <a:rPr sz="1100" b="1" i="0">
                <a:solidFill>
                  <a:srgbClr val="046A38"/>
                </a:solidFill>
                <a:latin typeface="Arial"/>
              </a:rPr>
              <a:t>1 · PROBLEM</a:t>
            </a:r>
          </a:p>
        </p:txBody>
      </p:sp>
      <p:sp>
        <p:nvSpPr>
          <p:cNvPr id="3" name="Title"/>
          <p:cNvSpPr txBox="1"/>
          <p:nvPr/>
        </p:nvSpPr>
        <p:spPr>
          <a:xfrm>
            <a:off x="548640" y="548640"/>
            <a:ext cx="11064240" cy="868680"/>
          </a:xfrm>
          <a:prstGeom prst="rect">
            <a:avLst/>
          </a:prstGeom>
          <a:noFill/>
        </p:spPr>
        <p:txBody>
          <a:bodyPr wrap="square" lIns="0" tIns="0" rIns="0" bIns="0" anchor="t">
            <a:spAutoFit/>
          </a:bodyPr>
          <a:lstStyle/>
          <a:p>
            <a:pPr algn="l">
              <a:spcAft>
                <a:spcPts val="400"/>
              </a:spcAft>
            </a:pPr>
            <a:r>
              <a:rPr sz="2800" b="1" i="0">
                <a:solidFill>
                  <a:srgbClr val="1A1A1A"/>
                </a:solidFill>
                <a:latin typeface="Arial"/>
              </a:rPr>
              <a:t>Rule coverage grows with SME hours, but the rate of cloud change keeps rising</a:t>
            </a:r>
          </a:p>
        </p:txBody>
      </p:sp>
      <p:sp>
        <p:nvSpPr>
          <p:cNvPr id="5" name="SlideNo"/>
          <p:cNvSpPr txBox="1"/>
          <p:nvPr/>
        </p:nvSpPr>
        <p:spPr>
          <a:xfrm>
            <a:off x="11064240" y="6355080"/>
            <a:ext cx="576072" cy="320040"/>
          </a:xfrm>
          <a:prstGeom prst="rect">
            <a:avLst/>
          </a:prstGeom>
          <a:noFill/>
        </p:spPr>
        <p:txBody>
          <a:bodyPr wrap="square" lIns="0" tIns="0" rIns="0" bIns="0" anchor="t">
            <a:spAutoFit/>
          </a:bodyPr>
          <a:lstStyle/>
          <a:p>
            <a:pPr algn="r">
              <a:spcAft>
                <a:spcPts val="400"/>
              </a:spcAft>
            </a:pPr>
            <a:r>
              <a:rPr sz="1000" b="0" i="0">
                <a:solidFill>
                  <a:srgbClr val="53565A"/>
                </a:solidFill>
                <a:latin typeface="Calibri"/>
              </a:rPr>
              <a:t>2</a:t>
            </a:r>
          </a:p>
        </p:txBody>
      </p:sp>
      <p:sp>
        <p:nvSpPr>
          <p:cNvPr id="6" name="Rounded Rectangle 5"/>
          <p:cNvSpPr/>
          <p:nvPr/>
        </p:nvSpPr>
        <p:spPr>
          <a:xfrm>
            <a:off x="548640" y="1691640"/>
            <a:ext cx="2606040" cy="2377440"/>
          </a:xfrm>
          <a:prstGeom prst="roundRect">
            <a:avLst>
              <a:gd name="adj" fmla="val 6000"/>
            </a:avLst>
          </a:prstGeom>
          <a:solidFill>
            <a:srgbClr val="F1F8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777240" y="1874520"/>
            <a:ext cx="2148840" cy="822960"/>
          </a:xfrm>
          <a:prstGeom prst="rect">
            <a:avLst/>
          </a:prstGeom>
          <a:noFill/>
        </p:spPr>
        <p:txBody>
          <a:bodyPr wrap="square" lIns="0" tIns="0" rIns="0" bIns="0" anchor="t">
            <a:spAutoFit/>
          </a:bodyPr>
          <a:lstStyle/>
          <a:p>
            <a:pPr algn="l">
              <a:spcAft>
                <a:spcPts val="400"/>
              </a:spcAft>
            </a:pPr>
            <a:r>
              <a:rPr sz="4000" b="1" i="0">
                <a:solidFill>
                  <a:srgbClr val="046A38"/>
                </a:solidFill>
                <a:latin typeface="Arial"/>
              </a:rPr>
              <a:t>6</a:t>
            </a:r>
          </a:p>
        </p:txBody>
      </p:sp>
      <p:sp>
        <p:nvSpPr>
          <p:cNvPr id="8" name="TextBox 7"/>
          <p:cNvSpPr txBox="1"/>
          <p:nvPr/>
        </p:nvSpPr>
        <p:spPr>
          <a:xfrm>
            <a:off x="777240" y="2697480"/>
            <a:ext cx="2148840" cy="1005840"/>
          </a:xfrm>
          <a:prstGeom prst="rect">
            <a:avLst/>
          </a:prstGeom>
          <a:noFill/>
        </p:spPr>
        <p:txBody>
          <a:bodyPr wrap="square" lIns="0" tIns="0" rIns="0" bIns="0" anchor="t">
            <a:spAutoFit/>
          </a:bodyPr>
          <a:lstStyle/>
          <a:p>
            <a:pPr algn="l">
              <a:spcAft>
                <a:spcPts val="400"/>
              </a:spcAft>
            </a:pPr>
            <a:r>
              <a:rPr sz="1400" b="0" i="0">
                <a:solidFill>
                  <a:srgbClr val="1A1A1A"/>
                </a:solidFill>
                <a:latin typeface="Calibri"/>
              </a:rPr>
              <a:t>cloud security SMEs write every rule by hand</a:t>
            </a:r>
          </a:p>
        </p:txBody>
      </p:sp>
      <p:sp>
        <p:nvSpPr>
          <p:cNvPr id="9" name="TextBox 8"/>
          <p:cNvSpPr txBox="1"/>
          <p:nvPr/>
        </p:nvSpPr>
        <p:spPr>
          <a:xfrm>
            <a:off x="777240" y="3685032"/>
            <a:ext cx="2148840" cy="274320"/>
          </a:xfrm>
          <a:prstGeom prst="rect">
            <a:avLst/>
          </a:prstGeom>
          <a:noFill/>
        </p:spPr>
        <p:txBody>
          <a:bodyPr wrap="square" lIns="0" tIns="0" rIns="0" bIns="0" anchor="t">
            <a:spAutoFit/>
          </a:bodyPr>
          <a:lstStyle/>
          <a:p>
            <a:pPr algn="l">
              <a:spcAft>
                <a:spcPts val="400"/>
              </a:spcAft>
            </a:pPr>
            <a:r>
              <a:rPr sz="1000" b="1" i="0">
                <a:solidFill>
                  <a:srgbClr val="53565A"/>
                </a:solidFill>
                <a:latin typeface="Calibri"/>
              </a:rPr>
              <a:t>CASE</a:t>
            </a:r>
          </a:p>
        </p:txBody>
      </p:sp>
      <p:sp>
        <p:nvSpPr>
          <p:cNvPr id="10" name="Rounded Rectangle 9"/>
          <p:cNvSpPr/>
          <p:nvPr/>
        </p:nvSpPr>
        <p:spPr>
          <a:xfrm>
            <a:off x="3337560" y="1691640"/>
            <a:ext cx="2606040" cy="2377440"/>
          </a:xfrm>
          <a:prstGeom prst="roundRect">
            <a:avLst>
              <a:gd name="adj" fmla="val 6000"/>
            </a:avLst>
          </a:prstGeom>
          <a:solidFill>
            <a:srgbClr val="F1F8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3566160" y="1874520"/>
            <a:ext cx="2148840" cy="822960"/>
          </a:xfrm>
          <a:prstGeom prst="rect">
            <a:avLst/>
          </a:prstGeom>
          <a:noFill/>
        </p:spPr>
        <p:txBody>
          <a:bodyPr wrap="square" lIns="0" tIns="0" rIns="0" bIns="0" anchor="t">
            <a:spAutoFit/>
          </a:bodyPr>
          <a:lstStyle/>
          <a:p>
            <a:pPr algn="l">
              <a:spcAft>
                <a:spcPts val="400"/>
              </a:spcAft>
            </a:pPr>
            <a:r>
              <a:rPr sz="4000" b="1" i="0">
                <a:solidFill>
                  <a:srgbClr val="046A38"/>
                </a:solidFill>
                <a:latin typeface="Arial"/>
              </a:rPr>
              <a:t>3–5</a:t>
            </a:r>
          </a:p>
        </p:txBody>
      </p:sp>
      <p:sp>
        <p:nvSpPr>
          <p:cNvPr id="12" name="TextBox 11"/>
          <p:cNvSpPr txBox="1"/>
          <p:nvPr/>
        </p:nvSpPr>
        <p:spPr>
          <a:xfrm>
            <a:off x="3566160" y="2697480"/>
            <a:ext cx="2148840" cy="1005840"/>
          </a:xfrm>
          <a:prstGeom prst="rect">
            <a:avLst/>
          </a:prstGeom>
          <a:noFill/>
        </p:spPr>
        <p:txBody>
          <a:bodyPr wrap="square" lIns="0" tIns="0" rIns="0" bIns="0" anchor="t">
            <a:spAutoFit/>
          </a:bodyPr>
          <a:lstStyle/>
          <a:p>
            <a:pPr algn="l">
              <a:spcAft>
                <a:spcPts val="400"/>
              </a:spcAft>
            </a:pPr>
            <a:r>
              <a:rPr sz="1400" b="0" i="0">
                <a:solidFill>
                  <a:srgbClr val="1A1A1A"/>
                </a:solidFill>
                <a:latin typeface="Calibri"/>
              </a:rPr>
              <a:t>SME-days to research, write and validate one rule</a:t>
            </a:r>
          </a:p>
        </p:txBody>
      </p:sp>
      <p:sp>
        <p:nvSpPr>
          <p:cNvPr id="13" name="TextBox 12"/>
          <p:cNvSpPr txBox="1"/>
          <p:nvPr/>
        </p:nvSpPr>
        <p:spPr>
          <a:xfrm>
            <a:off x="3566160" y="3685032"/>
            <a:ext cx="2148840" cy="274320"/>
          </a:xfrm>
          <a:prstGeom prst="rect">
            <a:avLst/>
          </a:prstGeom>
          <a:noFill/>
        </p:spPr>
        <p:txBody>
          <a:bodyPr wrap="square" lIns="0" tIns="0" rIns="0" bIns="0" anchor="t">
            <a:spAutoFit/>
          </a:bodyPr>
          <a:lstStyle/>
          <a:p>
            <a:pPr algn="l">
              <a:spcAft>
                <a:spcPts val="400"/>
              </a:spcAft>
            </a:pPr>
            <a:r>
              <a:rPr sz="1000" b="1" i="0">
                <a:solidFill>
                  <a:srgbClr val="53565A"/>
                </a:solidFill>
                <a:latin typeface="Calibri"/>
              </a:rPr>
              <a:t>CASE</a:t>
            </a:r>
          </a:p>
        </p:txBody>
      </p:sp>
      <p:sp>
        <p:nvSpPr>
          <p:cNvPr id="14" name="Rounded Rectangle 13"/>
          <p:cNvSpPr/>
          <p:nvPr/>
        </p:nvSpPr>
        <p:spPr>
          <a:xfrm>
            <a:off x="6126480" y="1691640"/>
            <a:ext cx="2606040" cy="2377440"/>
          </a:xfrm>
          <a:prstGeom prst="roundRect">
            <a:avLst>
              <a:gd name="adj" fmla="val 6000"/>
            </a:avLst>
          </a:prstGeom>
          <a:solidFill>
            <a:srgbClr val="FFF3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6355080" y="1874520"/>
            <a:ext cx="2148840" cy="822960"/>
          </a:xfrm>
          <a:prstGeom prst="rect">
            <a:avLst/>
          </a:prstGeom>
          <a:noFill/>
        </p:spPr>
        <p:txBody>
          <a:bodyPr wrap="square" lIns="0" tIns="0" rIns="0" bIns="0" anchor="t">
            <a:spAutoFit/>
          </a:bodyPr>
          <a:lstStyle/>
          <a:p>
            <a:pPr algn="l">
              <a:spcAft>
                <a:spcPts val="400"/>
              </a:spcAft>
            </a:pPr>
            <a:r>
              <a:rPr sz="4000" b="1" i="0">
                <a:solidFill>
                  <a:srgbClr val="A34A00"/>
                </a:solidFill>
                <a:latin typeface="Arial"/>
              </a:rPr>
              <a:t>6–10</a:t>
            </a:r>
          </a:p>
        </p:txBody>
      </p:sp>
      <p:sp>
        <p:nvSpPr>
          <p:cNvPr id="16" name="TextBox 15"/>
          <p:cNvSpPr txBox="1"/>
          <p:nvPr/>
        </p:nvSpPr>
        <p:spPr>
          <a:xfrm>
            <a:off x="6355080" y="2697480"/>
            <a:ext cx="2148840" cy="1005840"/>
          </a:xfrm>
          <a:prstGeom prst="rect">
            <a:avLst/>
          </a:prstGeom>
          <a:noFill/>
        </p:spPr>
        <p:txBody>
          <a:bodyPr wrap="square" lIns="0" tIns="0" rIns="0" bIns="0" anchor="t">
            <a:spAutoFit/>
          </a:bodyPr>
          <a:lstStyle/>
          <a:p>
            <a:pPr algn="l">
              <a:spcAft>
                <a:spcPts val="400"/>
              </a:spcAft>
            </a:pPr>
            <a:r>
              <a:rPr sz="1400" b="0" i="0">
                <a:solidFill>
                  <a:srgbClr val="1A1A1A"/>
                </a:solidFill>
                <a:latin typeface="Calibri"/>
              </a:rPr>
              <a:t>rules a week at most, if SMEs did nothing else</a:t>
            </a:r>
          </a:p>
        </p:txBody>
      </p:sp>
      <p:sp>
        <p:nvSpPr>
          <p:cNvPr id="17" name="TextBox 16"/>
          <p:cNvSpPr txBox="1"/>
          <p:nvPr/>
        </p:nvSpPr>
        <p:spPr>
          <a:xfrm>
            <a:off x="6355080" y="3685032"/>
            <a:ext cx="2148840" cy="274320"/>
          </a:xfrm>
          <a:prstGeom prst="rect">
            <a:avLst/>
          </a:prstGeom>
          <a:noFill/>
        </p:spPr>
        <p:txBody>
          <a:bodyPr wrap="square" lIns="0" tIns="0" rIns="0" bIns="0" anchor="t">
            <a:spAutoFit/>
          </a:bodyPr>
          <a:lstStyle/>
          <a:p>
            <a:pPr algn="l">
              <a:spcAft>
                <a:spcPts val="400"/>
              </a:spcAft>
            </a:pPr>
            <a:r>
              <a:rPr sz="1000" b="1" i="0">
                <a:solidFill>
                  <a:srgbClr val="53565A"/>
                </a:solidFill>
                <a:latin typeface="Calibri"/>
              </a:rPr>
              <a:t>DERIVED</a:t>
            </a:r>
          </a:p>
        </p:txBody>
      </p:sp>
      <p:sp>
        <p:nvSpPr>
          <p:cNvPr id="18" name="Rounded Rectangle 17"/>
          <p:cNvSpPr/>
          <p:nvPr/>
        </p:nvSpPr>
        <p:spPr>
          <a:xfrm>
            <a:off x="8915400" y="1691640"/>
            <a:ext cx="2697480" cy="2377440"/>
          </a:xfrm>
          <a:prstGeom prst="roundRect">
            <a:avLst>
              <a:gd name="adj" fmla="val 6000"/>
            </a:avLst>
          </a:prstGeom>
          <a:solidFill>
            <a:srgbClr val="F1F8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9144000" y="1874520"/>
            <a:ext cx="2240280" cy="822960"/>
          </a:xfrm>
          <a:prstGeom prst="rect">
            <a:avLst/>
          </a:prstGeom>
          <a:noFill/>
        </p:spPr>
        <p:txBody>
          <a:bodyPr wrap="square" lIns="0" tIns="0" rIns="0" bIns="0" anchor="t">
            <a:spAutoFit/>
          </a:bodyPr>
          <a:lstStyle/>
          <a:p>
            <a:pPr algn="l">
              <a:spcAft>
                <a:spcPts val="400"/>
              </a:spcAft>
            </a:pPr>
            <a:r>
              <a:rPr sz="4000" b="1" i="0">
                <a:solidFill>
                  <a:srgbClr val="046A38"/>
                </a:solidFill>
                <a:latin typeface="Arial"/>
              </a:rPr>
              <a:t>100</a:t>
            </a:r>
          </a:p>
        </p:txBody>
      </p:sp>
      <p:sp>
        <p:nvSpPr>
          <p:cNvPr id="20" name="TextBox 19"/>
          <p:cNvSpPr txBox="1"/>
          <p:nvPr/>
        </p:nvSpPr>
        <p:spPr>
          <a:xfrm>
            <a:off x="9144000" y="2697480"/>
            <a:ext cx="2240280" cy="1005840"/>
          </a:xfrm>
          <a:prstGeom prst="rect">
            <a:avLst/>
          </a:prstGeom>
          <a:noFill/>
        </p:spPr>
        <p:txBody>
          <a:bodyPr wrap="square" lIns="0" tIns="0" rIns="0" bIns="0" anchor="t">
            <a:spAutoFit/>
          </a:bodyPr>
          <a:lstStyle/>
          <a:p>
            <a:pPr algn="l">
              <a:spcAft>
                <a:spcPts val="400"/>
              </a:spcAft>
            </a:pPr>
            <a:r>
              <a:rPr sz="1400" b="0" i="0">
                <a:solidFill>
                  <a:srgbClr val="1A1A1A"/>
                </a:solidFill>
                <a:latin typeface="Calibri"/>
              </a:rPr>
              <a:t>AWS announcements in 13 days (14–26 Oct 2026)</a:t>
            </a:r>
          </a:p>
        </p:txBody>
      </p:sp>
      <p:sp>
        <p:nvSpPr>
          <p:cNvPr id="21" name="TextBox 20"/>
          <p:cNvSpPr txBox="1"/>
          <p:nvPr/>
        </p:nvSpPr>
        <p:spPr>
          <a:xfrm>
            <a:off x="9144000" y="3685032"/>
            <a:ext cx="2240280" cy="274320"/>
          </a:xfrm>
          <a:prstGeom prst="rect">
            <a:avLst/>
          </a:prstGeom>
          <a:noFill/>
        </p:spPr>
        <p:txBody>
          <a:bodyPr wrap="square" lIns="0" tIns="0" rIns="0" bIns="0" anchor="t">
            <a:spAutoFit/>
          </a:bodyPr>
          <a:lstStyle/>
          <a:p>
            <a:pPr algn="l">
              <a:spcAft>
                <a:spcPts val="400"/>
              </a:spcAft>
            </a:pPr>
            <a:r>
              <a:rPr sz="1000" b="1" i="0">
                <a:solidFill>
                  <a:srgbClr val="53565A"/>
                </a:solidFill>
                <a:latin typeface="Calibri"/>
              </a:rPr>
              <a:t>AWS WHAT'S NEW FEED</a:t>
            </a:r>
          </a:p>
        </p:txBody>
      </p:sp>
      <p:sp>
        <p:nvSpPr>
          <p:cNvPr id="22" name="Rounded Rectangle 21"/>
          <p:cNvSpPr/>
          <p:nvPr/>
        </p:nvSpPr>
        <p:spPr>
          <a:xfrm>
            <a:off x="548640" y="4343400"/>
            <a:ext cx="11064240" cy="1691640"/>
          </a:xfrm>
          <a:prstGeom prst="roundRect">
            <a:avLst>
              <a:gd name="adj" fmla="val 6000"/>
            </a:avLst>
          </a:prstGeom>
          <a:solidFill>
            <a:srgbClr val="F4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TextBox 22"/>
          <p:cNvSpPr txBox="1"/>
          <p:nvPr/>
        </p:nvSpPr>
        <p:spPr>
          <a:xfrm>
            <a:off x="822960" y="4526280"/>
            <a:ext cx="10515600" cy="1371600"/>
          </a:xfrm>
          <a:prstGeom prst="rect">
            <a:avLst/>
          </a:prstGeom>
          <a:noFill/>
        </p:spPr>
        <p:txBody>
          <a:bodyPr wrap="square" lIns="0" tIns="0" rIns="0" bIns="0" anchor="t">
            <a:spAutoFit/>
          </a:bodyPr>
          <a:lstStyle/>
          <a:p>
            <a:pPr algn="l">
              <a:spcAft>
                <a:spcPts val="400"/>
              </a:spcAft>
            </a:pPr>
            <a:r>
              <a:rPr sz="1600" b="1" i="0">
                <a:solidFill>
                  <a:srgbClr val="046A38"/>
                </a:solidFill>
                <a:latin typeface="Calibri"/>
              </a:rPr>
              <a:t>Problem statement  </a:t>
            </a:r>
          </a:p>
          <a:p>
            <a:pPr algn="l">
              <a:spcAft>
                <a:spcPts val="400"/>
              </a:spcAft>
            </a:pPr>
            <a:r>
              <a:rPr sz="1600" b="0" i="0">
                <a:solidFill>
                  <a:srgbClr val="1A1A1A"/>
                </a:solidFill>
                <a:latin typeface="Calibri"/>
              </a:rPr>
              <a:t>CloudGuard's detection coverage is capped by the hours of 6 people, while AWS alone ships an API model update about every 2 days. Gaps stay open for months, competitors close them faster, and the know-how sits with 1–2 people.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ection"/>
          <p:cNvSpPr txBox="1"/>
          <p:nvPr/>
        </p:nvSpPr>
        <p:spPr>
          <a:xfrm>
            <a:off x="548640" y="292608"/>
            <a:ext cx="8229600" cy="274320"/>
          </a:xfrm>
          <a:prstGeom prst="rect">
            <a:avLst/>
          </a:prstGeom>
          <a:noFill/>
        </p:spPr>
        <p:txBody>
          <a:bodyPr wrap="square" lIns="0" tIns="0" rIns="0" bIns="0" anchor="t">
            <a:spAutoFit/>
          </a:bodyPr>
          <a:lstStyle/>
          <a:p>
            <a:pPr algn="l">
              <a:spcAft>
                <a:spcPts val="400"/>
              </a:spcAft>
            </a:pPr>
            <a:r>
              <a:rPr sz="1100" b="1" i="0">
                <a:solidFill>
                  <a:srgbClr val="046A38"/>
                </a:solidFill>
                <a:latin typeface="Arial"/>
              </a:rPr>
              <a:t>1 · PROBLEM</a:t>
            </a:r>
          </a:p>
        </p:txBody>
      </p:sp>
      <p:sp>
        <p:nvSpPr>
          <p:cNvPr id="3" name="Title"/>
          <p:cNvSpPr txBox="1"/>
          <p:nvPr/>
        </p:nvSpPr>
        <p:spPr>
          <a:xfrm>
            <a:off x="548640" y="548640"/>
            <a:ext cx="11064240" cy="868680"/>
          </a:xfrm>
          <a:prstGeom prst="rect">
            <a:avLst/>
          </a:prstGeom>
          <a:noFill/>
        </p:spPr>
        <p:txBody>
          <a:bodyPr wrap="square" lIns="0" tIns="0" rIns="0" bIns="0" anchor="t">
            <a:spAutoFit/>
          </a:bodyPr>
          <a:lstStyle/>
          <a:p>
            <a:pPr algn="l">
              <a:spcAft>
                <a:spcPts val="400"/>
              </a:spcAft>
            </a:pPr>
            <a:r>
              <a:rPr sz="2800" b="1" i="0">
                <a:solidFill>
                  <a:srgbClr val="1A1A1A"/>
                </a:solidFill>
                <a:latin typeface="Arial"/>
              </a:rPr>
              <a:t>Four root causes sit behind the slow rule output</a:t>
            </a:r>
          </a:p>
        </p:txBody>
      </p:sp>
      <p:sp>
        <p:nvSpPr>
          <p:cNvPr id="5" name="SlideNo"/>
          <p:cNvSpPr txBox="1"/>
          <p:nvPr/>
        </p:nvSpPr>
        <p:spPr>
          <a:xfrm>
            <a:off x="11064240" y="6355080"/>
            <a:ext cx="576072" cy="320040"/>
          </a:xfrm>
          <a:prstGeom prst="rect">
            <a:avLst/>
          </a:prstGeom>
          <a:noFill/>
        </p:spPr>
        <p:txBody>
          <a:bodyPr wrap="square" lIns="0" tIns="0" rIns="0" bIns="0" anchor="t">
            <a:spAutoFit/>
          </a:bodyPr>
          <a:lstStyle/>
          <a:p>
            <a:pPr algn="r">
              <a:spcAft>
                <a:spcPts val="400"/>
              </a:spcAft>
            </a:pPr>
            <a:r>
              <a:rPr sz="1000" b="0" i="0">
                <a:solidFill>
                  <a:srgbClr val="53565A"/>
                </a:solidFill>
                <a:latin typeface="Calibri"/>
              </a:rPr>
              <a:t>3</a:t>
            </a:r>
          </a:p>
        </p:txBody>
      </p:sp>
      <p:sp>
        <p:nvSpPr>
          <p:cNvPr id="6" name="Rounded Rectangle 5"/>
          <p:cNvSpPr/>
          <p:nvPr/>
        </p:nvSpPr>
        <p:spPr>
          <a:xfrm>
            <a:off x="548640" y="1737360"/>
            <a:ext cx="2651760" cy="4114800"/>
          </a:xfrm>
          <a:prstGeom prst="roundRect">
            <a:avLst>
              <a:gd name="adj" fmla="val 6000"/>
            </a:avLst>
          </a:prstGeom>
          <a:solidFill>
            <a:srgbClr val="F4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Oval 6"/>
          <p:cNvSpPr/>
          <p:nvPr/>
        </p:nvSpPr>
        <p:spPr>
          <a:xfrm>
            <a:off x="777240" y="1965960"/>
            <a:ext cx="502920" cy="502920"/>
          </a:xfrm>
          <a:prstGeom prst="ellipse">
            <a:avLst/>
          </a:prstGeom>
          <a:solidFill>
            <a:srgbClr val="86BC25"/>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a:solidFill>
                  <a:srgbClr val="0D0D0D"/>
                </a:solidFill>
                <a:latin typeface="Arial"/>
              </a:rPr>
              <a:t>1</a:t>
            </a:r>
          </a:p>
        </p:txBody>
      </p:sp>
      <p:sp>
        <p:nvSpPr>
          <p:cNvPr id="8" name="TextBox 7"/>
          <p:cNvSpPr txBox="1"/>
          <p:nvPr/>
        </p:nvSpPr>
        <p:spPr>
          <a:xfrm>
            <a:off x="777240" y="2651760"/>
            <a:ext cx="2240280" cy="731520"/>
          </a:xfrm>
          <a:prstGeom prst="rect">
            <a:avLst/>
          </a:prstGeom>
          <a:noFill/>
        </p:spPr>
        <p:txBody>
          <a:bodyPr wrap="square" lIns="0" tIns="0" rIns="0" bIns="0" anchor="t">
            <a:spAutoFit/>
          </a:bodyPr>
          <a:lstStyle/>
          <a:p>
            <a:pPr algn="l">
              <a:spcAft>
                <a:spcPts val="400"/>
              </a:spcAft>
            </a:pPr>
            <a:r>
              <a:rPr sz="1800" b="1" i="0">
                <a:solidFill>
                  <a:srgbClr val="1A1A1A"/>
                </a:solidFill>
                <a:latin typeface="Arial"/>
              </a:rPr>
              <a:t>Manual end to end</a:t>
            </a:r>
          </a:p>
        </p:txBody>
      </p:sp>
      <p:sp>
        <p:nvSpPr>
          <p:cNvPr id="9" name="TextBox 8"/>
          <p:cNvSpPr txBox="1"/>
          <p:nvPr/>
        </p:nvSpPr>
        <p:spPr>
          <a:xfrm>
            <a:off x="777240" y="3429000"/>
            <a:ext cx="2240280" cy="1828800"/>
          </a:xfrm>
          <a:prstGeom prst="rect">
            <a:avLst/>
          </a:prstGeom>
          <a:noFill/>
        </p:spPr>
        <p:txBody>
          <a:bodyPr wrap="square" lIns="0" tIns="0" rIns="0" bIns="0" anchor="t">
            <a:spAutoFit/>
          </a:bodyPr>
          <a:lstStyle/>
          <a:p>
            <a:pPr algn="l">
              <a:spcAft>
                <a:spcPts val="400"/>
              </a:spcAft>
            </a:pPr>
            <a:r>
              <a:rPr sz="1400" b="0" i="0">
                <a:solidFill>
                  <a:srgbClr val="1A1A1A"/>
                </a:solidFill>
                <a:latin typeface="Calibri"/>
              </a:rPr>
              <a:t>Research, writing, validation and documentation are all done by hand, in sequence, for every rule.</a:t>
            </a:r>
          </a:p>
        </p:txBody>
      </p:sp>
      <p:sp>
        <p:nvSpPr>
          <p:cNvPr id="10" name="TextBox 9"/>
          <p:cNvSpPr txBox="1"/>
          <p:nvPr/>
        </p:nvSpPr>
        <p:spPr>
          <a:xfrm>
            <a:off x="777240" y="5394960"/>
            <a:ext cx="2240280" cy="274320"/>
          </a:xfrm>
          <a:prstGeom prst="rect">
            <a:avLst/>
          </a:prstGeom>
          <a:noFill/>
        </p:spPr>
        <p:txBody>
          <a:bodyPr wrap="square" lIns="0" tIns="0" rIns="0" bIns="0" anchor="t">
            <a:spAutoFit/>
          </a:bodyPr>
          <a:lstStyle/>
          <a:p>
            <a:pPr algn="l">
              <a:spcAft>
                <a:spcPts val="400"/>
              </a:spcAft>
            </a:pPr>
            <a:r>
              <a:rPr sz="1000" b="1" i="0">
                <a:solidFill>
                  <a:srgbClr val="53565A"/>
                </a:solidFill>
                <a:latin typeface="Calibri"/>
              </a:rPr>
              <a:t>CASE</a:t>
            </a:r>
          </a:p>
        </p:txBody>
      </p:sp>
      <p:sp>
        <p:nvSpPr>
          <p:cNvPr id="11" name="Rounded Rectangle 10"/>
          <p:cNvSpPr/>
          <p:nvPr/>
        </p:nvSpPr>
        <p:spPr>
          <a:xfrm>
            <a:off x="3364992" y="1737360"/>
            <a:ext cx="2651760" cy="4114800"/>
          </a:xfrm>
          <a:prstGeom prst="roundRect">
            <a:avLst>
              <a:gd name="adj" fmla="val 6000"/>
            </a:avLst>
          </a:prstGeom>
          <a:solidFill>
            <a:srgbClr val="F4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Oval 11"/>
          <p:cNvSpPr/>
          <p:nvPr/>
        </p:nvSpPr>
        <p:spPr>
          <a:xfrm>
            <a:off x="3593592" y="1965960"/>
            <a:ext cx="502920" cy="502920"/>
          </a:xfrm>
          <a:prstGeom prst="ellipse">
            <a:avLst/>
          </a:prstGeom>
          <a:solidFill>
            <a:srgbClr val="86BC25"/>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a:solidFill>
                  <a:srgbClr val="0D0D0D"/>
                </a:solidFill>
                <a:latin typeface="Arial"/>
              </a:rPr>
              <a:t>2</a:t>
            </a:r>
          </a:p>
        </p:txBody>
      </p:sp>
      <p:sp>
        <p:nvSpPr>
          <p:cNvPr id="13" name="TextBox 12"/>
          <p:cNvSpPr txBox="1"/>
          <p:nvPr/>
        </p:nvSpPr>
        <p:spPr>
          <a:xfrm>
            <a:off x="3593592" y="2651760"/>
            <a:ext cx="2240280" cy="731520"/>
          </a:xfrm>
          <a:prstGeom prst="rect">
            <a:avLst/>
          </a:prstGeom>
          <a:noFill/>
        </p:spPr>
        <p:txBody>
          <a:bodyPr wrap="square" lIns="0" tIns="0" rIns="0" bIns="0" anchor="t">
            <a:spAutoFit/>
          </a:bodyPr>
          <a:lstStyle/>
          <a:p>
            <a:pPr algn="l">
              <a:spcAft>
                <a:spcPts val="400"/>
              </a:spcAft>
            </a:pPr>
            <a:r>
              <a:rPr sz="1800" b="1" i="0">
                <a:solidFill>
                  <a:srgbClr val="1A1A1A"/>
                </a:solidFill>
                <a:latin typeface="Arial"/>
              </a:rPr>
              <a:t>Validation is the heavy step</a:t>
            </a:r>
          </a:p>
        </p:txBody>
      </p:sp>
      <p:sp>
        <p:nvSpPr>
          <p:cNvPr id="14" name="TextBox 13"/>
          <p:cNvSpPr txBox="1"/>
          <p:nvPr/>
        </p:nvSpPr>
        <p:spPr>
          <a:xfrm>
            <a:off x="3593592" y="3429000"/>
            <a:ext cx="2240280" cy="1828800"/>
          </a:xfrm>
          <a:prstGeom prst="rect">
            <a:avLst/>
          </a:prstGeom>
          <a:noFill/>
        </p:spPr>
        <p:txBody>
          <a:bodyPr wrap="square" lIns="0" tIns="0" rIns="0" bIns="0" anchor="t">
            <a:spAutoFit/>
          </a:bodyPr>
          <a:lstStyle/>
          <a:p>
            <a:pPr algn="l">
              <a:spcAft>
                <a:spcPts val="400"/>
              </a:spcAft>
            </a:pPr>
            <a:r>
              <a:rPr sz="1400" b="0" i="0">
                <a:solidFill>
                  <a:srgbClr val="1A1A1A"/>
                </a:solidFill>
                <a:latin typeface="Calibri"/>
              </a:rPr>
              <a:t>Each rule must be tested against real cloud configurations before it ships, which means building test resources.</a:t>
            </a:r>
          </a:p>
        </p:txBody>
      </p:sp>
      <p:sp>
        <p:nvSpPr>
          <p:cNvPr id="15" name="TextBox 14"/>
          <p:cNvSpPr txBox="1"/>
          <p:nvPr/>
        </p:nvSpPr>
        <p:spPr>
          <a:xfrm>
            <a:off x="3593592" y="5394960"/>
            <a:ext cx="2240280" cy="274320"/>
          </a:xfrm>
          <a:prstGeom prst="rect">
            <a:avLst/>
          </a:prstGeom>
          <a:noFill/>
        </p:spPr>
        <p:txBody>
          <a:bodyPr wrap="square" lIns="0" tIns="0" rIns="0" bIns="0" anchor="t">
            <a:spAutoFit/>
          </a:bodyPr>
          <a:lstStyle/>
          <a:p>
            <a:pPr algn="l">
              <a:spcAft>
                <a:spcPts val="400"/>
              </a:spcAft>
            </a:pPr>
            <a:r>
              <a:rPr sz="1000" b="1" i="0">
                <a:solidFill>
                  <a:srgbClr val="53565A"/>
                </a:solidFill>
                <a:latin typeface="Calibri"/>
              </a:rPr>
              <a:t>CASE + HYPOTHESIS</a:t>
            </a:r>
          </a:p>
        </p:txBody>
      </p:sp>
      <p:sp>
        <p:nvSpPr>
          <p:cNvPr id="16" name="Rounded Rectangle 15"/>
          <p:cNvSpPr/>
          <p:nvPr/>
        </p:nvSpPr>
        <p:spPr>
          <a:xfrm>
            <a:off x="6181344" y="1737360"/>
            <a:ext cx="2651760" cy="4114800"/>
          </a:xfrm>
          <a:prstGeom prst="roundRect">
            <a:avLst>
              <a:gd name="adj" fmla="val 6000"/>
            </a:avLst>
          </a:prstGeom>
          <a:solidFill>
            <a:srgbClr val="F4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Oval 16"/>
          <p:cNvSpPr/>
          <p:nvPr/>
        </p:nvSpPr>
        <p:spPr>
          <a:xfrm>
            <a:off x="6409944" y="1965960"/>
            <a:ext cx="502920" cy="502920"/>
          </a:xfrm>
          <a:prstGeom prst="ellipse">
            <a:avLst/>
          </a:prstGeom>
          <a:solidFill>
            <a:srgbClr val="86BC25"/>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a:solidFill>
                  <a:srgbClr val="0D0D0D"/>
                </a:solidFill>
                <a:latin typeface="Arial"/>
              </a:rPr>
              <a:t>3</a:t>
            </a:r>
          </a:p>
        </p:txBody>
      </p:sp>
      <p:sp>
        <p:nvSpPr>
          <p:cNvPr id="18" name="TextBox 17"/>
          <p:cNvSpPr txBox="1"/>
          <p:nvPr/>
        </p:nvSpPr>
        <p:spPr>
          <a:xfrm>
            <a:off x="6409944" y="2651760"/>
            <a:ext cx="2240280" cy="731520"/>
          </a:xfrm>
          <a:prstGeom prst="rect">
            <a:avLst/>
          </a:prstGeom>
          <a:noFill/>
        </p:spPr>
        <p:txBody>
          <a:bodyPr wrap="square" lIns="0" tIns="0" rIns="0" bIns="0" anchor="t">
            <a:spAutoFit/>
          </a:bodyPr>
          <a:lstStyle/>
          <a:p>
            <a:pPr algn="l">
              <a:spcAft>
                <a:spcPts val="400"/>
              </a:spcAft>
            </a:pPr>
            <a:r>
              <a:rPr sz="1800" b="1" i="0">
                <a:solidFill>
                  <a:srgbClr val="1A1A1A"/>
                </a:solidFill>
                <a:latin typeface="Arial"/>
              </a:rPr>
              <a:t>Knowledge is tacit</a:t>
            </a:r>
          </a:p>
        </p:txBody>
      </p:sp>
      <p:sp>
        <p:nvSpPr>
          <p:cNvPr id="19" name="TextBox 18"/>
          <p:cNvSpPr txBox="1"/>
          <p:nvPr/>
        </p:nvSpPr>
        <p:spPr>
          <a:xfrm>
            <a:off x="6409944" y="3429000"/>
            <a:ext cx="2240280" cy="1828800"/>
          </a:xfrm>
          <a:prstGeom prst="rect">
            <a:avLst/>
          </a:prstGeom>
          <a:noFill/>
        </p:spPr>
        <p:txBody>
          <a:bodyPr wrap="square" lIns="0" tIns="0" rIns="0" bIns="0" anchor="t">
            <a:spAutoFit/>
          </a:bodyPr>
          <a:lstStyle/>
          <a:p>
            <a:pPr algn="l">
              <a:spcAft>
                <a:spcPts val="400"/>
              </a:spcAft>
            </a:pPr>
            <a:r>
              <a:rPr sz="1400" b="0" i="0">
                <a:solidFill>
                  <a:srgbClr val="1A1A1A"/>
                </a:solidFill>
                <a:latin typeface="Calibri"/>
              </a:rPr>
              <a:t>Rule logic and judgement live with 1–2 people. Nothing is captured in a way another person or system can reuse.</a:t>
            </a:r>
          </a:p>
        </p:txBody>
      </p:sp>
      <p:sp>
        <p:nvSpPr>
          <p:cNvPr id="20" name="TextBox 19"/>
          <p:cNvSpPr txBox="1"/>
          <p:nvPr/>
        </p:nvSpPr>
        <p:spPr>
          <a:xfrm>
            <a:off x="6409944" y="5394960"/>
            <a:ext cx="2240280" cy="274320"/>
          </a:xfrm>
          <a:prstGeom prst="rect">
            <a:avLst/>
          </a:prstGeom>
          <a:noFill/>
        </p:spPr>
        <p:txBody>
          <a:bodyPr wrap="square" lIns="0" tIns="0" rIns="0" bIns="0" anchor="t">
            <a:spAutoFit/>
          </a:bodyPr>
          <a:lstStyle/>
          <a:p>
            <a:pPr algn="l">
              <a:spcAft>
                <a:spcPts val="400"/>
              </a:spcAft>
            </a:pPr>
            <a:r>
              <a:rPr sz="1000" b="1" i="0">
                <a:solidFill>
                  <a:srgbClr val="53565A"/>
                </a:solidFill>
                <a:latin typeface="Calibri"/>
              </a:rPr>
              <a:t>CASE</a:t>
            </a:r>
          </a:p>
        </p:txBody>
      </p:sp>
      <p:sp>
        <p:nvSpPr>
          <p:cNvPr id="21" name="Rounded Rectangle 20"/>
          <p:cNvSpPr/>
          <p:nvPr/>
        </p:nvSpPr>
        <p:spPr>
          <a:xfrm>
            <a:off x="8997696" y="1737360"/>
            <a:ext cx="2651760" cy="4114800"/>
          </a:xfrm>
          <a:prstGeom prst="roundRect">
            <a:avLst>
              <a:gd name="adj" fmla="val 6000"/>
            </a:avLst>
          </a:prstGeom>
          <a:solidFill>
            <a:srgbClr val="F4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Oval 21"/>
          <p:cNvSpPr/>
          <p:nvPr/>
        </p:nvSpPr>
        <p:spPr>
          <a:xfrm>
            <a:off x="9226296" y="1965960"/>
            <a:ext cx="502920" cy="502920"/>
          </a:xfrm>
          <a:prstGeom prst="ellipse">
            <a:avLst/>
          </a:prstGeom>
          <a:solidFill>
            <a:srgbClr val="86BC25"/>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a:solidFill>
                  <a:srgbClr val="0D0D0D"/>
                </a:solidFill>
                <a:latin typeface="Arial"/>
              </a:rPr>
              <a:t>4</a:t>
            </a:r>
          </a:p>
        </p:txBody>
      </p:sp>
      <p:sp>
        <p:nvSpPr>
          <p:cNvPr id="23" name="TextBox 22"/>
          <p:cNvSpPr txBox="1"/>
          <p:nvPr/>
        </p:nvSpPr>
        <p:spPr>
          <a:xfrm>
            <a:off x="9226296" y="2651760"/>
            <a:ext cx="2240280" cy="731520"/>
          </a:xfrm>
          <a:prstGeom prst="rect">
            <a:avLst/>
          </a:prstGeom>
          <a:noFill/>
        </p:spPr>
        <p:txBody>
          <a:bodyPr wrap="square" lIns="0" tIns="0" rIns="0" bIns="0" anchor="t">
            <a:spAutoFit/>
          </a:bodyPr>
          <a:lstStyle/>
          <a:p>
            <a:pPr algn="l">
              <a:spcAft>
                <a:spcPts val="400"/>
              </a:spcAft>
            </a:pPr>
            <a:r>
              <a:rPr sz="1800" b="1" i="0">
                <a:solidFill>
                  <a:srgbClr val="1A1A1A"/>
                </a:solidFill>
                <a:latin typeface="Arial"/>
              </a:rPr>
              <a:t>No change detection</a:t>
            </a:r>
          </a:p>
        </p:txBody>
      </p:sp>
      <p:sp>
        <p:nvSpPr>
          <p:cNvPr id="24" name="TextBox 23"/>
          <p:cNvSpPr txBox="1"/>
          <p:nvPr/>
        </p:nvSpPr>
        <p:spPr>
          <a:xfrm>
            <a:off x="9226296" y="3429000"/>
            <a:ext cx="2240280" cy="1828800"/>
          </a:xfrm>
          <a:prstGeom prst="rect">
            <a:avLst/>
          </a:prstGeom>
          <a:noFill/>
        </p:spPr>
        <p:txBody>
          <a:bodyPr wrap="square" lIns="0" tIns="0" rIns="0" bIns="0" anchor="t">
            <a:spAutoFit/>
          </a:bodyPr>
          <a:lstStyle/>
          <a:p>
            <a:pPr algn="l">
              <a:spcAft>
                <a:spcPts val="400"/>
              </a:spcAft>
            </a:pPr>
            <a:r>
              <a:rPr sz="1400" b="0" i="0">
                <a:solidFill>
                  <a:srgbClr val="1A1A1A"/>
                </a:solidFill>
                <a:latin typeface="Calibri"/>
              </a:rPr>
              <a:t>New services and API changes are found only when an SME happens to notice them.</a:t>
            </a:r>
          </a:p>
        </p:txBody>
      </p:sp>
      <p:sp>
        <p:nvSpPr>
          <p:cNvPr id="25" name="TextBox 24"/>
          <p:cNvSpPr txBox="1"/>
          <p:nvPr/>
        </p:nvSpPr>
        <p:spPr>
          <a:xfrm>
            <a:off x="9226296" y="5394960"/>
            <a:ext cx="2240280" cy="274320"/>
          </a:xfrm>
          <a:prstGeom prst="rect">
            <a:avLst/>
          </a:prstGeom>
          <a:noFill/>
        </p:spPr>
        <p:txBody>
          <a:bodyPr wrap="square" lIns="0" tIns="0" rIns="0" bIns="0" anchor="t">
            <a:spAutoFit/>
          </a:bodyPr>
          <a:lstStyle/>
          <a:p>
            <a:pPr algn="l">
              <a:spcAft>
                <a:spcPts val="400"/>
              </a:spcAft>
            </a:pPr>
            <a:r>
              <a:rPr sz="1000" b="1" i="0">
                <a:solidFill>
                  <a:srgbClr val="53565A"/>
                </a:solidFill>
                <a:latin typeface="Calibri"/>
              </a:rPr>
              <a:t>CASE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ection"/>
          <p:cNvSpPr txBox="1"/>
          <p:nvPr/>
        </p:nvSpPr>
        <p:spPr>
          <a:xfrm>
            <a:off x="548640" y="292608"/>
            <a:ext cx="8229600" cy="274320"/>
          </a:xfrm>
          <a:prstGeom prst="rect">
            <a:avLst/>
          </a:prstGeom>
          <a:noFill/>
        </p:spPr>
        <p:txBody>
          <a:bodyPr wrap="square" lIns="0" tIns="0" rIns="0" bIns="0" anchor="t">
            <a:spAutoFit/>
          </a:bodyPr>
          <a:lstStyle/>
          <a:p>
            <a:pPr algn="l">
              <a:spcAft>
                <a:spcPts val="400"/>
              </a:spcAft>
            </a:pPr>
            <a:r>
              <a:rPr sz="1100" b="1" i="0">
                <a:solidFill>
                  <a:srgbClr val="046A38"/>
                </a:solidFill>
                <a:latin typeface="Arial"/>
              </a:rPr>
              <a:t>1 · PROBLEM</a:t>
            </a:r>
          </a:p>
        </p:txBody>
      </p:sp>
      <p:sp>
        <p:nvSpPr>
          <p:cNvPr id="3" name="Title"/>
          <p:cNvSpPr txBox="1"/>
          <p:nvPr/>
        </p:nvSpPr>
        <p:spPr>
          <a:xfrm>
            <a:off x="548640" y="548640"/>
            <a:ext cx="11064240" cy="868680"/>
          </a:xfrm>
          <a:prstGeom prst="rect">
            <a:avLst/>
          </a:prstGeom>
          <a:noFill/>
        </p:spPr>
        <p:txBody>
          <a:bodyPr wrap="square" lIns="0" tIns="0" rIns="0" bIns="0" anchor="t">
            <a:spAutoFit/>
          </a:bodyPr>
          <a:lstStyle/>
          <a:p>
            <a:pPr algn="l">
              <a:spcAft>
                <a:spcPts val="400"/>
              </a:spcAft>
            </a:pPr>
            <a:r>
              <a:rPr sz="2800" b="1" i="0">
                <a:solidFill>
                  <a:srgbClr val="1A1A1A"/>
                </a:solidFill>
                <a:latin typeface="Arial"/>
              </a:rPr>
              <a:t>Doing nothing costs coverage, credibility and breach exposure</a:t>
            </a:r>
          </a:p>
        </p:txBody>
      </p:sp>
      <p:sp>
        <p:nvSpPr>
          <p:cNvPr id="5" name="SlideNo"/>
          <p:cNvSpPr txBox="1"/>
          <p:nvPr/>
        </p:nvSpPr>
        <p:spPr>
          <a:xfrm>
            <a:off x="11064240" y="6355080"/>
            <a:ext cx="576072" cy="320040"/>
          </a:xfrm>
          <a:prstGeom prst="rect">
            <a:avLst/>
          </a:prstGeom>
          <a:noFill/>
        </p:spPr>
        <p:txBody>
          <a:bodyPr wrap="square" lIns="0" tIns="0" rIns="0" bIns="0" anchor="t">
            <a:spAutoFit/>
          </a:bodyPr>
          <a:lstStyle/>
          <a:p>
            <a:pPr algn="r">
              <a:spcAft>
                <a:spcPts val="400"/>
              </a:spcAft>
            </a:pPr>
            <a:r>
              <a:rPr sz="1000" b="0" i="0">
                <a:solidFill>
                  <a:srgbClr val="53565A"/>
                </a:solidFill>
                <a:latin typeface="Calibri"/>
              </a:rPr>
              <a:t>4</a:t>
            </a:r>
          </a:p>
        </p:txBody>
      </p:sp>
      <p:graphicFrame>
        <p:nvGraphicFramePr>
          <p:cNvPr id="6" name="Table 5"/>
          <p:cNvGraphicFramePr>
            <a:graphicFrameLocks noGrp="1"/>
          </p:cNvGraphicFramePr>
          <p:nvPr/>
        </p:nvGraphicFramePr>
        <p:xfrm>
          <a:off x="548640" y="1691640"/>
          <a:ext cx="11064239" cy="3401568"/>
        </p:xfrm>
        <a:graphic>
          <a:graphicData uri="http://schemas.openxmlformats.org/drawingml/2006/table">
            <a:tbl>
              <a:tblPr firstRow="1" bandRow="1">
                <a:tableStyleId>{5940675A-B579-460E-94D1-54222C63F5DA}</a:tableStyleId>
              </a:tblPr>
              <a:tblGrid>
                <a:gridCol w="2194560">
                  <a:extLst>
                    <a:ext uri="{9D8B030D-6E8A-4147-A177-3AD203B41FA5}">
                      <a16:colId xmlns:a16="http://schemas.microsoft.com/office/drawing/2014/main" val="20000"/>
                    </a:ext>
                  </a:extLst>
                </a:gridCol>
                <a:gridCol w="5120640">
                  <a:extLst>
                    <a:ext uri="{9D8B030D-6E8A-4147-A177-3AD203B41FA5}">
                      <a16:colId xmlns:a16="http://schemas.microsoft.com/office/drawing/2014/main" val="20001"/>
                    </a:ext>
                  </a:extLst>
                </a:gridCol>
                <a:gridCol w="3749039">
                  <a:extLst>
                    <a:ext uri="{9D8B030D-6E8A-4147-A177-3AD203B41FA5}">
                      <a16:colId xmlns:a16="http://schemas.microsoft.com/office/drawing/2014/main" val="20002"/>
                    </a:ext>
                  </a:extLst>
                </a:gridCol>
              </a:tblGrid>
              <a:tr h="566928">
                <a:tc>
                  <a:txBody>
                    <a:bodyPr/>
                    <a:lstStyle/>
                    <a:p>
                      <a:r>
                        <a:rPr sz="1300" b="1">
                          <a:solidFill>
                            <a:srgbClr val="FFFFFF"/>
                          </a:solidFill>
                          <a:latin typeface="Calibri"/>
                        </a:rPr>
                        <a:t>Cost area</a:t>
                      </a:r>
                    </a:p>
                  </a:txBody>
                  <a:tcPr marL="73152" marR="73152" marT="36576" marB="36576" anchor="ctr">
                    <a:solidFill>
                      <a:srgbClr val="0D0D0D"/>
                    </a:solidFill>
                  </a:tcPr>
                </a:tc>
                <a:tc>
                  <a:txBody>
                    <a:bodyPr/>
                    <a:lstStyle/>
                    <a:p>
                      <a:r>
                        <a:rPr sz="1300" b="1">
                          <a:solidFill>
                            <a:srgbClr val="FFFFFF"/>
                          </a:solidFill>
                          <a:latin typeface="Calibri"/>
                        </a:rPr>
                        <a:t>Evidence</a:t>
                      </a:r>
                    </a:p>
                  </a:txBody>
                  <a:tcPr marL="73152" marR="73152" marT="36576" marB="36576" anchor="ctr">
                    <a:solidFill>
                      <a:srgbClr val="0D0D0D"/>
                    </a:solidFill>
                  </a:tcPr>
                </a:tc>
                <a:tc>
                  <a:txBody>
                    <a:bodyPr/>
                    <a:lstStyle/>
                    <a:p>
                      <a:r>
                        <a:rPr sz="1300" b="1">
                          <a:solidFill>
                            <a:srgbClr val="FFFFFF"/>
                          </a:solidFill>
                          <a:latin typeface="Calibri"/>
                        </a:rPr>
                        <a:t>What it means for CloudGuard</a:t>
                      </a:r>
                    </a:p>
                  </a:txBody>
                  <a:tcPr marL="73152" marR="73152" marT="36576" marB="36576" anchor="ctr">
                    <a:solidFill>
                      <a:srgbClr val="0D0D0D"/>
                    </a:solidFill>
                  </a:tcPr>
                </a:tc>
                <a:extLst>
                  <a:ext uri="{0D108BD9-81ED-4DB2-BD59-A6C34878D82A}">
                    <a16:rowId xmlns:a16="http://schemas.microsoft.com/office/drawing/2014/main" val="10000"/>
                  </a:ext>
                </a:extLst>
              </a:tr>
              <a:tr h="566928">
                <a:tc>
                  <a:txBody>
                    <a:bodyPr/>
                    <a:lstStyle/>
                    <a:p>
                      <a:r>
                        <a:rPr sz="1300" b="1">
                          <a:solidFill>
                            <a:srgbClr val="1A1A1A"/>
                          </a:solidFill>
                          <a:latin typeface="Calibri"/>
                        </a:rPr>
                        <a:t>Competitive coverage</a:t>
                      </a:r>
                    </a:p>
                  </a:txBody>
                  <a:tcPr marL="73152" marR="73152" marT="36576" marB="36576" anchor="ctr">
                    <a:solidFill>
                      <a:srgbClr val="FFFFFF"/>
                    </a:solidFill>
                  </a:tcPr>
                </a:tc>
                <a:tc>
                  <a:txBody>
                    <a:bodyPr/>
                    <a:lstStyle/>
                    <a:p>
                      <a:r>
                        <a:rPr sz="1300">
                          <a:solidFill>
                            <a:srgbClr val="1A1A1A"/>
                          </a:solidFill>
                          <a:latin typeface="Calibri"/>
                        </a:rPr>
                        <a:t>Prowler (open source): 567 AWS checks. Wiz: 1,400+ rules (2024)</a:t>
                      </a:r>
                    </a:p>
                  </a:txBody>
                  <a:tcPr marL="73152" marR="73152" marT="36576" marB="36576" anchor="ctr">
                    <a:solidFill>
                      <a:srgbClr val="FFFFFF"/>
                    </a:solidFill>
                  </a:tcPr>
                </a:tc>
                <a:tc>
                  <a:txBody>
                    <a:bodyPr/>
                    <a:lstStyle/>
                    <a:p>
                      <a:r>
                        <a:rPr sz="1300">
                          <a:solidFill>
                            <a:srgbClr val="1A1A1A"/>
                          </a:solidFill>
                          <a:latin typeface="Calibri"/>
                        </a:rPr>
                        <a:t>"Several hundred" rules is behind even free tools</a:t>
                      </a:r>
                    </a:p>
                  </a:txBody>
                  <a:tcPr marL="73152" marR="73152" marT="36576" marB="36576" anchor="ctr">
                    <a:solidFill>
                      <a:srgbClr val="FFFFFF"/>
                    </a:solidFill>
                  </a:tcPr>
                </a:tc>
                <a:extLst>
                  <a:ext uri="{0D108BD9-81ED-4DB2-BD59-A6C34878D82A}">
                    <a16:rowId xmlns:a16="http://schemas.microsoft.com/office/drawing/2014/main" val="10001"/>
                  </a:ext>
                </a:extLst>
              </a:tr>
              <a:tr h="566928">
                <a:tc>
                  <a:txBody>
                    <a:bodyPr/>
                    <a:lstStyle/>
                    <a:p>
                      <a:r>
                        <a:rPr sz="1300" b="1">
                          <a:solidFill>
                            <a:srgbClr val="1A1A1A"/>
                          </a:solidFill>
                          <a:latin typeface="Calibri"/>
                        </a:rPr>
                        <a:t>Customer breach risk</a:t>
                      </a:r>
                    </a:p>
                  </a:txBody>
                  <a:tcPr marL="73152" marR="73152" marT="36576" marB="36576" anchor="ctr">
                    <a:solidFill>
                      <a:srgbClr val="F4F5F2"/>
                    </a:solidFill>
                  </a:tcPr>
                </a:tc>
                <a:tc>
                  <a:txBody>
                    <a:bodyPr/>
                    <a:lstStyle/>
                    <a:p>
                      <a:r>
                        <a:rPr sz="1300">
                          <a:solidFill>
                            <a:srgbClr val="1A1A1A"/>
                          </a:solidFill>
                          <a:latin typeface="Calibri"/>
                        </a:rPr>
                        <a:t>Avg breach $4.44M global, $10.22M US (2025). Cloud misconfiguration: 12% of breaches (2024)</a:t>
                      </a:r>
                    </a:p>
                  </a:txBody>
                  <a:tcPr marL="73152" marR="73152" marT="36576" marB="36576" anchor="ctr">
                    <a:solidFill>
                      <a:srgbClr val="F4F5F2"/>
                    </a:solidFill>
                  </a:tcPr>
                </a:tc>
                <a:tc>
                  <a:txBody>
                    <a:bodyPr/>
                    <a:lstStyle/>
                    <a:p>
                      <a:r>
                        <a:rPr sz="1300">
                          <a:solidFill>
                            <a:srgbClr val="1A1A1A"/>
                          </a:solidFill>
                          <a:latin typeface="Calibri"/>
                        </a:rPr>
                        <a:t>Each month a gap stays open is unprotected exposure</a:t>
                      </a:r>
                    </a:p>
                  </a:txBody>
                  <a:tcPr marL="73152" marR="73152" marT="36576" marB="36576" anchor="ctr">
                    <a:solidFill>
                      <a:srgbClr val="F4F5F2"/>
                    </a:solidFill>
                  </a:tcPr>
                </a:tc>
                <a:extLst>
                  <a:ext uri="{0D108BD9-81ED-4DB2-BD59-A6C34878D82A}">
                    <a16:rowId xmlns:a16="http://schemas.microsoft.com/office/drawing/2014/main" val="10002"/>
                  </a:ext>
                </a:extLst>
              </a:tr>
              <a:tr h="566928">
                <a:tc>
                  <a:txBody>
                    <a:bodyPr/>
                    <a:lstStyle/>
                    <a:p>
                      <a:r>
                        <a:rPr sz="1300" b="1">
                          <a:solidFill>
                            <a:srgbClr val="1A1A1A"/>
                          </a:solidFill>
                          <a:latin typeface="Calibri"/>
                        </a:rPr>
                        <a:t>Trust in alerts</a:t>
                      </a:r>
                    </a:p>
                  </a:txBody>
                  <a:tcPr marL="73152" marR="73152" marT="36576" marB="36576" anchor="ctr">
                    <a:solidFill>
                      <a:srgbClr val="FFFFFF"/>
                    </a:solidFill>
                  </a:tcPr>
                </a:tc>
                <a:tc>
                  <a:txBody>
                    <a:bodyPr/>
                    <a:lstStyle/>
                    <a:p>
                      <a:r>
                        <a:rPr sz="1300">
                          <a:solidFill>
                            <a:srgbClr val="1A1A1A"/>
                          </a:solidFill>
                          <a:latin typeface="Calibri"/>
                        </a:rPr>
                        <a:t>73% of security teams name false positives their #1 detection challenge</a:t>
                      </a:r>
                    </a:p>
                  </a:txBody>
                  <a:tcPr marL="73152" marR="73152" marT="36576" marB="36576" anchor="ctr">
                    <a:solidFill>
                      <a:srgbClr val="FFFFFF"/>
                    </a:solidFill>
                  </a:tcPr>
                </a:tc>
                <a:tc>
                  <a:txBody>
                    <a:bodyPr/>
                    <a:lstStyle/>
                    <a:p>
                      <a:r>
                        <a:rPr sz="1300">
                          <a:solidFill>
                            <a:srgbClr val="1A1A1A"/>
                          </a:solidFill>
                          <a:latin typeface="Calibri"/>
                        </a:rPr>
                        <a:t>A noisy AI rule damages credibility fast</a:t>
                      </a:r>
                    </a:p>
                  </a:txBody>
                  <a:tcPr marL="73152" marR="73152" marT="36576" marB="36576" anchor="ctr">
                    <a:solidFill>
                      <a:srgbClr val="FFFFFF"/>
                    </a:solidFill>
                  </a:tcPr>
                </a:tc>
                <a:extLst>
                  <a:ext uri="{0D108BD9-81ED-4DB2-BD59-A6C34878D82A}">
                    <a16:rowId xmlns:a16="http://schemas.microsoft.com/office/drawing/2014/main" val="10003"/>
                  </a:ext>
                </a:extLst>
              </a:tr>
              <a:tr h="566928">
                <a:tc>
                  <a:txBody>
                    <a:bodyPr/>
                    <a:lstStyle/>
                    <a:p>
                      <a:r>
                        <a:rPr sz="1300" b="1">
                          <a:solidFill>
                            <a:srgbClr val="1A1A1A"/>
                          </a:solidFill>
                          <a:latin typeface="Calibri"/>
                        </a:rPr>
                        <a:t>Talent</a:t>
                      </a:r>
                    </a:p>
                  </a:txBody>
                  <a:tcPr marL="73152" marR="73152" marT="36576" marB="36576" anchor="ctr">
                    <a:solidFill>
                      <a:srgbClr val="F4F5F2"/>
                    </a:solidFill>
                  </a:tcPr>
                </a:tc>
                <a:tc>
                  <a:txBody>
                    <a:bodyPr/>
                    <a:lstStyle/>
                    <a:p>
                      <a:r>
                        <a:rPr sz="1300">
                          <a:solidFill>
                            <a:srgbClr val="1A1A1A"/>
                          </a:solidFill>
                          <a:latin typeface="Calibri"/>
                        </a:rPr>
                        <a:t>4.8M global security workforce gap; cloud security is #2 skills gap (30%)</a:t>
                      </a:r>
                    </a:p>
                  </a:txBody>
                  <a:tcPr marL="73152" marR="73152" marT="36576" marB="36576" anchor="ctr">
                    <a:solidFill>
                      <a:srgbClr val="F4F5F2"/>
                    </a:solidFill>
                  </a:tcPr>
                </a:tc>
                <a:tc>
                  <a:txBody>
                    <a:bodyPr/>
                    <a:lstStyle/>
                    <a:p>
                      <a:r>
                        <a:rPr sz="1300">
                          <a:solidFill>
                            <a:srgbClr val="1A1A1A"/>
                          </a:solidFill>
                          <a:latin typeface="Calibri"/>
                        </a:rPr>
                        <a:t>Hiring more SMEs is not a realistic fix</a:t>
                      </a:r>
                    </a:p>
                  </a:txBody>
                  <a:tcPr marL="73152" marR="73152" marT="36576" marB="36576" anchor="ctr">
                    <a:solidFill>
                      <a:srgbClr val="F4F5F2"/>
                    </a:solidFill>
                  </a:tcPr>
                </a:tc>
                <a:extLst>
                  <a:ext uri="{0D108BD9-81ED-4DB2-BD59-A6C34878D82A}">
                    <a16:rowId xmlns:a16="http://schemas.microsoft.com/office/drawing/2014/main" val="10004"/>
                  </a:ext>
                </a:extLst>
              </a:tr>
              <a:tr h="566928">
                <a:tc>
                  <a:txBody>
                    <a:bodyPr/>
                    <a:lstStyle/>
                    <a:p>
                      <a:r>
                        <a:rPr sz="1300" b="1">
                          <a:solidFill>
                            <a:srgbClr val="1A1A1A"/>
                          </a:solidFill>
                          <a:latin typeface="Calibri"/>
                        </a:rPr>
                        <a:t>SME capacity</a:t>
                      </a:r>
                    </a:p>
                  </a:txBody>
                  <a:tcPr marL="73152" marR="73152" marT="36576" marB="36576" anchor="ctr">
                    <a:solidFill>
                      <a:srgbClr val="FFFFFF"/>
                    </a:solidFill>
                  </a:tcPr>
                </a:tc>
                <a:tc>
                  <a:txBody>
                    <a:bodyPr/>
                    <a:lstStyle/>
                    <a:p>
                      <a:r>
                        <a:rPr sz="1300">
                          <a:solidFill>
                            <a:srgbClr val="1A1A1A"/>
                          </a:solidFill>
                          <a:latin typeface="Calibri"/>
                        </a:rPr>
                        <a:t>3–5 SME-days per rule × 6 SMEs</a:t>
                      </a:r>
                    </a:p>
                  </a:txBody>
                  <a:tcPr marL="73152" marR="73152" marT="36576" marB="36576" anchor="ctr">
                    <a:solidFill>
                      <a:srgbClr val="FFFFFF"/>
                    </a:solidFill>
                  </a:tcPr>
                </a:tc>
                <a:tc>
                  <a:txBody>
                    <a:bodyPr/>
                    <a:lstStyle/>
                    <a:p>
                      <a:r>
                        <a:rPr sz="1300">
                          <a:solidFill>
                            <a:srgbClr val="1A1A1A"/>
                          </a:solidFill>
                          <a:latin typeface="Calibri"/>
                        </a:rPr>
                        <a:t>Expensive specialist time goes to repetitive work</a:t>
                      </a:r>
                    </a:p>
                  </a:txBody>
                  <a:tcPr marL="73152" marR="73152" marT="36576" marB="36576" anchor="ctr">
                    <a:solidFill>
                      <a:srgbClr val="FFFFFF"/>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ection"/>
          <p:cNvSpPr txBox="1"/>
          <p:nvPr/>
        </p:nvSpPr>
        <p:spPr>
          <a:xfrm>
            <a:off x="548640" y="292608"/>
            <a:ext cx="8229600" cy="274320"/>
          </a:xfrm>
          <a:prstGeom prst="rect">
            <a:avLst/>
          </a:prstGeom>
          <a:noFill/>
        </p:spPr>
        <p:txBody>
          <a:bodyPr wrap="square" lIns="0" tIns="0" rIns="0" bIns="0" anchor="t">
            <a:spAutoFit/>
          </a:bodyPr>
          <a:lstStyle/>
          <a:p>
            <a:pPr algn="l">
              <a:spcAft>
                <a:spcPts val="400"/>
              </a:spcAft>
            </a:pPr>
            <a:r>
              <a:rPr sz="1100" b="1" i="0">
                <a:solidFill>
                  <a:srgbClr val="046A38"/>
                </a:solidFill>
                <a:latin typeface="Arial"/>
              </a:rPr>
              <a:t>1 · PROBLEM</a:t>
            </a:r>
          </a:p>
        </p:txBody>
      </p:sp>
      <p:sp>
        <p:nvSpPr>
          <p:cNvPr id="3" name="Title"/>
          <p:cNvSpPr txBox="1"/>
          <p:nvPr/>
        </p:nvSpPr>
        <p:spPr>
          <a:xfrm>
            <a:off x="548640" y="548640"/>
            <a:ext cx="11064240" cy="868680"/>
          </a:xfrm>
          <a:prstGeom prst="rect">
            <a:avLst/>
          </a:prstGeom>
          <a:noFill/>
        </p:spPr>
        <p:txBody>
          <a:bodyPr wrap="square" lIns="0" tIns="0" rIns="0" bIns="0" anchor="t">
            <a:spAutoFit/>
          </a:bodyPr>
          <a:lstStyle/>
          <a:p>
            <a:pPr algn="l">
              <a:spcAft>
                <a:spcPts val="400"/>
              </a:spcAft>
            </a:pPr>
            <a:r>
              <a:rPr sz="2800" b="1" i="0">
                <a:solidFill>
                  <a:srgbClr val="1A1A1A"/>
                </a:solidFill>
                <a:latin typeface="Arial"/>
              </a:rPr>
              <a:t>AWS changes alone already use up the whole SME team</a:t>
            </a:r>
          </a:p>
        </p:txBody>
      </p:sp>
      <p:sp>
        <p:nvSpPr>
          <p:cNvPr id="5" name="SlideNo"/>
          <p:cNvSpPr txBox="1"/>
          <p:nvPr/>
        </p:nvSpPr>
        <p:spPr>
          <a:xfrm>
            <a:off x="11064240" y="6355080"/>
            <a:ext cx="576072" cy="320040"/>
          </a:xfrm>
          <a:prstGeom prst="rect">
            <a:avLst/>
          </a:prstGeom>
          <a:noFill/>
        </p:spPr>
        <p:txBody>
          <a:bodyPr wrap="square" lIns="0" tIns="0" rIns="0" bIns="0" anchor="t">
            <a:spAutoFit/>
          </a:bodyPr>
          <a:lstStyle/>
          <a:p>
            <a:pPr algn="r">
              <a:spcAft>
                <a:spcPts val="400"/>
              </a:spcAft>
            </a:pPr>
            <a:r>
              <a:rPr sz="1000" b="0" i="0">
                <a:solidFill>
                  <a:srgbClr val="53565A"/>
                </a:solidFill>
                <a:latin typeface="Calibri"/>
              </a:rPr>
              <a:t>5</a:t>
            </a:r>
          </a:p>
        </p:txBody>
      </p:sp>
      <p:sp>
        <p:nvSpPr>
          <p:cNvPr id="6" name="Rounded Rectangle 5"/>
          <p:cNvSpPr/>
          <p:nvPr/>
        </p:nvSpPr>
        <p:spPr>
          <a:xfrm>
            <a:off x="548640" y="1691640"/>
            <a:ext cx="2606040" cy="2377440"/>
          </a:xfrm>
          <a:prstGeom prst="roundRect">
            <a:avLst>
              <a:gd name="adj" fmla="val 6000"/>
            </a:avLst>
          </a:prstGeom>
          <a:solidFill>
            <a:srgbClr val="F1F8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777240" y="1874520"/>
            <a:ext cx="2148840" cy="822960"/>
          </a:xfrm>
          <a:prstGeom prst="rect">
            <a:avLst/>
          </a:prstGeom>
          <a:noFill/>
        </p:spPr>
        <p:txBody>
          <a:bodyPr wrap="square" lIns="0" tIns="0" rIns="0" bIns="0" anchor="t">
            <a:spAutoFit/>
          </a:bodyPr>
          <a:lstStyle/>
          <a:p>
            <a:pPr algn="l">
              <a:spcAft>
                <a:spcPts val="400"/>
              </a:spcAft>
            </a:pPr>
            <a:r>
              <a:rPr sz="4000" b="1" i="0">
                <a:solidFill>
                  <a:srgbClr val="046A38"/>
                </a:solidFill>
                <a:latin typeface="Arial"/>
              </a:rPr>
              <a:t>11</a:t>
            </a:r>
          </a:p>
        </p:txBody>
      </p:sp>
      <p:sp>
        <p:nvSpPr>
          <p:cNvPr id="8" name="TextBox 7"/>
          <p:cNvSpPr txBox="1"/>
          <p:nvPr/>
        </p:nvSpPr>
        <p:spPr>
          <a:xfrm>
            <a:off x="777240" y="2697480"/>
            <a:ext cx="2148840" cy="1005840"/>
          </a:xfrm>
          <a:prstGeom prst="rect">
            <a:avLst/>
          </a:prstGeom>
          <a:noFill/>
        </p:spPr>
        <p:txBody>
          <a:bodyPr wrap="square" lIns="0" tIns="0" rIns="0" bIns="0" anchor="t">
            <a:spAutoFit/>
          </a:bodyPr>
          <a:lstStyle/>
          <a:p>
            <a:pPr algn="l">
              <a:spcAft>
                <a:spcPts val="400"/>
              </a:spcAft>
            </a:pPr>
            <a:r>
              <a:rPr sz="1400" b="0" i="0">
                <a:solidFill>
                  <a:srgbClr val="1A1A1A"/>
                </a:solidFill>
                <a:latin typeface="Calibri"/>
              </a:rPr>
              <a:t>AWS changes in 13 days that need a new or updated rule</a:t>
            </a:r>
          </a:p>
        </p:txBody>
      </p:sp>
      <p:sp>
        <p:nvSpPr>
          <p:cNvPr id="9" name="TextBox 8"/>
          <p:cNvSpPr txBox="1"/>
          <p:nvPr/>
        </p:nvSpPr>
        <p:spPr>
          <a:xfrm>
            <a:off x="777240" y="3685032"/>
            <a:ext cx="2148840" cy="274320"/>
          </a:xfrm>
          <a:prstGeom prst="rect">
            <a:avLst/>
          </a:prstGeom>
          <a:noFill/>
        </p:spPr>
        <p:txBody>
          <a:bodyPr wrap="square" lIns="0" tIns="0" rIns="0" bIns="0" anchor="t">
            <a:spAutoFit/>
          </a:bodyPr>
          <a:lstStyle/>
          <a:p>
            <a:pPr algn="l">
              <a:spcAft>
                <a:spcPts val="400"/>
              </a:spcAft>
            </a:pPr>
            <a:r>
              <a:rPr sz="1000" b="1" i="0">
                <a:solidFill>
                  <a:srgbClr val="53565A"/>
                </a:solidFill>
                <a:latin typeface="Calibri"/>
              </a:rPr>
              <a:t>GOLDEN DATASET</a:t>
            </a:r>
          </a:p>
        </p:txBody>
      </p:sp>
      <p:sp>
        <p:nvSpPr>
          <p:cNvPr id="10" name="Rounded Rectangle 9"/>
          <p:cNvSpPr/>
          <p:nvPr/>
        </p:nvSpPr>
        <p:spPr>
          <a:xfrm>
            <a:off x="3337560" y="1691640"/>
            <a:ext cx="2606040" cy="2377440"/>
          </a:xfrm>
          <a:prstGeom prst="roundRect">
            <a:avLst>
              <a:gd name="adj" fmla="val 6000"/>
            </a:avLst>
          </a:prstGeom>
          <a:solidFill>
            <a:srgbClr val="F1F8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3566160" y="1874520"/>
            <a:ext cx="2148840" cy="822960"/>
          </a:xfrm>
          <a:prstGeom prst="rect">
            <a:avLst/>
          </a:prstGeom>
          <a:noFill/>
        </p:spPr>
        <p:txBody>
          <a:bodyPr wrap="square" lIns="0" tIns="0" rIns="0" bIns="0" anchor="t">
            <a:spAutoFit/>
          </a:bodyPr>
          <a:lstStyle/>
          <a:p>
            <a:pPr algn="l">
              <a:spcAft>
                <a:spcPts val="400"/>
              </a:spcAft>
            </a:pPr>
            <a:r>
              <a:rPr sz="4000" b="1" i="0">
                <a:solidFill>
                  <a:srgbClr val="046A38"/>
                </a:solidFill>
                <a:latin typeface="Arial"/>
              </a:rPr>
              <a:t>33–55</a:t>
            </a:r>
          </a:p>
        </p:txBody>
      </p:sp>
      <p:sp>
        <p:nvSpPr>
          <p:cNvPr id="12" name="TextBox 11"/>
          <p:cNvSpPr txBox="1"/>
          <p:nvPr/>
        </p:nvSpPr>
        <p:spPr>
          <a:xfrm>
            <a:off x="3566160" y="2697480"/>
            <a:ext cx="2148840" cy="1005840"/>
          </a:xfrm>
          <a:prstGeom prst="rect">
            <a:avLst/>
          </a:prstGeom>
          <a:noFill/>
        </p:spPr>
        <p:txBody>
          <a:bodyPr wrap="square" lIns="0" tIns="0" rIns="0" bIns="0" anchor="t">
            <a:spAutoFit/>
          </a:bodyPr>
          <a:lstStyle/>
          <a:p>
            <a:pPr algn="l">
              <a:spcAft>
                <a:spcPts val="400"/>
              </a:spcAft>
            </a:pPr>
            <a:r>
              <a:rPr sz="1400" b="0" i="0">
                <a:solidFill>
                  <a:srgbClr val="1A1A1A"/>
                </a:solidFill>
                <a:latin typeface="Calibri"/>
              </a:rPr>
              <a:t>SME-days to build those 11 rules at 3–5 days each</a:t>
            </a:r>
          </a:p>
        </p:txBody>
      </p:sp>
      <p:sp>
        <p:nvSpPr>
          <p:cNvPr id="13" name="TextBox 12"/>
          <p:cNvSpPr txBox="1"/>
          <p:nvPr/>
        </p:nvSpPr>
        <p:spPr>
          <a:xfrm>
            <a:off x="3566160" y="3685032"/>
            <a:ext cx="2148840" cy="274320"/>
          </a:xfrm>
          <a:prstGeom prst="rect">
            <a:avLst/>
          </a:prstGeom>
          <a:noFill/>
        </p:spPr>
        <p:txBody>
          <a:bodyPr wrap="square" lIns="0" tIns="0" rIns="0" bIns="0" anchor="t">
            <a:spAutoFit/>
          </a:bodyPr>
          <a:lstStyle/>
          <a:p>
            <a:pPr algn="l">
              <a:spcAft>
                <a:spcPts val="400"/>
              </a:spcAft>
            </a:pPr>
            <a:r>
              <a:rPr sz="1000" b="1" i="0">
                <a:solidFill>
                  <a:srgbClr val="53565A"/>
                </a:solidFill>
                <a:latin typeface="Calibri"/>
              </a:rPr>
              <a:t>DERIVED</a:t>
            </a:r>
          </a:p>
        </p:txBody>
      </p:sp>
      <p:sp>
        <p:nvSpPr>
          <p:cNvPr id="14" name="Rounded Rectangle 13"/>
          <p:cNvSpPr/>
          <p:nvPr/>
        </p:nvSpPr>
        <p:spPr>
          <a:xfrm>
            <a:off x="6126480" y="1691640"/>
            <a:ext cx="2606040" cy="2377440"/>
          </a:xfrm>
          <a:prstGeom prst="roundRect">
            <a:avLst>
              <a:gd name="adj" fmla="val 6000"/>
            </a:avLst>
          </a:prstGeom>
          <a:solidFill>
            <a:srgbClr val="FFF3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6355080" y="1874520"/>
            <a:ext cx="2148840" cy="822960"/>
          </a:xfrm>
          <a:prstGeom prst="rect">
            <a:avLst/>
          </a:prstGeom>
          <a:noFill/>
        </p:spPr>
        <p:txBody>
          <a:bodyPr wrap="square" lIns="0" tIns="0" rIns="0" bIns="0" anchor="t">
            <a:spAutoFit/>
          </a:bodyPr>
          <a:lstStyle/>
          <a:p>
            <a:pPr algn="l">
              <a:spcAft>
                <a:spcPts val="400"/>
              </a:spcAft>
            </a:pPr>
            <a:r>
              <a:rPr sz="4000" b="1" i="0">
                <a:solidFill>
                  <a:srgbClr val="A34A00"/>
                </a:solidFill>
                <a:latin typeface="Arial"/>
              </a:rPr>
              <a:t>54</a:t>
            </a:r>
          </a:p>
        </p:txBody>
      </p:sp>
      <p:sp>
        <p:nvSpPr>
          <p:cNvPr id="16" name="TextBox 15"/>
          <p:cNvSpPr txBox="1"/>
          <p:nvPr/>
        </p:nvSpPr>
        <p:spPr>
          <a:xfrm>
            <a:off x="6355080" y="2697480"/>
            <a:ext cx="2148840" cy="1005840"/>
          </a:xfrm>
          <a:prstGeom prst="rect">
            <a:avLst/>
          </a:prstGeom>
          <a:noFill/>
        </p:spPr>
        <p:txBody>
          <a:bodyPr wrap="square" lIns="0" tIns="0" rIns="0" bIns="0" anchor="t">
            <a:spAutoFit/>
          </a:bodyPr>
          <a:lstStyle/>
          <a:p>
            <a:pPr algn="l">
              <a:spcAft>
                <a:spcPts val="400"/>
              </a:spcAft>
            </a:pPr>
            <a:r>
              <a:rPr sz="1400" b="0" i="0">
                <a:solidFill>
                  <a:srgbClr val="1A1A1A"/>
                </a:solidFill>
                <a:latin typeface="Calibri"/>
              </a:rPr>
              <a:t>SME-days the whole team has in those 9 working days (6 × 9)</a:t>
            </a:r>
          </a:p>
        </p:txBody>
      </p:sp>
      <p:sp>
        <p:nvSpPr>
          <p:cNvPr id="17" name="TextBox 16"/>
          <p:cNvSpPr txBox="1"/>
          <p:nvPr/>
        </p:nvSpPr>
        <p:spPr>
          <a:xfrm>
            <a:off x="6355080" y="3685032"/>
            <a:ext cx="2148840" cy="274320"/>
          </a:xfrm>
          <a:prstGeom prst="rect">
            <a:avLst/>
          </a:prstGeom>
          <a:noFill/>
        </p:spPr>
        <p:txBody>
          <a:bodyPr wrap="square" lIns="0" tIns="0" rIns="0" bIns="0" anchor="t">
            <a:spAutoFit/>
          </a:bodyPr>
          <a:lstStyle/>
          <a:p>
            <a:pPr algn="l">
              <a:spcAft>
                <a:spcPts val="400"/>
              </a:spcAft>
            </a:pPr>
            <a:r>
              <a:rPr sz="1000" b="1" i="0">
                <a:solidFill>
                  <a:srgbClr val="53565A"/>
                </a:solidFill>
                <a:latin typeface="Calibri"/>
              </a:rPr>
              <a:t>DERIVED</a:t>
            </a:r>
          </a:p>
        </p:txBody>
      </p:sp>
      <p:sp>
        <p:nvSpPr>
          <p:cNvPr id="18" name="Rounded Rectangle 17"/>
          <p:cNvSpPr/>
          <p:nvPr/>
        </p:nvSpPr>
        <p:spPr>
          <a:xfrm>
            <a:off x="8915400" y="1691640"/>
            <a:ext cx="2697480" cy="2377440"/>
          </a:xfrm>
          <a:prstGeom prst="roundRect">
            <a:avLst>
              <a:gd name="adj" fmla="val 6000"/>
            </a:avLst>
          </a:prstGeom>
          <a:solidFill>
            <a:srgbClr val="F1F8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9144000" y="1874520"/>
            <a:ext cx="2240280" cy="822960"/>
          </a:xfrm>
          <a:prstGeom prst="rect">
            <a:avLst/>
          </a:prstGeom>
          <a:noFill/>
        </p:spPr>
        <p:txBody>
          <a:bodyPr wrap="square" lIns="0" tIns="0" rIns="0" bIns="0" anchor="t">
            <a:spAutoFit/>
          </a:bodyPr>
          <a:lstStyle/>
          <a:p>
            <a:pPr algn="l">
              <a:spcAft>
                <a:spcPts val="400"/>
              </a:spcAft>
            </a:pPr>
            <a:r>
              <a:rPr sz="4000" b="1" i="0">
                <a:solidFill>
                  <a:srgbClr val="046A38"/>
                </a:solidFill>
                <a:latin typeface="Arial"/>
              </a:rPr>
              <a:t>~309</a:t>
            </a:r>
          </a:p>
        </p:txBody>
      </p:sp>
      <p:sp>
        <p:nvSpPr>
          <p:cNvPr id="20" name="TextBox 19"/>
          <p:cNvSpPr txBox="1"/>
          <p:nvPr/>
        </p:nvSpPr>
        <p:spPr>
          <a:xfrm>
            <a:off x="9144000" y="2697480"/>
            <a:ext cx="2240280" cy="1005840"/>
          </a:xfrm>
          <a:prstGeom prst="rect">
            <a:avLst/>
          </a:prstGeom>
          <a:noFill/>
        </p:spPr>
        <p:txBody>
          <a:bodyPr wrap="square" lIns="0" tIns="0" rIns="0" bIns="0" anchor="t">
            <a:spAutoFit/>
          </a:bodyPr>
          <a:lstStyle/>
          <a:p>
            <a:pPr algn="l">
              <a:spcAft>
                <a:spcPts val="400"/>
              </a:spcAft>
            </a:pPr>
            <a:r>
              <a:rPr sz="1400" b="0" i="0">
                <a:solidFill>
                  <a:srgbClr val="1A1A1A"/>
                </a:solidFill>
                <a:latin typeface="Calibri"/>
              </a:rPr>
              <a:t>AWS rule candidates a year, vs 312–520 rules of capacity at 100% use</a:t>
            </a:r>
          </a:p>
        </p:txBody>
      </p:sp>
      <p:sp>
        <p:nvSpPr>
          <p:cNvPr id="21" name="TextBox 20"/>
          <p:cNvSpPr txBox="1"/>
          <p:nvPr/>
        </p:nvSpPr>
        <p:spPr>
          <a:xfrm>
            <a:off x="9144000" y="3685032"/>
            <a:ext cx="2240280" cy="274320"/>
          </a:xfrm>
          <a:prstGeom prst="rect">
            <a:avLst/>
          </a:prstGeom>
          <a:noFill/>
        </p:spPr>
        <p:txBody>
          <a:bodyPr wrap="square" lIns="0" tIns="0" rIns="0" bIns="0" anchor="t">
            <a:spAutoFit/>
          </a:bodyPr>
          <a:lstStyle/>
          <a:p>
            <a:pPr algn="l">
              <a:spcAft>
                <a:spcPts val="400"/>
              </a:spcAft>
            </a:pPr>
            <a:r>
              <a:rPr sz="1000" b="1" i="0">
                <a:solidFill>
                  <a:srgbClr val="53565A"/>
                </a:solidFill>
                <a:latin typeface="Calibri"/>
              </a:rPr>
              <a:t>DERIVED</a:t>
            </a:r>
          </a:p>
        </p:txBody>
      </p:sp>
      <p:sp>
        <p:nvSpPr>
          <p:cNvPr id="22" name="Rounded Rectangle 21"/>
          <p:cNvSpPr/>
          <p:nvPr/>
        </p:nvSpPr>
        <p:spPr>
          <a:xfrm>
            <a:off x="548640" y="4343400"/>
            <a:ext cx="11064240" cy="1691640"/>
          </a:xfrm>
          <a:prstGeom prst="roundRect">
            <a:avLst>
              <a:gd name="adj" fmla="val 6000"/>
            </a:avLst>
          </a:prstGeom>
          <a:solidFill>
            <a:srgbClr val="F4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TextBox 22"/>
          <p:cNvSpPr txBox="1"/>
          <p:nvPr/>
        </p:nvSpPr>
        <p:spPr>
          <a:xfrm>
            <a:off x="822960" y="4526280"/>
            <a:ext cx="10515600" cy="1371600"/>
          </a:xfrm>
          <a:prstGeom prst="rect">
            <a:avLst/>
          </a:prstGeom>
          <a:noFill/>
        </p:spPr>
        <p:txBody>
          <a:bodyPr wrap="square" lIns="0" tIns="0" rIns="0" bIns="0" anchor="t">
            <a:spAutoFit/>
          </a:bodyPr>
          <a:lstStyle/>
          <a:p>
            <a:pPr algn="l">
              <a:spcAft>
                <a:spcPts val="400"/>
              </a:spcAft>
            </a:pPr>
            <a:r>
              <a:rPr sz="1600" b="1" i="0">
                <a:solidFill>
                  <a:srgbClr val="046A38"/>
                </a:solidFill>
                <a:latin typeface="Calibri"/>
              </a:rPr>
              <a:t>What this costs CloudGuard and its customers  </a:t>
            </a:r>
          </a:p>
          <a:p>
            <a:pPr algn="l">
              <a:spcAft>
                <a:spcPts val="400"/>
              </a:spcAft>
            </a:pPr>
            <a:r>
              <a:rPr sz="1600" b="0" i="0">
                <a:solidFill>
                  <a:srgbClr val="1A1A1A"/>
                </a:solidFill>
                <a:latin typeface="Calibri"/>
              </a:rPr>
              <a:t>The AWS feed alone needs 61–100% of total SME capacity, before Azure, GCP, the 31 CIS v6.0 → v7.0 changes, maintenance or false-positive fixes. The backlog is structural: it grows every week, and each open gap is unprotected exposure for customers and a coverage loss against tools like Prowler (567 AWS checks).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ection"/>
          <p:cNvSpPr txBox="1"/>
          <p:nvPr/>
        </p:nvSpPr>
        <p:spPr>
          <a:xfrm>
            <a:off x="548640" y="292608"/>
            <a:ext cx="8229600" cy="274320"/>
          </a:xfrm>
          <a:prstGeom prst="rect">
            <a:avLst/>
          </a:prstGeom>
          <a:noFill/>
        </p:spPr>
        <p:txBody>
          <a:bodyPr wrap="square" lIns="0" tIns="0" rIns="0" bIns="0" anchor="t">
            <a:spAutoFit/>
          </a:bodyPr>
          <a:lstStyle/>
          <a:p>
            <a:pPr algn="l">
              <a:spcAft>
                <a:spcPts val="400"/>
              </a:spcAft>
            </a:pPr>
            <a:r>
              <a:rPr sz="1100" b="1" i="0">
                <a:solidFill>
                  <a:srgbClr val="046A38"/>
                </a:solidFill>
                <a:latin typeface="Arial"/>
              </a:rPr>
              <a:t>2 · USERS &amp; WORKFLOW</a:t>
            </a:r>
          </a:p>
        </p:txBody>
      </p:sp>
      <p:sp>
        <p:nvSpPr>
          <p:cNvPr id="3" name="Title"/>
          <p:cNvSpPr txBox="1"/>
          <p:nvPr/>
        </p:nvSpPr>
        <p:spPr>
          <a:xfrm>
            <a:off x="548640" y="548640"/>
            <a:ext cx="11064240" cy="868680"/>
          </a:xfrm>
          <a:prstGeom prst="rect">
            <a:avLst/>
          </a:prstGeom>
          <a:noFill/>
        </p:spPr>
        <p:txBody>
          <a:bodyPr wrap="square" lIns="0" tIns="0" rIns="0" bIns="0" anchor="t">
            <a:spAutoFit/>
          </a:bodyPr>
          <a:lstStyle/>
          <a:p>
            <a:pPr algn="l">
              <a:spcAft>
                <a:spcPts val="400"/>
              </a:spcAft>
            </a:pPr>
            <a:r>
              <a:rPr sz="2800" b="1" i="0">
                <a:solidFill>
                  <a:srgbClr val="1A1A1A"/>
                </a:solidFill>
                <a:latin typeface="Arial"/>
              </a:rPr>
              <a:t>Five personas, and each one needs something different from the system</a:t>
            </a:r>
          </a:p>
        </p:txBody>
      </p:sp>
      <p:sp>
        <p:nvSpPr>
          <p:cNvPr id="5" name="SlideNo"/>
          <p:cNvSpPr txBox="1"/>
          <p:nvPr/>
        </p:nvSpPr>
        <p:spPr>
          <a:xfrm>
            <a:off x="11064240" y="6355080"/>
            <a:ext cx="576072" cy="320040"/>
          </a:xfrm>
          <a:prstGeom prst="rect">
            <a:avLst/>
          </a:prstGeom>
          <a:noFill/>
        </p:spPr>
        <p:txBody>
          <a:bodyPr wrap="square" lIns="0" tIns="0" rIns="0" bIns="0" anchor="t">
            <a:spAutoFit/>
          </a:bodyPr>
          <a:lstStyle/>
          <a:p>
            <a:pPr algn="r">
              <a:spcAft>
                <a:spcPts val="400"/>
              </a:spcAft>
            </a:pPr>
            <a:r>
              <a:rPr sz="1000" b="0" i="0">
                <a:solidFill>
                  <a:srgbClr val="53565A"/>
                </a:solidFill>
                <a:latin typeface="Calibri"/>
              </a:rPr>
              <a:t>6</a:t>
            </a:r>
          </a:p>
        </p:txBody>
      </p:sp>
      <p:sp>
        <p:nvSpPr>
          <p:cNvPr id="6" name="Rounded Rectangle 5"/>
          <p:cNvSpPr/>
          <p:nvPr/>
        </p:nvSpPr>
        <p:spPr>
          <a:xfrm>
            <a:off x="548640" y="1737360"/>
            <a:ext cx="2103120" cy="4206240"/>
          </a:xfrm>
          <a:prstGeom prst="roundRect">
            <a:avLst>
              <a:gd name="adj" fmla="val 6000"/>
            </a:avLst>
          </a:prstGeom>
          <a:solidFill>
            <a:srgbClr val="F4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Oval 6"/>
          <p:cNvSpPr/>
          <p:nvPr/>
        </p:nvSpPr>
        <p:spPr>
          <a:xfrm>
            <a:off x="731520" y="1920240"/>
            <a:ext cx="384048" cy="384048"/>
          </a:xfrm>
          <a:prstGeom prst="ellipse">
            <a:avLst/>
          </a:prstGeom>
          <a:solidFill>
            <a:srgbClr val="86BC25"/>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0D0D0D"/>
                </a:solidFill>
                <a:latin typeface="Arial"/>
              </a:rPr>
              <a:t>1</a:t>
            </a:r>
          </a:p>
        </p:txBody>
      </p:sp>
      <p:sp>
        <p:nvSpPr>
          <p:cNvPr id="8" name="TextBox 7"/>
          <p:cNvSpPr txBox="1"/>
          <p:nvPr/>
        </p:nvSpPr>
        <p:spPr>
          <a:xfrm>
            <a:off x="731520" y="2423160"/>
            <a:ext cx="1783080" cy="685800"/>
          </a:xfrm>
          <a:prstGeom prst="rect">
            <a:avLst/>
          </a:prstGeom>
          <a:noFill/>
        </p:spPr>
        <p:txBody>
          <a:bodyPr wrap="square" lIns="0" tIns="0" rIns="0" bIns="0" anchor="t">
            <a:spAutoFit/>
          </a:bodyPr>
          <a:lstStyle/>
          <a:p>
            <a:pPr algn="l">
              <a:spcAft>
                <a:spcPts val="400"/>
              </a:spcAft>
            </a:pPr>
            <a:r>
              <a:rPr sz="1500" b="1" i="0">
                <a:solidFill>
                  <a:srgbClr val="1A1A1A"/>
                </a:solidFill>
                <a:latin typeface="Arial"/>
              </a:rPr>
              <a:t>Cloud security SME</a:t>
            </a:r>
          </a:p>
        </p:txBody>
      </p:sp>
      <p:sp>
        <p:nvSpPr>
          <p:cNvPr id="9" name="TextBox 8"/>
          <p:cNvSpPr txBox="1"/>
          <p:nvPr/>
        </p:nvSpPr>
        <p:spPr>
          <a:xfrm>
            <a:off x="731520" y="3108960"/>
            <a:ext cx="1783080" cy="685800"/>
          </a:xfrm>
          <a:prstGeom prst="rect">
            <a:avLst/>
          </a:prstGeom>
          <a:noFill/>
        </p:spPr>
        <p:txBody>
          <a:bodyPr wrap="square" lIns="0" tIns="0" rIns="0" bIns="0" anchor="t">
            <a:spAutoFit/>
          </a:bodyPr>
          <a:lstStyle/>
          <a:p>
            <a:pPr algn="l">
              <a:spcAft>
                <a:spcPts val="400"/>
              </a:spcAft>
            </a:pPr>
            <a:r>
              <a:rPr sz="1200" b="0" i="0">
                <a:solidFill>
                  <a:srgbClr val="53565A"/>
                </a:solidFill>
                <a:latin typeface="Calibri"/>
              </a:rPr>
              <a:t>Authors and validates rules today</a:t>
            </a:r>
          </a:p>
        </p:txBody>
      </p:sp>
      <p:sp>
        <p:nvSpPr>
          <p:cNvPr id="10" name="TextBox 9"/>
          <p:cNvSpPr txBox="1"/>
          <p:nvPr/>
        </p:nvSpPr>
        <p:spPr>
          <a:xfrm>
            <a:off x="731520" y="3794760"/>
            <a:ext cx="1783080" cy="274320"/>
          </a:xfrm>
          <a:prstGeom prst="rect">
            <a:avLst/>
          </a:prstGeom>
          <a:noFill/>
        </p:spPr>
        <p:txBody>
          <a:bodyPr wrap="square" lIns="0" tIns="0" rIns="0" bIns="0" anchor="t">
            <a:spAutoFit/>
          </a:bodyPr>
          <a:lstStyle/>
          <a:p>
            <a:pPr algn="l">
              <a:spcAft>
                <a:spcPts val="400"/>
              </a:spcAft>
            </a:pPr>
            <a:r>
              <a:rPr sz="1000" b="1" i="0">
                <a:solidFill>
                  <a:srgbClr val="046A38"/>
                </a:solidFill>
                <a:latin typeface="Calibri"/>
              </a:rPr>
              <a:t>NEEDS</a:t>
            </a:r>
          </a:p>
        </p:txBody>
      </p:sp>
      <p:sp>
        <p:nvSpPr>
          <p:cNvPr id="11" name="TextBox 10"/>
          <p:cNvSpPr txBox="1"/>
          <p:nvPr/>
        </p:nvSpPr>
        <p:spPr>
          <a:xfrm>
            <a:off x="731520" y="4041648"/>
            <a:ext cx="1783080" cy="731520"/>
          </a:xfrm>
          <a:prstGeom prst="rect">
            <a:avLst/>
          </a:prstGeom>
          <a:noFill/>
        </p:spPr>
        <p:txBody>
          <a:bodyPr wrap="square" lIns="0" tIns="0" rIns="0" bIns="0" anchor="t">
            <a:spAutoFit/>
          </a:bodyPr>
          <a:lstStyle/>
          <a:p>
            <a:pPr algn="l">
              <a:spcAft>
                <a:spcPts val="400"/>
              </a:spcAft>
            </a:pPr>
            <a:r>
              <a:rPr sz="1300" b="0" i="0">
                <a:solidFill>
                  <a:srgbClr val="1A1A1A"/>
                </a:solidFill>
                <a:latin typeface="Calibri"/>
              </a:rPr>
              <a:t>Less grunt work; keeps control and credit</a:t>
            </a:r>
          </a:p>
        </p:txBody>
      </p:sp>
      <p:sp>
        <p:nvSpPr>
          <p:cNvPr id="12" name="TextBox 11"/>
          <p:cNvSpPr txBox="1"/>
          <p:nvPr/>
        </p:nvSpPr>
        <p:spPr>
          <a:xfrm>
            <a:off x="731520" y="4800600"/>
            <a:ext cx="1783080" cy="274320"/>
          </a:xfrm>
          <a:prstGeom prst="rect">
            <a:avLst/>
          </a:prstGeom>
          <a:noFill/>
        </p:spPr>
        <p:txBody>
          <a:bodyPr wrap="square" lIns="0" tIns="0" rIns="0" bIns="0" anchor="t">
            <a:spAutoFit/>
          </a:bodyPr>
          <a:lstStyle/>
          <a:p>
            <a:pPr algn="l">
              <a:spcAft>
                <a:spcPts val="400"/>
              </a:spcAft>
            </a:pPr>
            <a:r>
              <a:rPr sz="1000" b="1" i="0">
                <a:solidFill>
                  <a:srgbClr val="007680"/>
                </a:solidFill>
                <a:latin typeface="Calibri"/>
              </a:rPr>
              <a:t>WINS WITH RULEFORGE</a:t>
            </a:r>
          </a:p>
        </p:txBody>
      </p:sp>
      <p:sp>
        <p:nvSpPr>
          <p:cNvPr id="13" name="TextBox 12"/>
          <p:cNvSpPr txBox="1"/>
          <p:nvPr/>
        </p:nvSpPr>
        <p:spPr>
          <a:xfrm>
            <a:off x="731520" y="5047488"/>
            <a:ext cx="1783080" cy="822960"/>
          </a:xfrm>
          <a:prstGeom prst="rect">
            <a:avLst/>
          </a:prstGeom>
          <a:noFill/>
        </p:spPr>
        <p:txBody>
          <a:bodyPr wrap="square" lIns="0" tIns="0" rIns="0" bIns="0" anchor="t">
            <a:spAutoFit/>
          </a:bodyPr>
          <a:lstStyle/>
          <a:p>
            <a:pPr algn="l">
              <a:spcAft>
                <a:spcPts val="400"/>
              </a:spcAft>
            </a:pPr>
            <a:r>
              <a:rPr sz="1300" b="0" i="0">
                <a:solidFill>
                  <a:srgbClr val="1A1A1A"/>
                </a:solidFill>
                <a:latin typeface="Calibri"/>
              </a:rPr>
              <a:t>Approves an evidence pack instead of building from zero</a:t>
            </a:r>
          </a:p>
        </p:txBody>
      </p:sp>
      <p:sp>
        <p:nvSpPr>
          <p:cNvPr id="14" name="Rounded Rectangle 13"/>
          <p:cNvSpPr/>
          <p:nvPr/>
        </p:nvSpPr>
        <p:spPr>
          <a:xfrm>
            <a:off x="2798064" y="1737360"/>
            <a:ext cx="2103120" cy="4206240"/>
          </a:xfrm>
          <a:prstGeom prst="roundRect">
            <a:avLst>
              <a:gd name="adj" fmla="val 6000"/>
            </a:avLst>
          </a:prstGeom>
          <a:solidFill>
            <a:srgbClr val="F4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Oval 14"/>
          <p:cNvSpPr/>
          <p:nvPr/>
        </p:nvSpPr>
        <p:spPr>
          <a:xfrm>
            <a:off x="2980944" y="1920240"/>
            <a:ext cx="384048" cy="384048"/>
          </a:xfrm>
          <a:prstGeom prst="ellipse">
            <a:avLst/>
          </a:prstGeom>
          <a:solidFill>
            <a:srgbClr val="86BC25"/>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0D0D0D"/>
                </a:solidFill>
                <a:latin typeface="Arial"/>
              </a:rPr>
              <a:t>2</a:t>
            </a:r>
          </a:p>
        </p:txBody>
      </p:sp>
      <p:sp>
        <p:nvSpPr>
          <p:cNvPr id="16" name="TextBox 15"/>
          <p:cNvSpPr txBox="1"/>
          <p:nvPr/>
        </p:nvSpPr>
        <p:spPr>
          <a:xfrm>
            <a:off x="2980944" y="2423160"/>
            <a:ext cx="1783080" cy="685800"/>
          </a:xfrm>
          <a:prstGeom prst="rect">
            <a:avLst/>
          </a:prstGeom>
          <a:noFill/>
        </p:spPr>
        <p:txBody>
          <a:bodyPr wrap="square" lIns="0" tIns="0" rIns="0" bIns="0" anchor="t">
            <a:spAutoFit/>
          </a:bodyPr>
          <a:lstStyle/>
          <a:p>
            <a:pPr algn="l">
              <a:spcAft>
                <a:spcPts val="400"/>
              </a:spcAft>
            </a:pPr>
            <a:r>
              <a:rPr sz="1500" b="1" i="0">
                <a:solidFill>
                  <a:srgbClr val="1A1A1A"/>
                </a:solidFill>
                <a:latin typeface="Arial"/>
              </a:rPr>
              <a:t>Detection engineer</a:t>
            </a:r>
          </a:p>
        </p:txBody>
      </p:sp>
      <p:sp>
        <p:nvSpPr>
          <p:cNvPr id="17" name="TextBox 16"/>
          <p:cNvSpPr txBox="1"/>
          <p:nvPr/>
        </p:nvSpPr>
        <p:spPr>
          <a:xfrm>
            <a:off x="2980944" y="3108960"/>
            <a:ext cx="1783080" cy="685800"/>
          </a:xfrm>
          <a:prstGeom prst="rect">
            <a:avLst/>
          </a:prstGeom>
          <a:noFill/>
        </p:spPr>
        <p:txBody>
          <a:bodyPr wrap="square" lIns="0" tIns="0" rIns="0" bIns="0" anchor="t">
            <a:spAutoFit/>
          </a:bodyPr>
          <a:lstStyle/>
          <a:p>
            <a:pPr algn="l">
              <a:spcAft>
                <a:spcPts val="400"/>
              </a:spcAft>
            </a:pPr>
            <a:r>
              <a:rPr sz="1200" b="0" i="0">
                <a:solidFill>
                  <a:srgbClr val="53565A"/>
                </a:solidFill>
                <a:latin typeface="Calibri"/>
              </a:rPr>
              <a:t>Ships and maintains the rule pipeline</a:t>
            </a:r>
          </a:p>
        </p:txBody>
      </p:sp>
      <p:sp>
        <p:nvSpPr>
          <p:cNvPr id="18" name="TextBox 17"/>
          <p:cNvSpPr txBox="1"/>
          <p:nvPr/>
        </p:nvSpPr>
        <p:spPr>
          <a:xfrm>
            <a:off x="2980944" y="3794760"/>
            <a:ext cx="1783080" cy="274320"/>
          </a:xfrm>
          <a:prstGeom prst="rect">
            <a:avLst/>
          </a:prstGeom>
          <a:noFill/>
        </p:spPr>
        <p:txBody>
          <a:bodyPr wrap="square" lIns="0" tIns="0" rIns="0" bIns="0" anchor="t">
            <a:spAutoFit/>
          </a:bodyPr>
          <a:lstStyle/>
          <a:p>
            <a:pPr algn="l">
              <a:spcAft>
                <a:spcPts val="400"/>
              </a:spcAft>
            </a:pPr>
            <a:r>
              <a:rPr sz="1000" b="1" i="0">
                <a:solidFill>
                  <a:srgbClr val="046A38"/>
                </a:solidFill>
                <a:latin typeface="Calibri"/>
              </a:rPr>
              <a:t>NEEDS</a:t>
            </a:r>
          </a:p>
        </p:txBody>
      </p:sp>
      <p:sp>
        <p:nvSpPr>
          <p:cNvPr id="19" name="TextBox 18"/>
          <p:cNvSpPr txBox="1"/>
          <p:nvPr/>
        </p:nvSpPr>
        <p:spPr>
          <a:xfrm>
            <a:off x="2980944" y="4041648"/>
            <a:ext cx="1783080" cy="731520"/>
          </a:xfrm>
          <a:prstGeom prst="rect">
            <a:avLst/>
          </a:prstGeom>
          <a:noFill/>
        </p:spPr>
        <p:txBody>
          <a:bodyPr wrap="square" lIns="0" tIns="0" rIns="0" bIns="0" anchor="t">
            <a:spAutoFit/>
          </a:bodyPr>
          <a:lstStyle/>
          <a:p>
            <a:pPr algn="l">
              <a:spcAft>
                <a:spcPts val="400"/>
              </a:spcAft>
            </a:pPr>
            <a:r>
              <a:rPr sz="1300" b="0" i="0">
                <a:solidFill>
                  <a:srgbClr val="1A1A1A"/>
                </a:solidFill>
                <a:latin typeface="Calibri"/>
              </a:rPr>
              <a:t>AI rules in the same format, CI and tests</a:t>
            </a:r>
          </a:p>
        </p:txBody>
      </p:sp>
      <p:sp>
        <p:nvSpPr>
          <p:cNvPr id="20" name="TextBox 19"/>
          <p:cNvSpPr txBox="1"/>
          <p:nvPr/>
        </p:nvSpPr>
        <p:spPr>
          <a:xfrm>
            <a:off x="2980944" y="4800600"/>
            <a:ext cx="1783080" cy="274320"/>
          </a:xfrm>
          <a:prstGeom prst="rect">
            <a:avLst/>
          </a:prstGeom>
          <a:noFill/>
        </p:spPr>
        <p:txBody>
          <a:bodyPr wrap="square" lIns="0" tIns="0" rIns="0" bIns="0" anchor="t">
            <a:spAutoFit/>
          </a:bodyPr>
          <a:lstStyle/>
          <a:p>
            <a:pPr algn="l">
              <a:spcAft>
                <a:spcPts val="400"/>
              </a:spcAft>
            </a:pPr>
            <a:r>
              <a:rPr sz="1000" b="1" i="0">
                <a:solidFill>
                  <a:srgbClr val="007680"/>
                </a:solidFill>
                <a:latin typeface="Calibri"/>
              </a:rPr>
              <a:t>WINS WITH RULEFORGE</a:t>
            </a:r>
          </a:p>
        </p:txBody>
      </p:sp>
      <p:sp>
        <p:nvSpPr>
          <p:cNvPr id="21" name="TextBox 20"/>
          <p:cNvSpPr txBox="1"/>
          <p:nvPr/>
        </p:nvSpPr>
        <p:spPr>
          <a:xfrm>
            <a:off x="2980944" y="5047488"/>
            <a:ext cx="1783080" cy="822960"/>
          </a:xfrm>
          <a:prstGeom prst="rect">
            <a:avLst/>
          </a:prstGeom>
          <a:noFill/>
        </p:spPr>
        <p:txBody>
          <a:bodyPr wrap="square" lIns="0" tIns="0" rIns="0" bIns="0" anchor="t">
            <a:spAutoFit/>
          </a:bodyPr>
          <a:lstStyle/>
          <a:p>
            <a:pPr algn="l">
              <a:spcAft>
                <a:spcPts val="400"/>
              </a:spcAft>
            </a:pPr>
            <a:r>
              <a:rPr sz="1300" b="0" i="0">
                <a:solidFill>
                  <a:srgbClr val="1A1A1A"/>
                </a:solidFill>
                <a:latin typeface="Calibri"/>
              </a:rPr>
              <a:t>Rules arrive tested and versioned</a:t>
            </a:r>
          </a:p>
        </p:txBody>
      </p:sp>
      <p:sp>
        <p:nvSpPr>
          <p:cNvPr id="22" name="Rounded Rectangle 21"/>
          <p:cNvSpPr/>
          <p:nvPr/>
        </p:nvSpPr>
        <p:spPr>
          <a:xfrm>
            <a:off x="5047488" y="1737360"/>
            <a:ext cx="2103120" cy="4206240"/>
          </a:xfrm>
          <a:prstGeom prst="roundRect">
            <a:avLst>
              <a:gd name="adj" fmla="val 6000"/>
            </a:avLst>
          </a:prstGeom>
          <a:solidFill>
            <a:srgbClr val="F4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Oval 22"/>
          <p:cNvSpPr/>
          <p:nvPr/>
        </p:nvSpPr>
        <p:spPr>
          <a:xfrm>
            <a:off x="5230368" y="1920240"/>
            <a:ext cx="384048" cy="384048"/>
          </a:xfrm>
          <a:prstGeom prst="ellipse">
            <a:avLst/>
          </a:prstGeom>
          <a:solidFill>
            <a:srgbClr val="86BC25"/>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0D0D0D"/>
                </a:solidFill>
                <a:latin typeface="Arial"/>
              </a:rPr>
              <a:t>3</a:t>
            </a:r>
          </a:p>
        </p:txBody>
      </p:sp>
      <p:sp>
        <p:nvSpPr>
          <p:cNvPr id="24" name="TextBox 23"/>
          <p:cNvSpPr txBox="1"/>
          <p:nvPr/>
        </p:nvSpPr>
        <p:spPr>
          <a:xfrm>
            <a:off x="5230368" y="2423160"/>
            <a:ext cx="1783080" cy="685800"/>
          </a:xfrm>
          <a:prstGeom prst="rect">
            <a:avLst/>
          </a:prstGeom>
          <a:noFill/>
        </p:spPr>
        <p:txBody>
          <a:bodyPr wrap="square" lIns="0" tIns="0" rIns="0" bIns="0" anchor="t">
            <a:spAutoFit/>
          </a:bodyPr>
          <a:lstStyle/>
          <a:p>
            <a:pPr algn="l">
              <a:spcAft>
                <a:spcPts val="400"/>
              </a:spcAft>
            </a:pPr>
            <a:r>
              <a:rPr sz="1500" b="1" i="0">
                <a:solidFill>
                  <a:srgbClr val="1A1A1A"/>
                </a:solidFill>
                <a:latin typeface="Arial"/>
              </a:rPr>
              <a:t>Customer success &amp; sales</a:t>
            </a:r>
          </a:p>
        </p:txBody>
      </p:sp>
      <p:sp>
        <p:nvSpPr>
          <p:cNvPr id="25" name="TextBox 24"/>
          <p:cNvSpPr txBox="1"/>
          <p:nvPr/>
        </p:nvSpPr>
        <p:spPr>
          <a:xfrm>
            <a:off x="5230368" y="3108960"/>
            <a:ext cx="1783080" cy="685800"/>
          </a:xfrm>
          <a:prstGeom prst="rect">
            <a:avLst/>
          </a:prstGeom>
          <a:noFill/>
        </p:spPr>
        <p:txBody>
          <a:bodyPr wrap="square" lIns="0" tIns="0" rIns="0" bIns="0" anchor="t">
            <a:spAutoFit/>
          </a:bodyPr>
          <a:lstStyle/>
          <a:p>
            <a:pPr algn="l">
              <a:spcAft>
                <a:spcPts val="400"/>
              </a:spcAft>
            </a:pPr>
            <a:r>
              <a:rPr sz="1200" b="0" i="0">
                <a:solidFill>
                  <a:srgbClr val="53565A"/>
                </a:solidFill>
                <a:latin typeface="Calibri"/>
              </a:rPr>
              <a:t>Fields coverage and accuracy questions</a:t>
            </a:r>
          </a:p>
        </p:txBody>
      </p:sp>
      <p:sp>
        <p:nvSpPr>
          <p:cNvPr id="26" name="TextBox 25"/>
          <p:cNvSpPr txBox="1"/>
          <p:nvPr/>
        </p:nvSpPr>
        <p:spPr>
          <a:xfrm>
            <a:off x="5230368" y="3794760"/>
            <a:ext cx="1783080" cy="274320"/>
          </a:xfrm>
          <a:prstGeom prst="rect">
            <a:avLst/>
          </a:prstGeom>
          <a:noFill/>
        </p:spPr>
        <p:txBody>
          <a:bodyPr wrap="square" lIns="0" tIns="0" rIns="0" bIns="0" anchor="t">
            <a:spAutoFit/>
          </a:bodyPr>
          <a:lstStyle/>
          <a:p>
            <a:pPr algn="l">
              <a:spcAft>
                <a:spcPts val="400"/>
              </a:spcAft>
            </a:pPr>
            <a:r>
              <a:rPr sz="1000" b="1" i="0">
                <a:solidFill>
                  <a:srgbClr val="046A38"/>
                </a:solidFill>
                <a:latin typeface="Calibri"/>
              </a:rPr>
              <a:t>NEEDS</a:t>
            </a:r>
          </a:p>
        </p:txBody>
      </p:sp>
      <p:sp>
        <p:nvSpPr>
          <p:cNvPr id="27" name="TextBox 26"/>
          <p:cNvSpPr txBox="1"/>
          <p:nvPr/>
        </p:nvSpPr>
        <p:spPr>
          <a:xfrm>
            <a:off x="5230368" y="4041648"/>
            <a:ext cx="1783080" cy="731520"/>
          </a:xfrm>
          <a:prstGeom prst="rect">
            <a:avLst/>
          </a:prstGeom>
          <a:noFill/>
        </p:spPr>
        <p:txBody>
          <a:bodyPr wrap="square" lIns="0" tIns="0" rIns="0" bIns="0" anchor="t">
            <a:spAutoFit/>
          </a:bodyPr>
          <a:lstStyle/>
          <a:p>
            <a:pPr algn="l">
              <a:spcAft>
                <a:spcPts val="400"/>
              </a:spcAft>
            </a:pPr>
            <a:r>
              <a:rPr sz="1300" b="0" i="0">
                <a:solidFill>
                  <a:srgbClr val="1A1A1A"/>
                </a:solidFill>
                <a:latin typeface="Calibri"/>
              </a:rPr>
              <a:t>A defensible coverage story</a:t>
            </a:r>
          </a:p>
        </p:txBody>
      </p:sp>
      <p:sp>
        <p:nvSpPr>
          <p:cNvPr id="28" name="TextBox 27"/>
          <p:cNvSpPr txBox="1"/>
          <p:nvPr/>
        </p:nvSpPr>
        <p:spPr>
          <a:xfrm>
            <a:off x="5230368" y="4800600"/>
            <a:ext cx="1783080" cy="274320"/>
          </a:xfrm>
          <a:prstGeom prst="rect">
            <a:avLst/>
          </a:prstGeom>
          <a:noFill/>
        </p:spPr>
        <p:txBody>
          <a:bodyPr wrap="square" lIns="0" tIns="0" rIns="0" bIns="0" anchor="t">
            <a:spAutoFit/>
          </a:bodyPr>
          <a:lstStyle/>
          <a:p>
            <a:pPr algn="l">
              <a:spcAft>
                <a:spcPts val="400"/>
              </a:spcAft>
            </a:pPr>
            <a:r>
              <a:rPr sz="1000" b="1" i="0">
                <a:solidFill>
                  <a:srgbClr val="007680"/>
                </a:solidFill>
                <a:latin typeface="Calibri"/>
              </a:rPr>
              <a:t>WINS WITH RULEFORGE</a:t>
            </a:r>
          </a:p>
        </p:txBody>
      </p:sp>
      <p:sp>
        <p:nvSpPr>
          <p:cNvPr id="29" name="TextBox 28"/>
          <p:cNvSpPr txBox="1"/>
          <p:nvPr/>
        </p:nvSpPr>
        <p:spPr>
          <a:xfrm>
            <a:off x="5230368" y="5047488"/>
            <a:ext cx="1783080" cy="822960"/>
          </a:xfrm>
          <a:prstGeom prst="rect">
            <a:avLst/>
          </a:prstGeom>
          <a:noFill/>
        </p:spPr>
        <p:txBody>
          <a:bodyPr wrap="square" lIns="0" tIns="0" rIns="0" bIns="0" anchor="t">
            <a:spAutoFit/>
          </a:bodyPr>
          <a:lstStyle/>
          <a:p>
            <a:pPr algn="l">
              <a:spcAft>
                <a:spcPts val="400"/>
              </a:spcAft>
            </a:pPr>
            <a:r>
              <a:rPr sz="1300" b="0" i="0">
                <a:solidFill>
                  <a:srgbClr val="1A1A1A"/>
                </a:solidFill>
                <a:latin typeface="Calibri"/>
              </a:rPr>
              <a:t>"New AWS changes covered in days"</a:t>
            </a:r>
          </a:p>
        </p:txBody>
      </p:sp>
      <p:sp>
        <p:nvSpPr>
          <p:cNvPr id="30" name="Rounded Rectangle 29"/>
          <p:cNvSpPr/>
          <p:nvPr/>
        </p:nvSpPr>
        <p:spPr>
          <a:xfrm>
            <a:off x="7296912" y="1737360"/>
            <a:ext cx="2103120" cy="4206240"/>
          </a:xfrm>
          <a:prstGeom prst="roundRect">
            <a:avLst>
              <a:gd name="adj" fmla="val 6000"/>
            </a:avLst>
          </a:prstGeom>
          <a:solidFill>
            <a:srgbClr val="F4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 name="Oval 30"/>
          <p:cNvSpPr/>
          <p:nvPr/>
        </p:nvSpPr>
        <p:spPr>
          <a:xfrm>
            <a:off x="7479792" y="1920240"/>
            <a:ext cx="384048" cy="384048"/>
          </a:xfrm>
          <a:prstGeom prst="ellipse">
            <a:avLst/>
          </a:prstGeom>
          <a:solidFill>
            <a:srgbClr val="86BC25"/>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0D0D0D"/>
                </a:solidFill>
                <a:latin typeface="Arial"/>
              </a:rPr>
              <a:t>4</a:t>
            </a:r>
          </a:p>
        </p:txBody>
      </p:sp>
      <p:sp>
        <p:nvSpPr>
          <p:cNvPr id="32" name="TextBox 31"/>
          <p:cNvSpPr txBox="1"/>
          <p:nvPr/>
        </p:nvSpPr>
        <p:spPr>
          <a:xfrm>
            <a:off x="7479792" y="2423160"/>
            <a:ext cx="1783080" cy="685800"/>
          </a:xfrm>
          <a:prstGeom prst="rect">
            <a:avLst/>
          </a:prstGeom>
          <a:noFill/>
        </p:spPr>
        <p:txBody>
          <a:bodyPr wrap="square" lIns="0" tIns="0" rIns="0" bIns="0" anchor="t">
            <a:spAutoFit/>
          </a:bodyPr>
          <a:lstStyle/>
          <a:p>
            <a:pPr algn="l">
              <a:spcAft>
                <a:spcPts val="400"/>
              </a:spcAft>
            </a:pPr>
            <a:r>
              <a:rPr sz="1500" b="1" i="0">
                <a:solidFill>
                  <a:srgbClr val="1A1A1A"/>
                </a:solidFill>
                <a:latin typeface="Arial"/>
              </a:rPr>
              <a:t>Compliance / audit customer</a:t>
            </a:r>
          </a:p>
        </p:txBody>
      </p:sp>
      <p:sp>
        <p:nvSpPr>
          <p:cNvPr id="33" name="TextBox 32"/>
          <p:cNvSpPr txBox="1"/>
          <p:nvPr/>
        </p:nvSpPr>
        <p:spPr>
          <a:xfrm>
            <a:off x="7479792" y="3108960"/>
            <a:ext cx="1783080" cy="685800"/>
          </a:xfrm>
          <a:prstGeom prst="rect">
            <a:avLst/>
          </a:prstGeom>
          <a:noFill/>
        </p:spPr>
        <p:txBody>
          <a:bodyPr wrap="square" lIns="0" tIns="0" rIns="0" bIns="0" anchor="t">
            <a:spAutoFit/>
          </a:bodyPr>
          <a:lstStyle/>
          <a:p>
            <a:pPr algn="l">
              <a:spcAft>
                <a:spcPts val="400"/>
              </a:spcAft>
            </a:pPr>
            <a:r>
              <a:rPr sz="1200" b="0" i="0">
                <a:solidFill>
                  <a:srgbClr val="53565A"/>
                </a:solidFill>
                <a:latin typeface="Calibri"/>
              </a:rPr>
              <a:t>Relies on rule provenance</a:t>
            </a:r>
          </a:p>
        </p:txBody>
      </p:sp>
      <p:sp>
        <p:nvSpPr>
          <p:cNvPr id="34" name="TextBox 33"/>
          <p:cNvSpPr txBox="1"/>
          <p:nvPr/>
        </p:nvSpPr>
        <p:spPr>
          <a:xfrm>
            <a:off x="7479792" y="3794760"/>
            <a:ext cx="1783080" cy="274320"/>
          </a:xfrm>
          <a:prstGeom prst="rect">
            <a:avLst/>
          </a:prstGeom>
          <a:noFill/>
        </p:spPr>
        <p:txBody>
          <a:bodyPr wrap="square" lIns="0" tIns="0" rIns="0" bIns="0" anchor="t">
            <a:spAutoFit/>
          </a:bodyPr>
          <a:lstStyle/>
          <a:p>
            <a:pPr algn="l">
              <a:spcAft>
                <a:spcPts val="400"/>
              </a:spcAft>
            </a:pPr>
            <a:r>
              <a:rPr sz="1000" b="1" i="0">
                <a:solidFill>
                  <a:srgbClr val="046A38"/>
                </a:solidFill>
                <a:latin typeface="Calibri"/>
              </a:rPr>
              <a:t>NEEDS</a:t>
            </a:r>
          </a:p>
        </p:txBody>
      </p:sp>
      <p:sp>
        <p:nvSpPr>
          <p:cNvPr id="35" name="TextBox 34"/>
          <p:cNvSpPr txBox="1"/>
          <p:nvPr/>
        </p:nvSpPr>
        <p:spPr>
          <a:xfrm>
            <a:off x="7479792" y="4041648"/>
            <a:ext cx="1783080" cy="731520"/>
          </a:xfrm>
          <a:prstGeom prst="rect">
            <a:avLst/>
          </a:prstGeom>
          <a:noFill/>
        </p:spPr>
        <p:txBody>
          <a:bodyPr wrap="square" lIns="0" tIns="0" rIns="0" bIns="0" anchor="t">
            <a:spAutoFit/>
          </a:bodyPr>
          <a:lstStyle/>
          <a:p>
            <a:pPr algn="l">
              <a:spcAft>
                <a:spcPts val="400"/>
              </a:spcAft>
            </a:pPr>
            <a:r>
              <a:rPr sz="1300" b="0" i="0">
                <a:solidFill>
                  <a:srgbClr val="1A1A1A"/>
                </a:solidFill>
                <a:latin typeface="Calibri"/>
              </a:rPr>
              <a:t>Every finding traceable to a named source</a:t>
            </a:r>
          </a:p>
        </p:txBody>
      </p:sp>
      <p:sp>
        <p:nvSpPr>
          <p:cNvPr id="36" name="TextBox 35"/>
          <p:cNvSpPr txBox="1"/>
          <p:nvPr/>
        </p:nvSpPr>
        <p:spPr>
          <a:xfrm>
            <a:off x="7479792" y="4800600"/>
            <a:ext cx="1783080" cy="274320"/>
          </a:xfrm>
          <a:prstGeom prst="rect">
            <a:avLst/>
          </a:prstGeom>
          <a:noFill/>
        </p:spPr>
        <p:txBody>
          <a:bodyPr wrap="square" lIns="0" tIns="0" rIns="0" bIns="0" anchor="t">
            <a:spAutoFit/>
          </a:bodyPr>
          <a:lstStyle/>
          <a:p>
            <a:pPr algn="l">
              <a:spcAft>
                <a:spcPts val="400"/>
              </a:spcAft>
            </a:pPr>
            <a:r>
              <a:rPr sz="1000" b="1" i="0">
                <a:solidFill>
                  <a:srgbClr val="007680"/>
                </a:solidFill>
                <a:latin typeface="Calibri"/>
              </a:rPr>
              <a:t>WINS WITH RULEFORGE</a:t>
            </a:r>
          </a:p>
        </p:txBody>
      </p:sp>
      <p:sp>
        <p:nvSpPr>
          <p:cNvPr id="37" name="TextBox 36"/>
          <p:cNvSpPr txBox="1"/>
          <p:nvPr/>
        </p:nvSpPr>
        <p:spPr>
          <a:xfrm>
            <a:off x="7479792" y="5047488"/>
            <a:ext cx="1783080" cy="822960"/>
          </a:xfrm>
          <a:prstGeom prst="rect">
            <a:avLst/>
          </a:prstGeom>
          <a:noFill/>
        </p:spPr>
        <p:txBody>
          <a:bodyPr wrap="square" lIns="0" tIns="0" rIns="0" bIns="0" anchor="t">
            <a:spAutoFit/>
          </a:bodyPr>
          <a:lstStyle/>
          <a:p>
            <a:pPr algn="l">
              <a:spcAft>
                <a:spcPts val="400"/>
              </a:spcAft>
            </a:pPr>
            <a:r>
              <a:rPr sz="1300" b="0" i="0">
                <a:solidFill>
                  <a:srgbClr val="1A1A1A"/>
                </a:solidFill>
                <a:latin typeface="Calibri"/>
              </a:rPr>
              <a:t>Provenance card + audit evidence</a:t>
            </a:r>
          </a:p>
        </p:txBody>
      </p:sp>
      <p:sp>
        <p:nvSpPr>
          <p:cNvPr id="38" name="Rounded Rectangle 37"/>
          <p:cNvSpPr/>
          <p:nvPr/>
        </p:nvSpPr>
        <p:spPr>
          <a:xfrm>
            <a:off x="9546336" y="1737360"/>
            <a:ext cx="2103120" cy="4206240"/>
          </a:xfrm>
          <a:prstGeom prst="roundRect">
            <a:avLst>
              <a:gd name="adj" fmla="val 6000"/>
            </a:avLst>
          </a:prstGeom>
          <a:solidFill>
            <a:srgbClr val="F4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9" name="Oval 38"/>
          <p:cNvSpPr/>
          <p:nvPr/>
        </p:nvSpPr>
        <p:spPr>
          <a:xfrm>
            <a:off x="9729215" y="1920240"/>
            <a:ext cx="384048" cy="384048"/>
          </a:xfrm>
          <a:prstGeom prst="ellipse">
            <a:avLst/>
          </a:prstGeom>
          <a:solidFill>
            <a:srgbClr val="86BC25"/>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0D0D0D"/>
                </a:solidFill>
                <a:latin typeface="Arial"/>
              </a:rPr>
              <a:t>5</a:t>
            </a:r>
          </a:p>
        </p:txBody>
      </p:sp>
      <p:sp>
        <p:nvSpPr>
          <p:cNvPr id="40" name="TextBox 39"/>
          <p:cNvSpPr txBox="1"/>
          <p:nvPr/>
        </p:nvSpPr>
        <p:spPr>
          <a:xfrm>
            <a:off x="9729215" y="2423160"/>
            <a:ext cx="1783080" cy="685800"/>
          </a:xfrm>
          <a:prstGeom prst="rect">
            <a:avLst/>
          </a:prstGeom>
          <a:noFill/>
        </p:spPr>
        <p:txBody>
          <a:bodyPr wrap="square" lIns="0" tIns="0" rIns="0" bIns="0" anchor="t">
            <a:spAutoFit/>
          </a:bodyPr>
          <a:lstStyle/>
          <a:p>
            <a:pPr algn="l">
              <a:spcAft>
                <a:spcPts val="400"/>
              </a:spcAft>
            </a:pPr>
            <a:r>
              <a:rPr sz="1500" b="1" i="0">
                <a:solidFill>
                  <a:srgbClr val="1A1A1A"/>
                </a:solidFill>
                <a:latin typeface="Arial"/>
              </a:rPr>
              <a:t>Applied-AI pod engineer</a:t>
            </a:r>
          </a:p>
        </p:txBody>
      </p:sp>
      <p:sp>
        <p:nvSpPr>
          <p:cNvPr id="41" name="TextBox 40"/>
          <p:cNvSpPr txBox="1"/>
          <p:nvPr/>
        </p:nvSpPr>
        <p:spPr>
          <a:xfrm>
            <a:off x="9729215" y="3108960"/>
            <a:ext cx="1783080" cy="685800"/>
          </a:xfrm>
          <a:prstGeom prst="rect">
            <a:avLst/>
          </a:prstGeom>
          <a:noFill/>
        </p:spPr>
        <p:txBody>
          <a:bodyPr wrap="square" lIns="0" tIns="0" rIns="0" bIns="0" anchor="t">
            <a:spAutoFit/>
          </a:bodyPr>
          <a:lstStyle/>
          <a:p>
            <a:pPr algn="l">
              <a:spcAft>
                <a:spcPts val="400"/>
              </a:spcAft>
            </a:pPr>
            <a:r>
              <a:rPr sz="1200" b="0" i="0">
                <a:solidFill>
                  <a:srgbClr val="53565A"/>
                </a:solidFill>
                <a:latin typeface="Calibri"/>
              </a:rPr>
              <a:t>2–3 engineers, new team</a:t>
            </a:r>
          </a:p>
        </p:txBody>
      </p:sp>
      <p:sp>
        <p:nvSpPr>
          <p:cNvPr id="42" name="TextBox 41"/>
          <p:cNvSpPr txBox="1"/>
          <p:nvPr/>
        </p:nvSpPr>
        <p:spPr>
          <a:xfrm>
            <a:off x="9729215" y="3794760"/>
            <a:ext cx="1783080" cy="274320"/>
          </a:xfrm>
          <a:prstGeom prst="rect">
            <a:avLst/>
          </a:prstGeom>
          <a:noFill/>
        </p:spPr>
        <p:txBody>
          <a:bodyPr wrap="square" lIns="0" tIns="0" rIns="0" bIns="0" anchor="t">
            <a:spAutoFit/>
          </a:bodyPr>
          <a:lstStyle/>
          <a:p>
            <a:pPr algn="l">
              <a:spcAft>
                <a:spcPts val="400"/>
              </a:spcAft>
            </a:pPr>
            <a:r>
              <a:rPr sz="1000" b="1" i="0">
                <a:solidFill>
                  <a:srgbClr val="046A38"/>
                </a:solidFill>
                <a:latin typeface="Calibri"/>
              </a:rPr>
              <a:t>NEEDS</a:t>
            </a:r>
          </a:p>
        </p:txBody>
      </p:sp>
      <p:sp>
        <p:nvSpPr>
          <p:cNvPr id="43" name="TextBox 42"/>
          <p:cNvSpPr txBox="1"/>
          <p:nvPr/>
        </p:nvSpPr>
        <p:spPr>
          <a:xfrm>
            <a:off x="9729215" y="4041648"/>
            <a:ext cx="1783080" cy="731520"/>
          </a:xfrm>
          <a:prstGeom prst="rect">
            <a:avLst/>
          </a:prstGeom>
          <a:noFill/>
        </p:spPr>
        <p:txBody>
          <a:bodyPr wrap="square" lIns="0" tIns="0" rIns="0" bIns="0" anchor="t">
            <a:spAutoFit/>
          </a:bodyPr>
          <a:lstStyle/>
          <a:p>
            <a:pPr algn="l">
              <a:spcAft>
                <a:spcPts val="400"/>
              </a:spcAft>
            </a:pPr>
            <a:r>
              <a:rPr sz="1300" b="0" i="0">
                <a:solidFill>
                  <a:srgbClr val="1A1A1A"/>
                </a:solidFill>
                <a:latin typeface="Calibri"/>
              </a:rPr>
              <a:t>Clear evals, observability, rollback</a:t>
            </a:r>
          </a:p>
        </p:txBody>
      </p:sp>
      <p:sp>
        <p:nvSpPr>
          <p:cNvPr id="44" name="TextBox 43"/>
          <p:cNvSpPr txBox="1"/>
          <p:nvPr/>
        </p:nvSpPr>
        <p:spPr>
          <a:xfrm>
            <a:off x="9729215" y="4800600"/>
            <a:ext cx="1783080" cy="274320"/>
          </a:xfrm>
          <a:prstGeom prst="rect">
            <a:avLst/>
          </a:prstGeom>
          <a:noFill/>
        </p:spPr>
        <p:txBody>
          <a:bodyPr wrap="square" lIns="0" tIns="0" rIns="0" bIns="0" anchor="t">
            <a:spAutoFit/>
          </a:bodyPr>
          <a:lstStyle/>
          <a:p>
            <a:pPr algn="l">
              <a:spcAft>
                <a:spcPts val="400"/>
              </a:spcAft>
            </a:pPr>
            <a:r>
              <a:rPr sz="1000" b="1" i="0">
                <a:solidFill>
                  <a:srgbClr val="007680"/>
                </a:solidFill>
                <a:latin typeface="Calibri"/>
              </a:rPr>
              <a:t>WINS WITH RULEFORGE</a:t>
            </a:r>
          </a:p>
        </p:txBody>
      </p:sp>
      <p:sp>
        <p:nvSpPr>
          <p:cNvPr id="45" name="TextBox 44"/>
          <p:cNvSpPr txBox="1"/>
          <p:nvPr/>
        </p:nvSpPr>
        <p:spPr>
          <a:xfrm>
            <a:off x="9729215" y="5047488"/>
            <a:ext cx="1783080" cy="822960"/>
          </a:xfrm>
          <a:prstGeom prst="rect">
            <a:avLst/>
          </a:prstGeom>
          <a:noFill/>
        </p:spPr>
        <p:txBody>
          <a:bodyPr wrap="square" lIns="0" tIns="0" rIns="0" bIns="0" anchor="t">
            <a:spAutoFit/>
          </a:bodyPr>
          <a:lstStyle/>
          <a:p>
            <a:pPr algn="l">
              <a:spcAft>
                <a:spcPts val="400"/>
              </a:spcAft>
            </a:pPr>
            <a:r>
              <a:rPr sz="1300" b="0" i="0">
                <a:solidFill>
                  <a:srgbClr val="1A1A1A"/>
                </a:solidFill>
                <a:latin typeface="Calibri"/>
              </a:rPr>
              <a:t>Golden-set gate and kill switch</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ection"/>
          <p:cNvSpPr txBox="1"/>
          <p:nvPr/>
        </p:nvSpPr>
        <p:spPr>
          <a:xfrm>
            <a:off x="548640" y="292608"/>
            <a:ext cx="8229600" cy="274320"/>
          </a:xfrm>
          <a:prstGeom prst="rect">
            <a:avLst/>
          </a:prstGeom>
          <a:noFill/>
        </p:spPr>
        <p:txBody>
          <a:bodyPr wrap="square" lIns="0" tIns="0" rIns="0" bIns="0" anchor="t">
            <a:spAutoFit/>
          </a:bodyPr>
          <a:lstStyle/>
          <a:p>
            <a:pPr algn="l">
              <a:spcAft>
                <a:spcPts val="400"/>
              </a:spcAft>
            </a:pPr>
            <a:r>
              <a:rPr sz="1100" b="1" i="0">
                <a:solidFill>
                  <a:srgbClr val="046A38"/>
                </a:solidFill>
                <a:latin typeface="Arial"/>
              </a:rPr>
              <a:t>2 · USERS &amp; WORKFLOW</a:t>
            </a:r>
          </a:p>
        </p:txBody>
      </p:sp>
      <p:sp>
        <p:nvSpPr>
          <p:cNvPr id="3" name="Title"/>
          <p:cNvSpPr txBox="1"/>
          <p:nvPr/>
        </p:nvSpPr>
        <p:spPr>
          <a:xfrm>
            <a:off x="548640" y="548640"/>
            <a:ext cx="11064240" cy="868680"/>
          </a:xfrm>
          <a:prstGeom prst="rect">
            <a:avLst/>
          </a:prstGeom>
          <a:noFill/>
        </p:spPr>
        <p:txBody>
          <a:bodyPr wrap="square" lIns="0" tIns="0" rIns="0" bIns="0" anchor="t">
            <a:spAutoFit/>
          </a:bodyPr>
          <a:lstStyle/>
          <a:p>
            <a:pPr algn="l">
              <a:spcAft>
                <a:spcPts val="400"/>
              </a:spcAft>
            </a:pPr>
            <a:r>
              <a:rPr sz="2800" b="1" i="0">
                <a:solidFill>
                  <a:srgbClr val="1A1A1A"/>
                </a:solidFill>
                <a:latin typeface="Arial"/>
              </a:rPr>
              <a:t>Today an SME carries every step; tomorrow the SME reviews the evidence</a:t>
            </a:r>
          </a:p>
        </p:txBody>
      </p:sp>
      <p:sp>
        <p:nvSpPr>
          <p:cNvPr id="5" name="SlideNo"/>
          <p:cNvSpPr txBox="1"/>
          <p:nvPr/>
        </p:nvSpPr>
        <p:spPr>
          <a:xfrm>
            <a:off x="11064240" y="6355080"/>
            <a:ext cx="576072" cy="320040"/>
          </a:xfrm>
          <a:prstGeom prst="rect">
            <a:avLst/>
          </a:prstGeom>
          <a:noFill/>
        </p:spPr>
        <p:txBody>
          <a:bodyPr wrap="square" lIns="0" tIns="0" rIns="0" bIns="0" anchor="t">
            <a:spAutoFit/>
          </a:bodyPr>
          <a:lstStyle/>
          <a:p>
            <a:pPr algn="r">
              <a:spcAft>
                <a:spcPts val="400"/>
              </a:spcAft>
            </a:pPr>
            <a:r>
              <a:rPr sz="1000" b="0" i="0">
                <a:solidFill>
                  <a:srgbClr val="53565A"/>
                </a:solidFill>
                <a:latin typeface="Calibri"/>
              </a:rPr>
              <a:t>7</a:t>
            </a:r>
          </a:p>
        </p:txBody>
      </p:sp>
      <p:sp>
        <p:nvSpPr>
          <p:cNvPr id="6" name="TextBox 5"/>
          <p:cNvSpPr txBox="1"/>
          <p:nvPr/>
        </p:nvSpPr>
        <p:spPr>
          <a:xfrm>
            <a:off x="548640" y="1645920"/>
            <a:ext cx="5486400" cy="320040"/>
          </a:xfrm>
          <a:prstGeom prst="rect">
            <a:avLst/>
          </a:prstGeom>
          <a:noFill/>
        </p:spPr>
        <p:txBody>
          <a:bodyPr wrap="square" lIns="0" tIns="0" rIns="0" bIns="0" anchor="t">
            <a:spAutoFit/>
          </a:bodyPr>
          <a:lstStyle/>
          <a:p>
            <a:pPr algn="l">
              <a:spcAft>
                <a:spcPts val="400"/>
              </a:spcAft>
            </a:pPr>
            <a:r>
              <a:rPr sz="1200" b="1" i="0">
                <a:solidFill>
                  <a:srgbClr val="A34A00"/>
                </a:solidFill>
                <a:latin typeface="Arial"/>
              </a:rPr>
              <a:t>TODAY · 3–5 SME-DAYS PER RULE</a:t>
            </a:r>
          </a:p>
        </p:txBody>
      </p:sp>
      <p:sp>
        <p:nvSpPr>
          <p:cNvPr id="7" name="Rounded Rectangle 6"/>
          <p:cNvSpPr/>
          <p:nvPr/>
        </p:nvSpPr>
        <p:spPr>
          <a:xfrm>
            <a:off x="548640" y="2011680"/>
            <a:ext cx="1463040" cy="914400"/>
          </a:xfrm>
          <a:prstGeom prst="roundRect">
            <a:avLst>
              <a:gd name="adj" fmla="val 6000"/>
            </a:avLst>
          </a:prstGeom>
          <a:solidFill>
            <a:srgbClr val="FFF3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640080" y="2011680"/>
            <a:ext cx="1280160" cy="914400"/>
          </a:xfrm>
          <a:prstGeom prst="rect">
            <a:avLst/>
          </a:prstGeom>
          <a:noFill/>
        </p:spPr>
        <p:txBody>
          <a:bodyPr wrap="square" lIns="0" tIns="0" rIns="0" bIns="0" anchor="ctr">
            <a:spAutoFit/>
          </a:bodyPr>
          <a:lstStyle/>
          <a:p>
            <a:pPr algn="ctr">
              <a:spcAft>
                <a:spcPts val="400"/>
              </a:spcAft>
            </a:pPr>
            <a:r>
              <a:rPr sz="1300" b="0" i="0">
                <a:solidFill>
                  <a:srgbClr val="1A1A1A"/>
                </a:solidFill>
                <a:latin typeface="Calibri"/>
              </a:rPr>
              <a:t>SME notices change</a:t>
            </a:r>
          </a:p>
        </p:txBody>
      </p:sp>
      <p:cxnSp>
        <p:nvCxnSpPr>
          <p:cNvPr id="9" name="Connector 8"/>
          <p:cNvCxnSpPr/>
          <p:nvPr/>
        </p:nvCxnSpPr>
        <p:spPr>
          <a:xfrm>
            <a:off x="2011680" y="2468880"/>
            <a:ext cx="137160" cy="0"/>
          </a:xfrm>
          <a:prstGeom prst="line">
            <a:avLst/>
          </a:prstGeom>
          <a:ln w="19050">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2148840" y="2011680"/>
            <a:ext cx="1463040" cy="914400"/>
          </a:xfrm>
          <a:prstGeom prst="roundRect">
            <a:avLst>
              <a:gd name="adj" fmla="val 6000"/>
            </a:avLst>
          </a:prstGeom>
          <a:solidFill>
            <a:srgbClr val="FFF3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2240280" y="2011680"/>
            <a:ext cx="1280160" cy="914400"/>
          </a:xfrm>
          <a:prstGeom prst="rect">
            <a:avLst/>
          </a:prstGeom>
          <a:noFill/>
        </p:spPr>
        <p:txBody>
          <a:bodyPr wrap="square" lIns="0" tIns="0" rIns="0" bIns="0" anchor="ctr">
            <a:spAutoFit/>
          </a:bodyPr>
          <a:lstStyle/>
          <a:p>
            <a:pPr algn="ctr">
              <a:spcAft>
                <a:spcPts val="400"/>
              </a:spcAft>
            </a:pPr>
            <a:r>
              <a:rPr sz="1300" b="0" i="0">
                <a:solidFill>
                  <a:srgbClr val="1A1A1A"/>
                </a:solidFill>
                <a:latin typeface="Calibri"/>
              </a:rPr>
              <a:t>Research docs + CIS</a:t>
            </a:r>
          </a:p>
        </p:txBody>
      </p:sp>
      <p:cxnSp>
        <p:nvCxnSpPr>
          <p:cNvPr id="12" name="Connector 11"/>
          <p:cNvCxnSpPr/>
          <p:nvPr/>
        </p:nvCxnSpPr>
        <p:spPr>
          <a:xfrm>
            <a:off x="3611880" y="2468880"/>
            <a:ext cx="137159" cy="0"/>
          </a:xfrm>
          <a:prstGeom prst="line">
            <a:avLst/>
          </a:prstGeom>
          <a:ln w="19050">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3749039" y="2011680"/>
            <a:ext cx="1463040" cy="914400"/>
          </a:xfrm>
          <a:prstGeom prst="roundRect">
            <a:avLst>
              <a:gd name="adj" fmla="val 6000"/>
            </a:avLst>
          </a:prstGeom>
          <a:solidFill>
            <a:srgbClr val="FFF3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3840479" y="2011680"/>
            <a:ext cx="1280160" cy="914400"/>
          </a:xfrm>
          <a:prstGeom prst="rect">
            <a:avLst/>
          </a:prstGeom>
          <a:noFill/>
        </p:spPr>
        <p:txBody>
          <a:bodyPr wrap="square" lIns="0" tIns="0" rIns="0" bIns="0" anchor="ctr">
            <a:spAutoFit/>
          </a:bodyPr>
          <a:lstStyle/>
          <a:p>
            <a:pPr algn="ctr">
              <a:spcAft>
                <a:spcPts val="400"/>
              </a:spcAft>
            </a:pPr>
            <a:r>
              <a:rPr sz="1300" b="0" i="0">
                <a:solidFill>
                  <a:srgbClr val="1A1A1A"/>
                </a:solidFill>
                <a:latin typeface="Calibri"/>
              </a:rPr>
              <a:t>Write rule</a:t>
            </a:r>
          </a:p>
        </p:txBody>
      </p:sp>
      <p:cxnSp>
        <p:nvCxnSpPr>
          <p:cNvPr id="15" name="Connector 14"/>
          <p:cNvCxnSpPr/>
          <p:nvPr/>
        </p:nvCxnSpPr>
        <p:spPr>
          <a:xfrm>
            <a:off x="5212079" y="2468880"/>
            <a:ext cx="137161" cy="0"/>
          </a:xfrm>
          <a:prstGeom prst="line">
            <a:avLst/>
          </a:prstGeom>
          <a:ln w="19050">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5349240" y="2011680"/>
            <a:ext cx="1463040" cy="914400"/>
          </a:xfrm>
          <a:prstGeom prst="roundRect">
            <a:avLst>
              <a:gd name="adj" fmla="val 6000"/>
            </a:avLst>
          </a:prstGeom>
          <a:solidFill>
            <a:srgbClr val="FFF3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5440679" y="2011680"/>
            <a:ext cx="1280160" cy="914400"/>
          </a:xfrm>
          <a:prstGeom prst="rect">
            <a:avLst/>
          </a:prstGeom>
          <a:noFill/>
        </p:spPr>
        <p:txBody>
          <a:bodyPr wrap="square" lIns="0" tIns="0" rIns="0" bIns="0" anchor="ctr">
            <a:spAutoFit/>
          </a:bodyPr>
          <a:lstStyle/>
          <a:p>
            <a:pPr algn="ctr">
              <a:spcAft>
                <a:spcPts val="400"/>
              </a:spcAft>
            </a:pPr>
            <a:r>
              <a:rPr sz="1300" b="0" i="0">
                <a:solidFill>
                  <a:srgbClr val="1A1A1A"/>
                </a:solidFill>
                <a:latin typeface="Calibri"/>
              </a:rPr>
              <a:t>Build test resources</a:t>
            </a:r>
          </a:p>
        </p:txBody>
      </p:sp>
      <p:cxnSp>
        <p:nvCxnSpPr>
          <p:cNvPr id="18" name="Connector 17"/>
          <p:cNvCxnSpPr/>
          <p:nvPr/>
        </p:nvCxnSpPr>
        <p:spPr>
          <a:xfrm>
            <a:off x="6812279" y="2468880"/>
            <a:ext cx="137161" cy="0"/>
          </a:xfrm>
          <a:prstGeom prst="line">
            <a:avLst/>
          </a:prstGeom>
          <a:ln w="19050">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6949440" y="2011680"/>
            <a:ext cx="1463040" cy="914400"/>
          </a:xfrm>
          <a:prstGeom prst="roundRect">
            <a:avLst>
              <a:gd name="adj" fmla="val 6000"/>
            </a:avLst>
          </a:prstGeom>
          <a:solidFill>
            <a:srgbClr val="FFF3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7040879" y="2011680"/>
            <a:ext cx="1280160" cy="914400"/>
          </a:xfrm>
          <a:prstGeom prst="rect">
            <a:avLst/>
          </a:prstGeom>
          <a:noFill/>
        </p:spPr>
        <p:txBody>
          <a:bodyPr wrap="square" lIns="0" tIns="0" rIns="0" bIns="0" anchor="ctr">
            <a:spAutoFit/>
          </a:bodyPr>
          <a:lstStyle/>
          <a:p>
            <a:pPr algn="ctr">
              <a:spcAft>
                <a:spcPts val="400"/>
              </a:spcAft>
            </a:pPr>
            <a:r>
              <a:rPr sz="1300" b="0" i="0">
                <a:solidFill>
                  <a:srgbClr val="1A1A1A"/>
                </a:solidFill>
                <a:latin typeface="Calibri"/>
              </a:rPr>
              <a:t>Validate in real account</a:t>
            </a:r>
          </a:p>
        </p:txBody>
      </p:sp>
      <p:cxnSp>
        <p:nvCxnSpPr>
          <p:cNvPr id="21" name="Connector 20"/>
          <p:cNvCxnSpPr/>
          <p:nvPr/>
        </p:nvCxnSpPr>
        <p:spPr>
          <a:xfrm>
            <a:off x="8412480" y="2468880"/>
            <a:ext cx="137160" cy="0"/>
          </a:xfrm>
          <a:prstGeom prst="line">
            <a:avLst/>
          </a:prstGeom>
          <a:ln w="19050">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8549640" y="2011680"/>
            <a:ext cx="1463040" cy="914400"/>
          </a:xfrm>
          <a:prstGeom prst="roundRect">
            <a:avLst>
              <a:gd name="adj" fmla="val 6000"/>
            </a:avLst>
          </a:prstGeom>
          <a:solidFill>
            <a:srgbClr val="FFF3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TextBox 22"/>
          <p:cNvSpPr txBox="1"/>
          <p:nvPr/>
        </p:nvSpPr>
        <p:spPr>
          <a:xfrm>
            <a:off x="8641080" y="2011680"/>
            <a:ext cx="1280160" cy="914400"/>
          </a:xfrm>
          <a:prstGeom prst="rect">
            <a:avLst/>
          </a:prstGeom>
          <a:noFill/>
        </p:spPr>
        <p:txBody>
          <a:bodyPr wrap="square" lIns="0" tIns="0" rIns="0" bIns="0" anchor="ctr">
            <a:spAutoFit/>
          </a:bodyPr>
          <a:lstStyle/>
          <a:p>
            <a:pPr algn="ctr">
              <a:spcAft>
                <a:spcPts val="400"/>
              </a:spcAft>
            </a:pPr>
            <a:r>
              <a:rPr sz="1300" b="0" i="0">
                <a:solidFill>
                  <a:srgbClr val="1A1A1A"/>
                </a:solidFill>
                <a:latin typeface="Calibri"/>
              </a:rPr>
              <a:t>Write citation + metadata</a:t>
            </a:r>
          </a:p>
        </p:txBody>
      </p:sp>
      <p:cxnSp>
        <p:nvCxnSpPr>
          <p:cNvPr id="24" name="Connector 23"/>
          <p:cNvCxnSpPr/>
          <p:nvPr/>
        </p:nvCxnSpPr>
        <p:spPr>
          <a:xfrm>
            <a:off x="10012680" y="2468880"/>
            <a:ext cx="137160" cy="0"/>
          </a:xfrm>
          <a:prstGeom prst="line">
            <a:avLst/>
          </a:prstGeom>
          <a:ln w="19050">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10149840" y="2011680"/>
            <a:ext cx="1463040" cy="914400"/>
          </a:xfrm>
          <a:prstGeom prst="roundRect">
            <a:avLst>
              <a:gd name="adj" fmla="val 6000"/>
            </a:avLst>
          </a:prstGeom>
          <a:solidFill>
            <a:srgbClr val="FFF3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 name="TextBox 25"/>
          <p:cNvSpPr txBox="1"/>
          <p:nvPr/>
        </p:nvSpPr>
        <p:spPr>
          <a:xfrm>
            <a:off x="10241280" y="2011680"/>
            <a:ext cx="1280160" cy="914400"/>
          </a:xfrm>
          <a:prstGeom prst="rect">
            <a:avLst/>
          </a:prstGeom>
          <a:noFill/>
        </p:spPr>
        <p:txBody>
          <a:bodyPr wrap="square" lIns="0" tIns="0" rIns="0" bIns="0" anchor="ctr">
            <a:spAutoFit/>
          </a:bodyPr>
          <a:lstStyle/>
          <a:p>
            <a:pPr algn="ctr">
              <a:spcAft>
                <a:spcPts val="400"/>
              </a:spcAft>
            </a:pPr>
            <a:r>
              <a:rPr sz="1300" b="0" i="0">
                <a:solidFill>
                  <a:srgbClr val="1A1A1A"/>
                </a:solidFill>
                <a:latin typeface="Calibri"/>
              </a:rPr>
              <a:t>Ship</a:t>
            </a:r>
          </a:p>
        </p:txBody>
      </p:sp>
      <p:sp>
        <p:nvSpPr>
          <p:cNvPr id="27" name="TextBox 26"/>
          <p:cNvSpPr txBox="1"/>
          <p:nvPr/>
        </p:nvSpPr>
        <p:spPr>
          <a:xfrm>
            <a:off x="548640" y="3200400"/>
            <a:ext cx="5486400" cy="320040"/>
          </a:xfrm>
          <a:prstGeom prst="rect">
            <a:avLst/>
          </a:prstGeom>
          <a:noFill/>
        </p:spPr>
        <p:txBody>
          <a:bodyPr wrap="square" lIns="0" tIns="0" rIns="0" bIns="0" anchor="t">
            <a:spAutoFit/>
          </a:bodyPr>
          <a:lstStyle/>
          <a:p>
            <a:pPr algn="l">
              <a:spcAft>
                <a:spcPts val="400"/>
              </a:spcAft>
            </a:pPr>
            <a:r>
              <a:rPr sz="1200" b="1" i="0">
                <a:solidFill>
                  <a:srgbClr val="007680"/>
                </a:solidFill>
                <a:latin typeface="Arial"/>
              </a:rPr>
              <a:t>PROPOSED · SME TIME ON REVIEW ONLY</a:t>
            </a:r>
          </a:p>
        </p:txBody>
      </p:sp>
      <p:sp>
        <p:nvSpPr>
          <p:cNvPr id="28" name="Rounded Rectangle 27"/>
          <p:cNvSpPr/>
          <p:nvPr/>
        </p:nvSpPr>
        <p:spPr>
          <a:xfrm>
            <a:off x="548640" y="3566160"/>
            <a:ext cx="1463040" cy="914400"/>
          </a:xfrm>
          <a:prstGeom prst="roundRect">
            <a:avLst>
              <a:gd name="adj" fmla="val 6000"/>
            </a:avLst>
          </a:prstGeom>
          <a:solidFill>
            <a:srgbClr val="E6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 name="TextBox 28"/>
          <p:cNvSpPr txBox="1"/>
          <p:nvPr/>
        </p:nvSpPr>
        <p:spPr>
          <a:xfrm>
            <a:off x="640080" y="3566160"/>
            <a:ext cx="1280160" cy="914400"/>
          </a:xfrm>
          <a:prstGeom prst="rect">
            <a:avLst/>
          </a:prstGeom>
          <a:noFill/>
        </p:spPr>
        <p:txBody>
          <a:bodyPr wrap="square" lIns="0" tIns="0" rIns="0" bIns="0" anchor="ctr">
            <a:spAutoFit/>
          </a:bodyPr>
          <a:lstStyle/>
          <a:p>
            <a:pPr algn="ctr">
              <a:spcAft>
                <a:spcPts val="400"/>
              </a:spcAft>
            </a:pPr>
            <a:r>
              <a:rPr sz="1300" b="0" i="0">
                <a:solidFill>
                  <a:srgbClr val="1A1A1A"/>
                </a:solidFill>
                <a:latin typeface="Calibri"/>
              </a:rPr>
              <a:t>Watcher detects</a:t>
            </a:r>
          </a:p>
        </p:txBody>
      </p:sp>
      <p:cxnSp>
        <p:nvCxnSpPr>
          <p:cNvPr id="30" name="Connector 29"/>
          <p:cNvCxnSpPr/>
          <p:nvPr/>
        </p:nvCxnSpPr>
        <p:spPr>
          <a:xfrm>
            <a:off x="2011680" y="4023360"/>
            <a:ext cx="137160" cy="0"/>
          </a:xfrm>
          <a:prstGeom prst="line">
            <a:avLst/>
          </a:prstGeom>
          <a:ln w="19050">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2148840" y="3566160"/>
            <a:ext cx="1463040" cy="914400"/>
          </a:xfrm>
          <a:prstGeom prst="roundRect">
            <a:avLst>
              <a:gd name="adj" fmla="val 6000"/>
            </a:avLst>
          </a:prstGeom>
          <a:solidFill>
            <a:srgbClr val="E6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 name="TextBox 31"/>
          <p:cNvSpPr txBox="1"/>
          <p:nvPr/>
        </p:nvSpPr>
        <p:spPr>
          <a:xfrm>
            <a:off x="2240280" y="3566160"/>
            <a:ext cx="1280160" cy="914400"/>
          </a:xfrm>
          <a:prstGeom prst="rect">
            <a:avLst/>
          </a:prstGeom>
          <a:noFill/>
        </p:spPr>
        <p:txBody>
          <a:bodyPr wrap="square" lIns="0" tIns="0" rIns="0" bIns="0" anchor="ctr">
            <a:spAutoFit/>
          </a:bodyPr>
          <a:lstStyle/>
          <a:p>
            <a:pPr algn="ctr">
              <a:spcAft>
                <a:spcPts val="400"/>
              </a:spcAft>
            </a:pPr>
            <a:r>
              <a:rPr sz="1300" b="0" i="0">
                <a:solidFill>
                  <a:srgbClr val="1A1A1A"/>
                </a:solidFill>
                <a:latin typeface="Calibri"/>
              </a:rPr>
              <a:t>Research agent cites</a:t>
            </a:r>
          </a:p>
        </p:txBody>
      </p:sp>
      <p:cxnSp>
        <p:nvCxnSpPr>
          <p:cNvPr id="33" name="Connector 32"/>
          <p:cNvCxnSpPr/>
          <p:nvPr/>
        </p:nvCxnSpPr>
        <p:spPr>
          <a:xfrm>
            <a:off x="3611880" y="4023360"/>
            <a:ext cx="137159" cy="0"/>
          </a:xfrm>
          <a:prstGeom prst="line">
            <a:avLst/>
          </a:prstGeom>
          <a:ln w="19050">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sp>
        <p:nvSpPr>
          <p:cNvPr id="34" name="Rounded Rectangle 33"/>
          <p:cNvSpPr/>
          <p:nvPr/>
        </p:nvSpPr>
        <p:spPr>
          <a:xfrm>
            <a:off x="3749039" y="3566160"/>
            <a:ext cx="1463040" cy="914400"/>
          </a:xfrm>
          <a:prstGeom prst="roundRect">
            <a:avLst>
              <a:gd name="adj" fmla="val 6000"/>
            </a:avLst>
          </a:prstGeom>
          <a:solidFill>
            <a:srgbClr val="E6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5" name="TextBox 34"/>
          <p:cNvSpPr txBox="1"/>
          <p:nvPr/>
        </p:nvSpPr>
        <p:spPr>
          <a:xfrm>
            <a:off x="3840479" y="3566160"/>
            <a:ext cx="1280160" cy="914400"/>
          </a:xfrm>
          <a:prstGeom prst="rect">
            <a:avLst/>
          </a:prstGeom>
          <a:noFill/>
        </p:spPr>
        <p:txBody>
          <a:bodyPr wrap="square" lIns="0" tIns="0" rIns="0" bIns="0" anchor="ctr">
            <a:spAutoFit/>
          </a:bodyPr>
          <a:lstStyle/>
          <a:p>
            <a:pPr algn="ctr">
              <a:spcAft>
                <a:spcPts val="400"/>
              </a:spcAft>
            </a:pPr>
            <a:r>
              <a:rPr sz="1300" b="0" i="0">
                <a:solidFill>
                  <a:srgbClr val="1A1A1A"/>
                </a:solidFill>
                <a:latin typeface="Calibri"/>
              </a:rPr>
              <a:t>Author agent drafts</a:t>
            </a:r>
          </a:p>
        </p:txBody>
      </p:sp>
      <p:cxnSp>
        <p:nvCxnSpPr>
          <p:cNvPr id="36" name="Connector 35"/>
          <p:cNvCxnSpPr/>
          <p:nvPr/>
        </p:nvCxnSpPr>
        <p:spPr>
          <a:xfrm>
            <a:off x="5212079" y="4023360"/>
            <a:ext cx="137161" cy="0"/>
          </a:xfrm>
          <a:prstGeom prst="line">
            <a:avLst/>
          </a:prstGeom>
          <a:ln w="19050">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sp>
        <p:nvSpPr>
          <p:cNvPr id="37" name="Rounded Rectangle 36"/>
          <p:cNvSpPr/>
          <p:nvPr/>
        </p:nvSpPr>
        <p:spPr>
          <a:xfrm>
            <a:off x="5349240" y="3566160"/>
            <a:ext cx="1463040" cy="914400"/>
          </a:xfrm>
          <a:prstGeom prst="roundRect">
            <a:avLst>
              <a:gd name="adj" fmla="val 6000"/>
            </a:avLst>
          </a:prstGeom>
          <a:solidFill>
            <a:srgbClr val="F1F8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8" name="TextBox 37"/>
          <p:cNvSpPr txBox="1"/>
          <p:nvPr/>
        </p:nvSpPr>
        <p:spPr>
          <a:xfrm>
            <a:off x="5440679" y="3566160"/>
            <a:ext cx="1280160" cy="914400"/>
          </a:xfrm>
          <a:prstGeom prst="rect">
            <a:avLst/>
          </a:prstGeom>
          <a:noFill/>
        </p:spPr>
        <p:txBody>
          <a:bodyPr wrap="square" lIns="0" tIns="0" rIns="0" bIns="0" anchor="ctr">
            <a:spAutoFit/>
          </a:bodyPr>
          <a:lstStyle/>
          <a:p>
            <a:pPr algn="ctr">
              <a:spcAft>
                <a:spcPts val="400"/>
              </a:spcAft>
            </a:pPr>
            <a:r>
              <a:rPr sz="1300" b="0" i="0">
                <a:solidFill>
                  <a:srgbClr val="1A1A1A"/>
                </a:solidFill>
                <a:latin typeface="Calibri"/>
              </a:rPr>
              <a:t>Test harness validates</a:t>
            </a:r>
          </a:p>
        </p:txBody>
      </p:sp>
      <p:cxnSp>
        <p:nvCxnSpPr>
          <p:cNvPr id="39" name="Connector 38"/>
          <p:cNvCxnSpPr/>
          <p:nvPr/>
        </p:nvCxnSpPr>
        <p:spPr>
          <a:xfrm>
            <a:off x="6812279" y="4023360"/>
            <a:ext cx="137161" cy="0"/>
          </a:xfrm>
          <a:prstGeom prst="line">
            <a:avLst/>
          </a:prstGeom>
          <a:ln w="19050">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sp>
        <p:nvSpPr>
          <p:cNvPr id="40" name="Rounded Rectangle 39"/>
          <p:cNvSpPr/>
          <p:nvPr/>
        </p:nvSpPr>
        <p:spPr>
          <a:xfrm>
            <a:off x="6949440" y="3566160"/>
            <a:ext cx="1463040" cy="914400"/>
          </a:xfrm>
          <a:prstGeom prst="roundRect">
            <a:avLst>
              <a:gd name="adj" fmla="val 6000"/>
            </a:avLst>
          </a:prstGeom>
          <a:solidFill>
            <a:srgbClr val="E6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1" name="TextBox 40"/>
          <p:cNvSpPr txBox="1"/>
          <p:nvPr/>
        </p:nvSpPr>
        <p:spPr>
          <a:xfrm>
            <a:off x="7040879" y="3566160"/>
            <a:ext cx="1280160" cy="914400"/>
          </a:xfrm>
          <a:prstGeom prst="rect">
            <a:avLst/>
          </a:prstGeom>
          <a:noFill/>
        </p:spPr>
        <p:txBody>
          <a:bodyPr wrap="square" lIns="0" tIns="0" rIns="0" bIns="0" anchor="ctr">
            <a:spAutoFit/>
          </a:bodyPr>
          <a:lstStyle/>
          <a:p>
            <a:pPr algn="ctr">
              <a:spcAft>
                <a:spcPts val="400"/>
              </a:spcAft>
            </a:pPr>
            <a:r>
              <a:rPr sz="1300" b="0" i="0">
                <a:solidFill>
                  <a:srgbClr val="1A1A1A"/>
                </a:solidFill>
                <a:latin typeface="Calibri"/>
              </a:rPr>
              <a:t>Critic checks edges</a:t>
            </a:r>
          </a:p>
        </p:txBody>
      </p:sp>
      <p:cxnSp>
        <p:nvCxnSpPr>
          <p:cNvPr id="42" name="Connector 41"/>
          <p:cNvCxnSpPr/>
          <p:nvPr/>
        </p:nvCxnSpPr>
        <p:spPr>
          <a:xfrm>
            <a:off x="8412480" y="4023360"/>
            <a:ext cx="137160" cy="0"/>
          </a:xfrm>
          <a:prstGeom prst="line">
            <a:avLst/>
          </a:prstGeom>
          <a:ln w="19050">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sp>
        <p:nvSpPr>
          <p:cNvPr id="43" name="Rounded Rectangle 42"/>
          <p:cNvSpPr/>
          <p:nvPr/>
        </p:nvSpPr>
        <p:spPr>
          <a:xfrm>
            <a:off x="8549640" y="3566160"/>
            <a:ext cx="1463040" cy="914400"/>
          </a:xfrm>
          <a:prstGeom prst="roundRect">
            <a:avLst>
              <a:gd name="adj" fmla="val 6000"/>
            </a:avLst>
          </a:prstGeom>
          <a:solidFill>
            <a:srgbClr val="0D0D0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4" name="TextBox 43"/>
          <p:cNvSpPr txBox="1"/>
          <p:nvPr/>
        </p:nvSpPr>
        <p:spPr>
          <a:xfrm>
            <a:off x="8641080" y="3566160"/>
            <a:ext cx="1280160" cy="914400"/>
          </a:xfrm>
          <a:prstGeom prst="rect">
            <a:avLst/>
          </a:prstGeom>
          <a:noFill/>
        </p:spPr>
        <p:txBody>
          <a:bodyPr wrap="square" lIns="0" tIns="0" rIns="0" bIns="0" anchor="ctr">
            <a:spAutoFit/>
          </a:bodyPr>
          <a:lstStyle/>
          <a:p>
            <a:pPr algn="ctr">
              <a:spcAft>
                <a:spcPts val="400"/>
              </a:spcAft>
            </a:pPr>
            <a:r>
              <a:rPr sz="1300" b="1" i="0">
                <a:solidFill>
                  <a:srgbClr val="FFFFFF"/>
                </a:solidFill>
                <a:latin typeface="Calibri"/>
              </a:rPr>
              <a:t>SME reviews pack</a:t>
            </a:r>
          </a:p>
        </p:txBody>
      </p:sp>
      <p:cxnSp>
        <p:nvCxnSpPr>
          <p:cNvPr id="45" name="Connector 44"/>
          <p:cNvCxnSpPr/>
          <p:nvPr/>
        </p:nvCxnSpPr>
        <p:spPr>
          <a:xfrm>
            <a:off x="10012680" y="4023360"/>
            <a:ext cx="137160" cy="0"/>
          </a:xfrm>
          <a:prstGeom prst="line">
            <a:avLst/>
          </a:prstGeom>
          <a:ln w="19050">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sp>
        <p:nvSpPr>
          <p:cNvPr id="46" name="Rounded Rectangle 45"/>
          <p:cNvSpPr/>
          <p:nvPr/>
        </p:nvSpPr>
        <p:spPr>
          <a:xfrm>
            <a:off x="10149840" y="3566160"/>
            <a:ext cx="1463040" cy="914400"/>
          </a:xfrm>
          <a:prstGeom prst="roundRect">
            <a:avLst>
              <a:gd name="adj" fmla="val 6000"/>
            </a:avLst>
          </a:prstGeom>
          <a:solidFill>
            <a:srgbClr val="F4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7" name="TextBox 46"/>
          <p:cNvSpPr txBox="1"/>
          <p:nvPr/>
        </p:nvSpPr>
        <p:spPr>
          <a:xfrm>
            <a:off x="10241280" y="3566160"/>
            <a:ext cx="1280160" cy="914400"/>
          </a:xfrm>
          <a:prstGeom prst="rect">
            <a:avLst/>
          </a:prstGeom>
          <a:noFill/>
        </p:spPr>
        <p:txBody>
          <a:bodyPr wrap="square" lIns="0" tIns="0" rIns="0" bIns="0" anchor="ctr">
            <a:spAutoFit/>
          </a:bodyPr>
          <a:lstStyle/>
          <a:p>
            <a:pPr algn="ctr">
              <a:spcAft>
                <a:spcPts val="400"/>
              </a:spcAft>
            </a:pPr>
            <a:r>
              <a:rPr sz="1300" b="0" i="0">
                <a:solidFill>
                  <a:srgbClr val="1A1A1A"/>
                </a:solidFill>
                <a:latin typeface="Calibri"/>
              </a:rPr>
              <a:t>Staged release</a:t>
            </a:r>
          </a:p>
        </p:txBody>
      </p:sp>
      <p:graphicFrame>
        <p:nvGraphicFramePr>
          <p:cNvPr id="48" name="Table 47"/>
          <p:cNvGraphicFramePr>
            <a:graphicFrameLocks noGrp="1"/>
          </p:cNvGraphicFramePr>
          <p:nvPr/>
        </p:nvGraphicFramePr>
        <p:xfrm>
          <a:off x="548640" y="4709160"/>
          <a:ext cx="11064240" cy="1536192"/>
        </p:xfrm>
        <a:graphic>
          <a:graphicData uri="http://schemas.openxmlformats.org/drawingml/2006/table">
            <a:tbl>
              <a:tblPr firstRow="1" bandRow="1">
                <a:tableStyleId>{5940675A-B579-460E-94D1-54222C63F5DA}</a:tableStyleId>
              </a:tblPr>
              <a:tblGrid>
                <a:gridCol w="3108960">
                  <a:extLst>
                    <a:ext uri="{9D8B030D-6E8A-4147-A177-3AD203B41FA5}">
                      <a16:colId xmlns:a16="http://schemas.microsoft.com/office/drawing/2014/main" val="20000"/>
                    </a:ext>
                  </a:extLst>
                </a:gridCol>
                <a:gridCol w="3291840">
                  <a:extLst>
                    <a:ext uri="{9D8B030D-6E8A-4147-A177-3AD203B41FA5}">
                      <a16:colId xmlns:a16="http://schemas.microsoft.com/office/drawing/2014/main" val="20001"/>
                    </a:ext>
                  </a:extLst>
                </a:gridCol>
                <a:gridCol w="4663440">
                  <a:extLst>
                    <a:ext uri="{9D8B030D-6E8A-4147-A177-3AD203B41FA5}">
                      <a16:colId xmlns:a16="http://schemas.microsoft.com/office/drawing/2014/main" val="20002"/>
                    </a:ext>
                  </a:extLst>
                </a:gridCol>
              </a:tblGrid>
              <a:tr h="384048">
                <a:tc>
                  <a:txBody>
                    <a:bodyPr/>
                    <a:lstStyle/>
                    <a:p>
                      <a:r>
                        <a:rPr sz="1200" b="1">
                          <a:solidFill>
                            <a:srgbClr val="FFFFFF"/>
                          </a:solidFill>
                          <a:latin typeface="Calibri"/>
                        </a:rPr>
                        <a:t>Friction today</a:t>
                      </a:r>
                    </a:p>
                  </a:txBody>
                  <a:tcPr marL="73152" marR="73152" marT="36576" marB="36576" anchor="ctr">
                    <a:solidFill>
                      <a:srgbClr val="0D0D0D"/>
                    </a:solidFill>
                  </a:tcPr>
                </a:tc>
                <a:tc>
                  <a:txBody>
                    <a:bodyPr/>
                    <a:lstStyle/>
                    <a:p>
                      <a:r>
                        <a:rPr sz="1200" b="1">
                          <a:solidFill>
                            <a:srgbClr val="FFFFFF"/>
                          </a:solidFill>
                          <a:latin typeface="Calibri"/>
                        </a:rPr>
                        <a:t>Why it happens</a:t>
                      </a:r>
                    </a:p>
                  </a:txBody>
                  <a:tcPr marL="73152" marR="73152" marT="36576" marB="36576" anchor="ctr">
                    <a:solidFill>
                      <a:srgbClr val="0D0D0D"/>
                    </a:solidFill>
                  </a:tcPr>
                </a:tc>
                <a:tc>
                  <a:txBody>
                    <a:bodyPr/>
                    <a:lstStyle/>
                    <a:p>
                      <a:r>
                        <a:rPr sz="1200" b="1">
                          <a:solidFill>
                            <a:srgbClr val="FFFFFF"/>
                          </a:solidFill>
                          <a:latin typeface="Calibri"/>
                        </a:rPr>
                        <a:t>Value once fixed</a:t>
                      </a:r>
                    </a:p>
                  </a:txBody>
                  <a:tcPr marL="73152" marR="73152" marT="36576" marB="36576" anchor="ctr">
                    <a:solidFill>
                      <a:srgbClr val="0D0D0D"/>
                    </a:solidFill>
                  </a:tcPr>
                </a:tc>
                <a:extLst>
                  <a:ext uri="{0D108BD9-81ED-4DB2-BD59-A6C34878D82A}">
                    <a16:rowId xmlns:a16="http://schemas.microsoft.com/office/drawing/2014/main" val="10000"/>
                  </a:ext>
                </a:extLst>
              </a:tr>
              <a:tr h="384048">
                <a:tc>
                  <a:txBody>
                    <a:bodyPr/>
                    <a:lstStyle/>
                    <a:p>
                      <a:r>
                        <a:rPr sz="1200">
                          <a:solidFill>
                            <a:srgbClr val="1A1A1A"/>
                          </a:solidFill>
                          <a:latin typeface="Calibri"/>
                        </a:rPr>
                        <a:t>Changes found late</a:t>
                      </a:r>
                    </a:p>
                  </a:txBody>
                  <a:tcPr marL="73152" marR="73152" marT="36576" marB="36576" anchor="ctr">
                    <a:solidFill>
                      <a:srgbClr val="FFFFFF"/>
                    </a:solidFill>
                  </a:tcPr>
                </a:tc>
                <a:tc>
                  <a:txBody>
                    <a:bodyPr/>
                    <a:lstStyle/>
                    <a:p>
                      <a:r>
                        <a:rPr sz="1200">
                          <a:solidFill>
                            <a:srgbClr val="1A1A1A"/>
                          </a:solidFill>
                          <a:latin typeface="Calibri"/>
                        </a:rPr>
                        <a:t>No automated monitoring</a:t>
                      </a:r>
                    </a:p>
                  </a:txBody>
                  <a:tcPr marL="73152" marR="73152" marT="36576" marB="36576" anchor="ctr">
                    <a:solidFill>
                      <a:srgbClr val="FFFFFF"/>
                    </a:solidFill>
                  </a:tcPr>
                </a:tc>
                <a:tc>
                  <a:txBody>
                    <a:bodyPr/>
                    <a:lstStyle/>
                    <a:p>
                      <a:r>
                        <a:rPr sz="1200">
                          <a:solidFill>
                            <a:srgbClr val="1A1A1A"/>
                          </a:solidFill>
                          <a:latin typeface="Calibri"/>
                        </a:rPr>
                        <a:t>Gaps flagged within a day of the announcement</a:t>
                      </a:r>
                    </a:p>
                  </a:txBody>
                  <a:tcPr marL="73152" marR="73152" marT="36576" marB="36576" anchor="ctr">
                    <a:solidFill>
                      <a:srgbClr val="FFFFFF"/>
                    </a:solidFill>
                  </a:tcPr>
                </a:tc>
                <a:extLst>
                  <a:ext uri="{0D108BD9-81ED-4DB2-BD59-A6C34878D82A}">
                    <a16:rowId xmlns:a16="http://schemas.microsoft.com/office/drawing/2014/main" val="10001"/>
                  </a:ext>
                </a:extLst>
              </a:tr>
              <a:tr h="384048">
                <a:tc>
                  <a:txBody>
                    <a:bodyPr/>
                    <a:lstStyle/>
                    <a:p>
                      <a:r>
                        <a:rPr sz="1200">
                          <a:solidFill>
                            <a:srgbClr val="1A1A1A"/>
                          </a:solidFill>
                          <a:latin typeface="Calibri"/>
                        </a:rPr>
                        <a:t>Research + test building</a:t>
                      </a:r>
                    </a:p>
                  </a:txBody>
                  <a:tcPr marL="73152" marR="73152" marT="36576" marB="36576" anchor="ctr">
                    <a:solidFill>
                      <a:srgbClr val="F4F5F2"/>
                    </a:solidFill>
                  </a:tcPr>
                </a:tc>
                <a:tc>
                  <a:txBody>
                    <a:bodyPr/>
                    <a:lstStyle/>
                    <a:p>
                      <a:r>
                        <a:rPr sz="1200">
                          <a:solidFill>
                            <a:srgbClr val="1A1A1A"/>
                          </a:solidFill>
                          <a:latin typeface="Calibri"/>
                        </a:rPr>
                        <a:t>Manual, repeated per rule</a:t>
                      </a:r>
                    </a:p>
                  </a:txBody>
                  <a:tcPr marL="73152" marR="73152" marT="36576" marB="36576" anchor="ctr">
                    <a:solidFill>
                      <a:srgbClr val="F4F5F2"/>
                    </a:solidFill>
                  </a:tcPr>
                </a:tc>
                <a:tc>
                  <a:txBody>
                    <a:bodyPr/>
                    <a:lstStyle/>
                    <a:p>
                      <a:r>
                        <a:rPr sz="1200">
                          <a:solidFill>
                            <a:srgbClr val="1A1A1A"/>
                          </a:solidFill>
                          <a:latin typeface="Calibri"/>
                        </a:rPr>
                        <a:t>SME time moves to judgement and edge cases</a:t>
                      </a:r>
                    </a:p>
                  </a:txBody>
                  <a:tcPr marL="73152" marR="73152" marT="36576" marB="36576" anchor="ctr">
                    <a:solidFill>
                      <a:srgbClr val="F4F5F2"/>
                    </a:solidFill>
                  </a:tcPr>
                </a:tc>
                <a:extLst>
                  <a:ext uri="{0D108BD9-81ED-4DB2-BD59-A6C34878D82A}">
                    <a16:rowId xmlns:a16="http://schemas.microsoft.com/office/drawing/2014/main" val="10002"/>
                  </a:ext>
                </a:extLst>
              </a:tr>
              <a:tr h="384048">
                <a:tc>
                  <a:txBody>
                    <a:bodyPr/>
                    <a:lstStyle/>
                    <a:p>
                      <a:r>
                        <a:rPr sz="1200">
                          <a:solidFill>
                            <a:srgbClr val="1A1A1A"/>
                          </a:solidFill>
                          <a:latin typeface="Calibri"/>
                        </a:rPr>
                        <a:t>Knowledge in 1–2 heads</a:t>
                      </a:r>
                    </a:p>
                  </a:txBody>
                  <a:tcPr marL="73152" marR="73152" marT="36576" marB="36576" anchor="ctr">
                    <a:solidFill>
                      <a:srgbClr val="FFFFFF"/>
                    </a:solidFill>
                  </a:tcPr>
                </a:tc>
                <a:tc>
                  <a:txBody>
                    <a:bodyPr/>
                    <a:lstStyle/>
                    <a:p>
                      <a:r>
                        <a:rPr sz="1200">
                          <a:solidFill>
                            <a:srgbClr val="1A1A1A"/>
                          </a:solidFill>
                          <a:latin typeface="Calibri"/>
                        </a:rPr>
                        <a:t>Reasoning never written down</a:t>
                      </a:r>
                    </a:p>
                  </a:txBody>
                  <a:tcPr marL="73152" marR="73152" marT="36576" marB="36576" anchor="ctr">
                    <a:solidFill>
                      <a:srgbClr val="FFFFFF"/>
                    </a:solidFill>
                  </a:tcPr>
                </a:tc>
                <a:tc>
                  <a:txBody>
                    <a:bodyPr/>
                    <a:lstStyle/>
                    <a:p>
                      <a:r>
                        <a:rPr sz="1200">
                          <a:solidFill>
                            <a:srgbClr val="1A1A1A"/>
                          </a:solidFill>
                          <a:latin typeface="Calibri"/>
                        </a:rPr>
                        <a:t>Every rule carries its sources, tests and rationale</a:t>
                      </a:r>
                    </a:p>
                  </a:txBody>
                  <a:tcPr marL="73152" marR="73152" marT="36576" marB="36576" anchor="ctr">
                    <a:solidFill>
                      <a:srgbClr val="FFFFFF"/>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ection"/>
          <p:cNvSpPr txBox="1"/>
          <p:nvPr/>
        </p:nvSpPr>
        <p:spPr>
          <a:xfrm>
            <a:off x="548640" y="292608"/>
            <a:ext cx="8229600" cy="274320"/>
          </a:xfrm>
          <a:prstGeom prst="rect">
            <a:avLst/>
          </a:prstGeom>
          <a:noFill/>
        </p:spPr>
        <p:txBody>
          <a:bodyPr wrap="square" lIns="0" tIns="0" rIns="0" bIns="0" anchor="t">
            <a:spAutoFit/>
          </a:bodyPr>
          <a:lstStyle/>
          <a:p>
            <a:pPr algn="l">
              <a:spcAft>
                <a:spcPts val="400"/>
              </a:spcAft>
            </a:pPr>
            <a:r>
              <a:rPr sz="1100" b="1" i="0">
                <a:solidFill>
                  <a:srgbClr val="046A38"/>
                </a:solidFill>
                <a:latin typeface="Arial"/>
              </a:rPr>
              <a:t>3 · SOLUTION</a:t>
            </a:r>
          </a:p>
        </p:txBody>
      </p:sp>
      <p:sp>
        <p:nvSpPr>
          <p:cNvPr id="3" name="Title"/>
          <p:cNvSpPr txBox="1"/>
          <p:nvPr/>
        </p:nvSpPr>
        <p:spPr>
          <a:xfrm>
            <a:off x="548640" y="548640"/>
            <a:ext cx="11064240" cy="868680"/>
          </a:xfrm>
          <a:prstGeom prst="rect">
            <a:avLst/>
          </a:prstGeom>
          <a:noFill/>
        </p:spPr>
        <p:txBody>
          <a:bodyPr wrap="square" lIns="0" tIns="0" rIns="0" bIns="0" anchor="t">
            <a:spAutoFit/>
          </a:bodyPr>
          <a:lstStyle/>
          <a:p>
            <a:pPr algn="l">
              <a:spcAft>
                <a:spcPts val="400"/>
              </a:spcAft>
            </a:pPr>
            <a:r>
              <a:rPr sz="2800" b="1" i="0">
                <a:solidFill>
                  <a:srgbClr val="1A1A1A"/>
                </a:solidFill>
                <a:latin typeface="Arial"/>
              </a:rPr>
              <a:t>RuleForge: the AI drafts the evidence, and humans decide</a:t>
            </a:r>
          </a:p>
        </p:txBody>
      </p:sp>
      <p:sp>
        <p:nvSpPr>
          <p:cNvPr id="5" name="SlideNo"/>
          <p:cNvSpPr txBox="1"/>
          <p:nvPr/>
        </p:nvSpPr>
        <p:spPr>
          <a:xfrm>
            <a:off x="11064240" y="6355080"/>
            <a:ext cx="576072" cy="320040"/>
          </a:xfrm>
          <a:prstGeom prst="rect">
            <a:avLst/>
          </a:prstGeom>
          <a:noFill/>
        </p:spPr>
        <p:txBody>
          <a:bodyPr wrap="square" lIns="0" tIns="0" rIns="0" bIns="0" anchor="t">
            <a:spAutoFit/>
          </a:bodyPr>
          <a:lstStyle/>
          <a:p>
            <a:pPr algn="r">
              <a:spcAft>
                <a:spcPts val="400"/>
              </a:spcAft>
            </a:pPr>
            <a:r>
              <a:rPr sz="1000" b="0" i="0">
                <a:solidFill>
                  <a:srgbClr val="53565A"/>
                </a:solidFill>
                <a:latin typeface="Calibri"/>
              </a:rPr>
              <a:t>8</a:t>
            </a:r>
          </a:p>
        </p:txBody>
      </p:sp>
      <p:sp>
        <p:nvSpPr>
          <p:cNvPr id="6" name="Rounded Rectangle 5"/>
          <p:cNvSpPr/>
          <p:nvPr/>
        </p:nvSpPr>
        <p:spPr>
          <a:xfrm>
            <a:off x="548640" y="1783080"/>
            <a:ext cx="3566160" cy="2743200"/>
          </a:xfrm>
          <a:prstGeom prst="roundRect">
            <a:avLst>
              <a:gd name="adj" fmla="val 6000"/>
            </a:avLst>
          </a:prstGeom>
          <a:solidFill>
            <a:srgbClr val="E6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868680" y="2011680"/>
            <a:ext cx="2926080" cy="548640"/>
          </a:xfrm>
          <a:prstGeom prst="rect">
            <a:avLst/>
          </a:prstGeom>
          <a:noFill/>
        </p:spPr>
        <p:txBody>
          <a:bodyPr wrap="square" lIns="0" tIns="0" rIns="0" bIns="0" anchor="t">
            <a:spAutoFit/>
          </a:bodyPr>
          <a:lstStyle/>
          <a:p>
            <a:pPr algn="l">
              <a:spcAft>
                <a:spcPts val="400"/>
              </a:spcAft>
            </a:pPr>
            <a:r>
              <a:rPr sz="2400" b="1" i="0">
                <a:solidFill>
                  <a:srgbClr val="007680"/>
                </a:solidFill>
                <a:latin typeface="Arial"/>
              </a:rPr>
              <a:t>Grounded</a:t>
            </a:r>
          </a:p>
        </p:txBody>
      </p:sp>
      <p:sp>
        <p:nvSpPr>
          <p:cNvPr id="8" name="TextBox 7"/>
          <p:cNvSpPr txBox="1"/>
          <p:nvPr/>
        </p:nvSpPr>
        <p:spPr>
          <a:xfrm>
            <a:off x="868680" y="2651760"/>
            <a:ext cx="2926080" cy="1737360"/>
          </a:xfrm>
          <a:prstGeom prst="rect">
            <a:avLst/>
          </a:prstGeom>
          <a:noFill/>
        </p:spPr>
        <p:txBody>
          <a:bodyPr wrap="square" lIns="0" tIns="0" rIns="0" bIns="0" anchor="t">
            <a:spAutoFit/>
          </a:bodyPr>
          <a:lstStyle/>
          <a:p>
            <a:pPr algn="l">
              <a:spcAft>
                <a:spcPts val="400"/>
              </a:spcAft>
            </a:pPr>
            <a:r>
              <a:rPr sz="1500" b="0" i="0">
                <a:solidFill>
                  <a:srgbClr val="1A1A1A"/>
                </a:solidFill>
                <a:latin typeface="Calibri"/>
              </a:rPr>
              <a:t>Every claim in a draft quotes a source span (CIS, AWS docs, CVE). No citation means automatic rejection.</a:t>
            </a:r>
          </a:p>
        </p:txBody>
      </p:sp>
      <p:sp>
        <p:nvSpPr>
          <p:cNvPr id="9" name="Rounded Rectangle 8"/>
          <p:cNvSpPr/>
          <p:nvPr/>
        </p:nvSpPr>
        <p:spPr>
          <a:xfrm>
            <a:off x="4297679" y="1783080"/>
            <a:ext cx="3566160" cy="2743200"/>
          </a:xfrm>
          <a:prstGeom prst="roundRect">
            <a:avLst>
              <a:gd name="adj" fmla="val 6000"/>
            </a:avLst>
          </a:prstGeom>
          <a:solidFill>
            <a:srgbClr val="F1F8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4617719" y="2011680"/>
            <a:ext cx="2926080" cy="548640"/>
          </a:xfrm>
          <a:prstGeom prst="rect">
            <a:avLst/>
          </a:prstGeom>
          <a:noFill/>
        </p:spPr>
        <p:txBody>
          <a:bodyPr wrap="square" lIns="0" tIns="0" rIns="0" bIns="0" anchor="t">
            <a:spAutoFit/>
          </a:bodyPr>
          <a:lstStyle/>
          <a:p>
            <a:pPr algn="l">
              <a:spcAft>
                <a:spcPts val="400"/>
              </a:spcAft>
            </a:pPr>
            <a:r>
              <a:rPr sz="2400" b="1" i="0">
                <a:solidFill>
                  <a:srgbClr val="046A38"/>
                </a:solidFill>
                <a:latin typeface="Arial"/>
              </a:rPr>
              <a:t>Verified</a:t>
            </a:r>
          </a:p>
        </p:txBody>
      </p:sp>
      <p:sp>
        <p:nvSpPr>
          <p:cNvPr id="11" name="TextBox 10"/>
          <p:cNvSpPr txBox="1"/>
          <p:nvPr/>
        </p:nvSpPr>
        <p:spPr>
          <a:xfrm>
            <a:off x="4617719" y="2651760"/>
            <a:ext cx="2926080" cy="1737360"/>
          </a:xfrm>
          <a:prstGeom prst="rect">
            <a:avLst/>
          </a:prstGeom>
          <a:noFill/>
        </p:spPr>
        <p:txBody>
          <a:bodyPr wrap="square" lIns="0" tIns="0" rIns="0" bIns="0" anchor="t">
            <a:spAutoFit/>
          </a:bodyPr>
          <a:lstStyle/>
          <a:p>
            <a:pPr algn="l">
              <a:spcAft>
                <a:spcPts val="400"/>
              </a:spcAft>
            </a:pPr>
            <a:r>
              <a:rPr sz="1500" b="0" i="0">
                <a:solidFill>
                  <a:srgbClr val="1A1A1A"/>
                </a:solidFill>
                <a:latin typeface="Calibri"/>
              </a:rPr>
              <a:t>A deterministic test harness decides pass/fail by deploying compliant and non-compliant resources in a sandbox. The LLM never grades itself.</a:t>
            </a:r>
          </a:p>
        </p:txBody>
      </p:sp>
      <p:sp>
        <p:nvSpPr>
          <p:cNvPr id="12" name="Rounded Rectangle 11"/>
          <p:cNvSpPr/>
          <p:nvPr/>
        </p:nvSpPr>
        <p:spPr>
          <a:xfrm>
            <a:off x="8046719" y="1783080"/>
            <a:ext cx="3566160" cy="2743200"/>
          </a:xfrm>
          <a:prstGeom prst="roundRect">
            <a:avLst>
              <a:gd name="adj" fmla="val 6000"/>
            </a:avLst>
          </a:prstGeom>
          <a:solidFill>
            <a:srgbClr val="FFF3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8366759" y="2011680"/>
            <a:ext cx="2926080" cy="548640"/>
          </a:xfrm>
          <a:prstGeom prst="rect">
            <a:avLst/>
          </a:prstGeom>
          <a:noFill/>
        </p:spPr>
        <p:txBody>
          <a:bodyPr wrap="square" lIns="0" tIns="0" rIns="0" bIns="0" anchor="t">
            <a:spAutoFit/>
          </a:bodyPr>
          <a:lstStyle/>
          <a:p>
            <a:pPr algn="l">
              <a:spcAft>
                <a:spcPts val="400"/>
              </a:spcAft>
            </a:pPr>
            <a:r>
              <a:rPr sz="2400" b="1" i="0">
                <a:solidFill>
                  <a:srgbClr val="A34A00"/>
                </a:solidFill>
                <a:latin typeface="Arial"/>
              </a:rPr>
              <a:t>Governed</a:t>
            </a:r>
          </a:p>
        </p:txBody>
      </p:sp>
      <p:sp>
        <p:nvSpPr>
          <p:cNvPr id="14" name="TextBox 13"/>
          <p:cNvSpPr txBox="1"/>
          <p:nvPr/>
        </p:nvSpPr>
        <p:spPr>
          <a:xfrm>
            <a:off x="8366759" y="2651760"/>
            <a:ext cx="2926080" cy="1737360"/>
          </a:xfrm>
          <a:prstGeom prst="rect">
            <a:avLst/>
          </a:prstGeom>
          <a:noFill/>
        </p:spPr>
        <p:txBody>
          <a:bodyPr wrap="square" lIns="0" tIns="0" rIns="0" bIns="0" anchor="t">
            <a:spAutoFit/>
          </a:bodyPr>
          <a:lstStyle/>
          <a:p>
            <a:pPr algn="l">
              <a:spcAft>
                <a:spcPts val="400"/>
              </a:spcAft>
            </a:pPr>
            <a:r>
              <a:rPr sz="1500" b="0" i="0">
                <a:solidFill>
                  <a:srgbClr val="1A1A1A"/>
                </a:solidFill>
                <a:latin typeface="Calibri"/>
              </a:rPr>
              <a:t>Risk-tiered human sign-off, shadow mode before customers see anything, and a kill switch for every AI-drafted rule.</a:t>
            </a:r>
          </a:p>
        </p:txBody>
      </p:sp>
      <p:sp>
        <p:nvSpPr>
          <p:cNvPr id="15" name="Rounded Rectangle 14"/>
          <p:cNvSpPr/>
          <p:nvPr/>
        </p:nvSpPr>
        <p:spPr>
          <a:xfrm>
            <a:off x="548640" y="4754880"/>
            <a:ext cx="11064240" cy="1280160"/>
          </a:xfrm>
          <a:prstGeom prst="roundRect">
            <a:avLst>
              <a:gd name="adj" fmla="val 6000"/>
            </a:avLst>
          </a:prstGeom>
          <a:solidFill>
            <a:srgbClr val="F4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822960" y="4892040"/>
            <a:ext cx="10515600" cy="1005840"/>
          </a:xfrm>
          <a:prstGeom prst="rect">
            <a:avLst/>
          </a:prstGeom>
          <a:noFill/>
        </p:spPr>
        <p:txBody>
          <a:bodyPr wrap="square" lIns="0" tIns="0" rIns="0" bIns="0" anchor="ctr">
            <a:spAutoFit/>
          </a:bodyPr>
          <a:lstStyle/>
          <a:p>
            <a:pPr algn="l">
              <a:spcAft>
                <a:spcPts val="400"/>
              </a:spcAft>
            </a:pPr>
            <a:r>
              <a:rPr sz="1600" b="1" i="0">
                <a:solidFill>
                  <a:srgbClr val="1A1A1A"/>
                </a:solidFill>
                <a:latin typeface="Calibri"/>
              </a:rPr>
              <a:t>What changes for the SME: </a:t>
            </a:r>
            <a:r>
              <a:rPr sz="1600" b="0" i="0">
                <a:solidFill>
                  <a:srgbClr val="1A1A1A"/>
                </a:solidFill>
                <a:latin typeface="Calibri"/>
              </a:rPr>
              <a:t>instead of 3–5 days building a rule from nothing, they review one screen with the sources, the rule, the test results and the critic's concerns, then approve, edit or reject with a reason code.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ection"/>
          <p:cNvSpPr txBox="1"/>
          <p:nvPr/>
        </p:nvSpPr>
        <p:spPr>
          <a:xfrm>
            <a:off x="548640" y="292608"/>
            <a:ext cx="8229600" cy="274320"/>
          </a:xfrm>
          <a:prstGeom prst="rect">
            <a:avLst/>
          </a:prstGeom>
          <a:noFill/>
        </p:spPr>
        <p:txBody>
          <a:bodyPr wrap="square" lIns="0" tIns="0" rIns="0" bIns="0" anchor="t">
            <a:spAutoFit/>
          </a:bodyPr>
          <a:lstStyle/>
          <a:p>
            <a:pPr algn="l">
              <a:spcAft>
                <a:spcPts val="400"/>
              </a:spcAft>
            </a:pPr>
            <a:r>
              <a:rPr sz="1100" b="1" i="0">
                <a:solidFill>
                  <a:srgbClr val="046A38"/>
                </a:solidFill>
                <a:latin typeface="Arial"/>
              </a:rPr>
              <a:t>3 · SOLUTION</a:t>
            </a:r>
          </a:p>
        </p:txBody>
      </p:sp>
      <p:sp>
        <p:nvSpPr>
          <p:cNvPr id="3" name="Title"/>
          <p:cNvSpPr txBox="1"/>
          <p:nvPr/>
        </p:nvSpPr>
        <p:spPr>
          <a:xfrm>
            <a:off x="548640" y="548640"/>
            <a:ext cx="11064240" cy="868680"/>
          </a:xfrm>
          <a:prstGeom prst="rect">
            <a:avLst/>
          </a:prstGeom>
          <a:noFill/>
        </p:spPr>
        <p:txBody>
          <a:bodyPr wrap="square" lIns="0" tIns="0" rIns="0" bIns="0" anchor="t">
            <a:spAutoFit/>
          </a:bodyPr>
          <a:lstStyle/>
          <a:p>
            <a:pPr algn="l">
              <a:spcAft>
                <a:spcPts val="400"/>
              </a:spcAft>
            </a:pPr>
            <a:r>
              <a:rPr sz="2800" b="1" i="0">
                <a:solidFill>
                  <a:srgbClr val="1A1A1A"/>
                </a:solidFill>
                <a:latin typeface="Arial"/>
              </a:rPr>
              <a:t>End-to-end architecture: code orchestrates, agents only where judgement is needed</a:t>
            </a:r>
          </a:p>
        </p:txBody>
      </p:sp>
      <p:sp>
        <p:nvSpPr>
          <p:cNvPr id="5" name="SlideNo"/>
          <p:cNvSpPr txBox="1"/>
          <p:nvPr/>
        </p:nvSpPr>
        <p:spPr>
          <a:xfrm>
            <a:off x="11064240" y="6355080"/>
            <a:ext cx="576072" cy="320040"/>
          </a:xfrm>
          <a:prstGeom prst="rect">
            <a:avLst/>
          </a:prstGeom>
          <a:noFill/>
        </p:spPr>
        <p:txBody>
          <a:bodyPr wrap="square" lIns="0" tIns="0" rIns="0" bIns="0" anchor="t">
            <a:spAutoFit/>
          </a:bodyPr>
          <a:lstStyle/>
          <a:p>
            <a:pPr algn="r">
              <a:spcAft>
                <a:spcPts val="400"/>
              </a:spcAft>
            </a:pPr>
            <a:r>
              <a:rPr sz="1000" b="0" i="0">
                <a:solidFill>
                  <a:srgbClr val="53565A"/>
                </a:solidFill>
                <a:latin typeface="Calibri"/>
              </a:rPr>
              <a:t>9</a:t>
            </a:r>
          </a:p>
        </p:txBody>
      </p:sp>
      <p:sp>
        <p:nvSpPr>
          <p:cNvPr id="6" name="Rounded Rectangle 5"/>
          <p:cNvSpPr/>
          <p:nvPr/>
        </p:nvSpPr>
        <p:spPr>
          <a:xfrm>
            <a:off x="548640" y="1783080"/>
            <a:ext cx="1737360" cy="1417320"/>
          </a:xfrm>
          <a:prstGeom prst="roundRect">
            <a:avLst>
              <a:gd name="adj" fmla="val 6000"/>
            </a:avLst>
          </a:prstGeom>
          <a:solidFill>
            <a:srgbClr val="F4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640080" y="1856231"/>
            <a:ext cx="1554480" cy="1271016"/>
          </a:xfrm>
          <a:prstGeom prst="rect">
            <a:avLst/>
          </a:prstGeom>
          <a:noFill/>
        </p:spPr>
        <p:txBody>
          <a:bodyPr wrap="square" lIns="0" tIns="0" rIns="0" bIns="0" anchor="ctr">
            <a:spAutoFit/>
          </a:bodyPr>
          <a:lstStyle/>
          <a:p>
            <a:pPr algn="ctr">
              <a:spcAft>
                <a:spcPts val="200"/>
              </a:spcAft>
            </a:pPr>
            <a:r>
              <a:rPr sz="1300" b="1" i="0">
                <a:solidFill>
                  <a:srgbClr val="1A1A1A"/>
                </a:solidFill>
                <a:latin typeface="Calibri"/>
              </a:rPr>
              <a:t>Sources</a:t>
            </a:r>
          </a:p>
          <a:p>
            <a:pPr algn="ctr">
              <a:spcAft>
                <a:spcPts val="200"/>
              </a:spcAft>
            </a:pPr>
            <a:r>
              <a:rPr sz="1100" b="0" i="0">
                <a:solidFill>
                  <a:srgbClr val="53565A"/>
                </a:solidFill>
                <a:latin typeface="Calibri"/>
              </a:rPr>
              <a:t>AWS What's New · botocore diffs · CIS releases · CVEs</a:t>
            </a:r>
          </a:p>
        </p:txBody>
      </p:sp>
      <p:sp>
        <p:nvSpPr>
          <p:cNvPr id="8" name="Rounded Rectangle 7"/>
          <p:cNvSpPr/>
          <p:nvPr/>
        </p:nvSpPr>
        <p:spPr>
          <a:xfrm>
            <a:off x="2606040" y="1783080"/>
            <a:ext cx="1737360" cy="1417320"/>
          </a:xfrm>
          <a:prstGeom prst="roundRect">
            <a:avLst>
              <a:gd name="adj" fmla="val 6000"/>
            </a:avLst>
          </a:prstGeom>
          <a:solidFill>
            <a:srgbClr val="E6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2697480" y="1856231"/>
            <a:ext cx="1554480" cy="1271016"/>
          </a:xfrm>
          <a:prstGeom prst="rect">
            <a:avLst/>
          </a:prstGeom>
          <a:noFill/>
        </p:spPr>
        <p:txBody>
          <a:bodyPr wrap="square" lIns="0" tIns="0" rIns="0" bIns="0" anchor="ctr">
            <a:spAutoFit/>
          </a:bodyPr>
          <a:lstStyle/>
          <a:p>
            <a:pPr algn="ctr">
              <a:spcAft>
                <a:spcPts val="200"/>
              </a:spcAft>
            </a:pPr>
            <a:r>
              <a:rPr sz="1300" b="1" i="0">
                <a:solidFill>
                  <a:srgbClr val="1A1A1A"/>
                </a:solidFill>
                <a:latin typeface="Calibri"/>
              </a:rPr>
              <a:t>Watcher</a:t>
            </a:r>
          </a:p>
          <a:p>
            <a:pPr algn="ctr">
              <a:spcAft>
                <a:spcPts val="200"/>
              </a:spcAft>
            </a:pPr>
            <a:r>
              <a:rPr sz="1100" b="0" i="0">
                <a:solidFill>
                  <a:srgbClr val="53565A"/>
                </a:solidFill>
                <a:latin typeface="Calibri"/>
              </a:rPr>
              <a:t>Ingest, dedupe vs library, rank by customer footprint</a:t>
            </a:r>
          </a:p>
        </p:txBody>
      </p:sp>
      <p:sp>
        <p:nvSpPr>
          <p:cNvPr id="10" name="Rounded Rectangle 9"/>
          <p:cNvSpPr/>
          <p:nvPr/>
        </p:nvSpPr>
        <p:spPr>
          <a:xfrm>
            <a:off x="4663440" y="1783080"/>
            <a:ext cx="1737360" cy="1417320"/>
          </a:xfrm>
          <a:prstGeom prst="roundRect">
            <a:avLst>
              <a:gd name="adj" fmla="val 6000"/>
            </a:avLst>
          </a:prstGeom>
          <a:solidFill>
            <a:srgbClr val="E6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4754879" y="1856231"/>
            <a:ext cx="1554480" cy="1271016"/>
          </a:xfrm>
          <a:prstGeom prst="rect">
            <a:avLst/>
          </a:prstGeom>
          <a:noFill/>
        </p:spPr>
        <p:txBody>
          <a:bodyPr wrap="square" lIns="0" tIns="0" rIns="0" bIns="0" anchor="ctr">
            <a:spAutoFit/>
          </a:bodyPr>
          <a:lstStyle/>
          <a:p>
            <a:pPr algn="ctr">
              <a:spcAft>
                <a:spcPts val="200"/>
              </a:spcAft>
            </a:pPr>
            <a:r>
              <a:rPr sz="1300" b="1" i="0">
                <a:solidFill>
                  <a:srgbClr val="1A1A1A"/>
                </a:solidFill>
                <a:latin typeface="Calibri"/>
              </a:rPr>
              <a:t>Research agent</a:t>
            </a:r>
          </a:p>
          <a:p>
            <a:pPr algn="ctr">
              <a:spcAft>
                <a:spcPts val="200"/>
              </a:spcAft>
            </a:pPr>
            <a:r>
              <a:rPr sz="1100" b="0" i="0">
                <a:solidFill>
                  <a:srgbClr val="53565A"/>
                </a:solidFill>
                <a:latin typeface="Calibri"/>
              </a:rPr>
              <a:t>Retrieves docs; outputs quoted spans + URLs</a:t>
            </a:r>
          </a:p>
        </p:txBody>
      </p:sp>
      <p:sp>
        <p:nvSpPr>
          <p:cNvPr id="12" name="Rounded Rectangle 11"/>
          <p:cNvSpPr/>
          <p:nvPr/>
        </p:nvSpPr>
        <p:spPr>
          <a:xfrm>
            <a:off x="6720840" y="1783080"/>
            <a:ext cx="1737360" cy="1417320"/>
          </a:xfrm>
          <a:prstGeom prst="roundRect">
            <a:avLst>
              <a:gd name="adj" fmla="val 6000"/>
            </a:avLst>
          </a:prstGeom>
          <a:solidFill>
            <a:srgbClr val="E6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6812279" y="1856231"/>
            <a:ext cx="1554480" cy="1271016"/>
          </a:xfrm>
          <a:prstGeom prst="rect">
            <a:avLst/>
          </a:prstGeom>
          <a:noFill/>
        </p:spPr>
        <p:txBody>
          <a:bodyPr wrap="square" lIns="0" tIns="0" rIns="0" bIns="0" anchor="ctr">
            <a:spAutoFit/>
          </a:bodyPr>
          <a:lstStyle/>
          <a:p>
            <a:pPr algn="ctr">
              <a:spcAft>
                <a:spcPts val="200"/>
              </a:spcAft>
            </a:pPr>
            <a:r>
              <a:rPr sz="1300" b="1" i="0">
                <a:solidFill>
                  <a:srgbClr val="1A1A1A"/>
                </a:solidFill>
                <a:latin typeface="Calibri"/>
              </a:rPr>
              <a:t>Author agent</a:t>
            </a:r>
          </a:p>
          <a:p>
            <a:pPr algn="ctr">
              <a:spcAft>
                <a:spcPts val="200"/>
              </a:spcAft>
            </a:pPr>
            <a:r>
              <a:rPr sz="1100" b="0" i="0">
                <a:solidFill>
                  <a:srgbClr val="53565A"/>
                </a:solidFill>
                <a:latin typeface="Calibri"/>
              </a:rPr>
              <a:t>Few-shot from existing SME rules; JSON schema output</a:t>
            </a:r>
          </a:p>
        </p:txBody>
      </p:sp>
      <p:sp>
        <p:nvSpPr>
          <p:cNvPr id="14" name="Rounded Rectangle 13"/>
          <p:cNvSpPr/>
          <p:nvPr/>
        </p:nvSpPr>
        <p:spPr>
          <a:xfrm>
            <a:off x="8778240" y="1783080"/>
            <a:ext cx="1737360" cy="1417320"/>
          </a:xfrm>
          <a:prstGeom prst="roundRect">
            <a:avLst>
              <a:gd name="adj" fmla="val 6000"/>
            </a:avLst>
          </a:prstGeom>
          <a:solidFill>
            <a:srgbClr val="F1F8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8869680" y="1856231"/>
            <a:ext cx="1554480" cy="1271016"/>
          </a:xfrm>
          <a:prstGeom prst="rect">
            <a:avLst/>
          </a:prstGeom>
          <a:noFill/>
        </p:spPr>
        <p:txBody>
          <a:bodyPr wrap="square" lIns="0" tIns="0" rIns="0" bIns="0" anchor="ctr">
            <a:spAutoFit/>
          </a:bodyPr>
          <a:lstStyle/>
          <a:p>
            <a:pPr algn="ctr">
              <a:spcAft>
                <a:spcPts val="200"/>
              </a:spcAft>
            </a:pPr>
            <a:r>
              <a:rPr sz="1300" b="1" i="0">
                <a:solidFill>
                  <a:srgbClr val="1A1A1A"/>
                </a:solidFill>
                <a:latin typeface="Calibri"/>
              </a:rPr>
              <a:t>Test harness</a:t>
            </a:r>
          </a:p>
          <a:p>
            <a:pPr algn="ctr">
              <a:spcAft>
                <a:spcPts val="200"/>
              </a:spcAft>
            </a:pPr>
            <a:r>
              <a:rPr sz="1100" b="0" i="0">
                <a:solidFill>
                  <a:srgbClr val="53565A"/>
                </a:solidFill>
                <a:latin typeface="Calibri"/>
              </a:rPr>
              <a:t>Terraform fixtures in sandbox; deterministic pass/fail</a:t>
            </a:r>
          </a:p>
        </p:txBody>
      </p:sp>
      <p:sp>
        <p:nvSpPr>
          <p:cNvPr id="16" name="Rounded Rectangle 15"/>
          <p:cNvSpPr/>
          <p:nvPr/>
        </p:nvSpPr>
        <p:spPr>
          <a:xfrm>
            <a:off x="8778240" y="3611880"/>
            <a:ext cx="1737360" cy="1234440"/>
          </a:xfrm>
          <a:prstGeom prst="roundRect">
            <a:avLst>
              <a:gd name="adj" fmla="val 6000"/>
            </a:avLst>
          </a:prstGeom>
          <a:solidFill>
            <a:srgbClr val="E6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8869680" y="3685032"/>
            <a:ext cx="1554480" cy="1088136"/>
          </a:xfrm>
          <a:prstGeom prst="rect">
            <a:avLst/>
          </a:prstGeom>
          <a:noFill/>
        </p:spPr>
        <p:txBody>
          <a:bodyPr wrap="square" lIns="0" tIns="0" rIns="0" bIns="0" anchor="ctr">
            <a:spAutoFit/>
          </a:bodyPr>
          <a:lstStyle/>
          <a:p>
            <a:pPr algn="ctr">
              <a:spcAft>
                <a:spcPts val="200"/>
              </a:spcAft>
            </a:pPr>
            <a:r>
              <a:rPr sz="1300" b="1" i="0">
                <a:solidFill>
                  <a:srgbClr val="1A1A1A"/>
                </a:solidFill>
                <a:latin typeface="Calibri"/>
              </a:rPr>
              <a:t>Critic agent</a:t>
            </a:r>
          </a:p>
          <a:p>
            <a:pPr algn="ctr">
              <a:spcAft>
                <a:spcPts val="200"/>
              </a:spcAft>
            </a:pPr>
            <a:r>
              <a:rPr sz="1100" b="0" i="0">
                <a:solidFill>
                  <a:srgbClr val="53565A"/>
                </a:solidFill>
                <a:latin typeface="Calibri"/>
              </a:rPr>
              <a:t>Edge cases, overlaps with existing rules</a:t>
            </a:r>
          </a:p>
        </p:txBody>
      </p:sp>
      <p:sp>
        <p:nvSpPr>
          <p:cNvPr id="18" name="Rounded Rectangle 17"/>
          <p:cNvSpPr/>
          <p:nvPr/>
        </p:nvSpPr>
        <p:spPr>
          <a:xfrm>
            <a:off x="6720840" y="3611880"/>
            <a:ext cx="1737360" cy="1234440"/>
          </a:xfrm>
          <a:prstGeom prst="roundRect">
            <a:avLst>
              <a:gd name="adj" fmla="val 6000"/>
            </a:avLst>
          </a:prstGeom>
          <a:solidFill>
            <a:srgbClr val="0D0D0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6812279" y="3685032"/>
            <a:ext cx="1554480" cy="1088136"/>
          </a:xfrm>
          <a:prstGeom prst="rect">
            <a:avLst/>
          </a:prstGeom>
          <a:noFill/>
        </p:spPr>
        <p:txBody>
          <a:bodyPr wrap="square" lIns="0" tIns="0" rIns="0" bIns="0" anchor="ctr">
            <a:spAutoFit/>
          </a:bodyPr>
          <a:lstStyle/>
          <a:p>
            <a:pPr algn="ctr">
              <a:spcAft>
                <a:spcPts val="200"/>
              </a:spcAft>
            </a:pPr>
            <a:r>
              <a:rPr sz="1300" b="1" i="0">
                <a:solidFill>
                  <a:srgbClr val="FFFFFF"/>
                </a:solidFill>
                <a:latin typeface="Calibri"/>
              </a:rPr>
              <a:t>SME decision</a:t>
            </a:r>
          </a:p>
          <a:p>
            <a:pPr algn="ctr">
              <a:spcAft>
                <a:spcPts val="200"/>
              </a:spcAft>
            </a:pPr>
            <a:r>
              <a:rPr sz="1100" b="0" i="0">
                <a:solidFill>
                  <a:srgbClr val="C9CDD1"/>
                </a:solidFill>
                <a:latin typeface="Calibri"/>
              </a:rPr>
              <a:t>Approve / edit / reject + reason code</a:t>
            </a:r>
          </a:p>
        </p:txBody>
      </p:sp>
      <p:sp>
        <p:nvSpPr>
          <p:cNvPr id="20" name="Rounded Rectangle 19"/>
          <p:cNvSpPr/>
          <p:nvPr/>
        </p:nvSpPr>
        <p:spPr>
          <a:xfrm>
            <a:off x="4663440" y="3611880"/>
            <a:ext cx="1737360" cy="1234440"/>
          </a:xfrm>
          <a:prstGeom prst="roundRect">
            <a:avLst>
              <a:gd name="adj" fmla="val 6000"/>
            </a:avLst>
          </a:prstGeom>
          <a:solidFill>
            <a:srgbClr val="F4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TextBox 20"/>
          <p:cNvSpPr txBox="1"/>
          <p:nvPr/>
        </p:nvSpPr>
        <p:spPr>
          <a:xfrm>
            <a:off x="4754879" y="3685032"/>
            <a:ext cx="1554480" cy="1088136"/>
          </a:xfrm>
          <a:prstGeom prst="rect">
            <a:avLst/>
          </a:prstGeom>
          <a:noFill/>
        </p:spPr>
        <p:txBody>
          <a:bodyPr wrap="square" lIns="0" tIns="0" rIns="0" bIns="0" anchor="ctr">
            <a:spAutoFit/>
          </a:bodyPr>
          <a:lstStyle/>
          <a:p>
            <a:pPr algn="ctr">
              <a:spcAft>
                <a:spcPts val="200"/>
              </a:spcAft>
            </a:pPr>
            <a:r>
              <a:rPr sz="1300" b="1" i="0">
                <a:solidFill>
                  <a:srgbClr val="1A1A1A"/>
                </a:solidFill>
                <a:latin typeface="Calibri"/>
              </a:rPr>
              <a:t>Staged release</a:t>
            </a:r>
          </a:p>
          <a:p>
            <a:pPr algn="ctr">
              <a:spcAft>
                <a:spcPts val="200"/>
              </a:spcAft>
            </a:pPr>
            <a:r>
              <a:rPr sz="1100" b="0" i="0">
                <a:solidFill>
                  <a:srgbClr val="53565A"/>
                </a:solidFill>
                <a:latin typeface="Calibri"/>
              </a:rPr>
              <a:t>Shadow → canary → GA, flag-gated</a:t>
            </a:r>
          </a:p>
        </p:txBody>
      </p:sp>
      <p:sp>
        <p:nvSpPr>
          <p:cNvPr id="22" name="Rounded Rectangle 21"/>
          <p:cNvSpPr/>
          <p:nvPr/>
        </p:nvSpPr>
        <p:spPr>
          <a:xfrm>
            <a:off x="2606040" y="3611880"/>
            <a:ext cx="1737360" cy="1234440"/>
          </a:xfrm>
          <a:prstGeom prst="roundRect">
            <a:avLst>
              <a:gd name="adj" fmla="val 6000"/>
            </a:avLst>
          </a:prstGeom>
          <a:solidFill>
            <a:srgbClr val="F4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TextBox 22"/>
          <p:cNvSpPr txBox="1"/>
          <p:nvPr/>
        </p:nvSpPr>
        <p:spPr>
          <a:xfrm>
            <a:off x="2697480" y="3685032"/>
            <a:ext cx="1554480" cy="1088136"/>
          </a:xfrm>
          <a:prstGeom prst="rect">
            <a:avLst/>
          </a:prstGeom>
          <a:noFill/>
        </p:spPr>
        <p:txBody>
          <a:bodyPr wrap="square" lIns="0" tIns="0" rIns="0" bIns="0" anchor="ctr">
            <a:spAutoFit/>
          </a:bodyPr>
          <a:lstStyle/>
          <a:p>
            <a:pPr algn="ctr">
              <a:spcAft>
                <a:spcPts val="200"/>
              </a:spcAft>
            </a:pPr>
            <a:r>
              <a:rPr sz="1300" b="1" i="0">
                <a:solidFill>
                  <a:srgbClr val="1A1A1A"/>
                </a:solidFill>
                <a:latin typeface="Calibri"/>
              </a:rPr>
              <a:t>Scan engine</a:t>
            </a:r>
          </a:p>
          <a:p>
            <a:pPr algn="ctr">
              <a:spcAft>
                <a:spcPts val="200"/>
              </a:spcAft>
            </a:pPr>
            <a:r>
              <a:rPr sz="1100" b="0" i="0">
                <a:solidFill>
                  <a:srgbClr val="53565A"/>
                </a:solidFill>
                <a:latin typeface="Calibri"/>
              </a:rPr>
              <a:t>Existing CloudGuard product (separate)</a:t>
            </a:r>
          </a:p>
        </p:txBody>
      </p:sp>
      <p:sp>
        <p:nvSpPr>
          <p:cNvPr id="24" name="Rounded Rectangle 23"/>
          <p:cNvSpPr/>
          <p:nvPr/>
        </p:nvSpPr>
        <p:spPr>
          <a:xfrm>
            <a:off x="548640" y="3611880"/>
            <a:ext cx="1737360" cy="1234440"/>
          </a:xfrm>
          <a:prstGeom prst="roundRect">
            <a:avLst>
              <a:gd name="adj" fmla="val 6000"/>
            </a:avLst>
          </a:prstGeom>
          <a:solidFill>
            <a:srgbClr val="F4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TextBox 24"/>
          <p:cNvSpPr txBox="1"/>
          <p:nvPr/>
        </p:nvSpPr>
        <p:spPr>
          <a:xfrm>
            <a:off x="640080" y="3685032"/>
            <a:ext cx="1554480" cy="1088136"/>
          </a:xfrm>
          <a:prstGeom prst="rect">
            <a:avLst/>
          </a:prstGeom>
          <a:noFill/>
        </p:spPr>
        <p:txBody>
          <a:bodyPr wrap="square" lIns="0" tIns="0" rIns="0" bIns="0" anchor="ctr">
            <a:spAutoFit/>
          </a:bodyPr>
          <a:lstStyle/>
          <a:p>
            <a:pPr algn="ctr">
              <a:spcAft>
                <a:spcPts val="200"/>
              </a:spcAft>
            </a:pPr>
            <a:r>
              <a:rPr sz="1300" b="1" i="0">
                <a:solidFill>
                  <a:srgbClr val="1A1A1A"/>
                </a:solidFill>
                <a:latin typeface="Calibri"/>
              </a:rPr>
              <a:t>Customer</a:t>
            </a:r>
          </a:p>
          <a:p>
            <a:pPr algn="ctr">
              <a:spcAft>
                <a:spcPts val="200"/>
              </a:spcAft>
            </a:pPr>
            <a:r>
              <a:rPr sz="1100" b="0" i="0">
                <a:solidFill>
                  <a:srgbClr val="53565A"/>
                </a:solidFill>
                <a:latin typeface="Calibri"/>
              </a:rPr>
              <a:t>Findings + provenance; FP reports</a:t>
            </a:r>
          </a:p>
        </p:txBody>
      </p:sp>
      <p:cxnSp>
        <p:nvCxnSpPr>
          <p:cNvPr id="26" name="Connector 25"/>
          <p:cNvCxnSpPr/>
          <p:nvPr/>
        </p:nvCxnSpPr>
        <p:spPr>
          <a:xfrm>
            <a:off x="2286000" y="2487168"/>
            <a:ext cx="320040" cy="0"/>
          </a:xfrm>
          <a:prstGeom prst="line">
            <a:avLst/>
          </a:prstGeom>
          <a:ln w="19050">
            <a:solidFill>
              <a:srgbClr val="046A3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4343400" y="2487168"/>
            <a:ext cx="320040" cy="0"/>
          </a:xfrm>
          <a:prstGeom prst="line">
            <a:avLst/>
          </a:prstGeom>
          <a:ln w="19050">
            <a:solidFill>
              <a:srgbClr val="046A3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6400800" y="2487168"/>
            <a:ext cx="320040" cy="0"/>
          </a:xfrm>
          <a:prstGeom prst="line">
            <a:avLst/>
          </a:prstGeom>
          <a:ln w="19050">
            <a:solidFill>
              <a:srgbClr val="046A3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8458200" y="2487168"/>
            <a:ext cx="320040" cy="0"/>
          </a:xfrm>
          <a:prstGeom prst="line">
            <a:avLst/>
          </a:prstGeom>
          <a:ln w="19050">
            <a:solidFill>
              <a:srgbClr val="046A3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9646920" y="3200400"/>
            <a:ext cx="0" cy="411480"/>
          </a:xfrm>
          <a:prstGeom prst="line">
            <a:avLst/>
          </a:prstGeom>
          <a:ln w="19050">
            <a:solidFill>
              <a:srgbClr val="046A3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H="1">
            <a:off x="8458200" y="4224528"/>
            <a:ext cx="320040" cy="0"/>
          </a:xfrm>
          <a:prstGeom prst="line">
            <a:avLst/>
          </a:prstGeom>
          <a:ln w="19050">
            <a:solidFill>
              <a:srgbClr val="046A3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H="1">
            <a:off x="6400800" y="4224528"/>
            <a:ext cx="320040" cy="0"/>
          </a:xfrm>
          <a:prstGeom prst="line">
            <a:avLst/>
          </a:prstGeom>
          <a:ln w="19050">
            <a:solidFill>
              <a:srgbClr val="046A3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H="1">
            <a:off x="4343400" y="4224528"/>
            <a:ext cx="320040" cy="0"/>
          </a:xfrm>
          <a:prstGeom prst="line">
            <a:avLst/>
          </a:prstGeom>
          <a:ln w="19050">
            <a:solidFill>
              <a:srgbClr val="046A3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H="1">
            <a:off x="2286000" y="4224528"/>
            <a:ext cx="320040" cy="0"/>
          </a:xfrm>
          <a:prstGeom prst="line">
            <a:avLst/>
          </a:prstGeom>
          <a:ln w="19050">
            <a:solidFill>
              <a:srgbClr val="046A3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1417320" y="4846320"/>
            <a:ext cx="0" cy="411480"/>
          </a:xfrm>
          <a:prstGeom prst="line">
            <a:avLst/>
          </a:prstGeom>
          <a:ln w="19050">
            <a:solidFill>
              <a:srgbClr val="A34A00"/>
            </a:solidFill>
            <a:prstDash val="dash"/>
            <a:tailEnd type="triangle" w="med" len="med"/>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1417320" y="5257800"/>
            <a:ext cx="6172200" cy="0"/>
          </a:xfrm>
          <a:prstGeom prst="line">
            <a:avLst/>
          </a:prstGeom>
          <a:ln w="19050">
            <a:solidFill>
              <a:srgbClr val="A34A00"/>
            </a:solidFill>
            <a:prstDash val="dash"/>
            <a:tailEnd type="triangle" w="med" len="med"/>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V="1">
            <a:off x="7589520" y="4846320"/>
            <a:ext cx="0" cy="411480"/>
          </a:xfrm>
          <a:prstGeom prst="line">
            <a:avLst/>
          </a:prstGeom>
          <a:ln w="19050">
            <a:solidFill>
              <a:srgbClr val="A34A00"/>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2651760" y="5303520"/>
            <a:ext cx="4754880" cy="274320"/>
          </a:xfrm>
          <a:prstGeom prst="rect">
            <a:avLst/>
          </a:prstGeom>
          <a:noFill/>
        </p:spPr>
        <p:txBody>
          <a:bodyPr wrap="square" lIns="0" tIns="0" rIns="0" bIns="0" anchor="t">
            <a:spAutoFit/>
          </a:bodyPr>
          <a:lstStyle/>
          <a:p>
            <a:pPr algn="l">
              <a:spcAft>
                <a:spcPts val="400"/>
              </a:spcAft>
            </a:pPr>
            <a:r>
              <a:rPr sz="1100" b="0" i="1">
                <a:solidFill>
                  <a:srgbClr val="A34A00"/>
                </a:solidFill>
                <a:latin typeface="Calibri"/>
              </a:rPr>
              <a:t>False-positive report sends the rule back to SME review</a:t>
            </a:r>
          </a:p>
        </p:txBody>
      </p:sp>
      <p:sp>
        <p:nvSpPr>
          <p:cNvPr id="39" name="Rounded Rectangle 38"/>
          <p:cNvSpPr/>
          <p:nvPr/>
        </p:nvSpPr>
        <p:spPr>
          <a:xfrm>
            <a:off x="8001000" y="5138928"/>
            <a:ext cx="201168" cy="201168"/>
          </a:xfrm>
          <a:prstGeom prst="roundRect">
            <a:avLst>
              <a:gd name="adj" fmla="val 6000"/>
            </a:avLst>
          </a:prstGeom>
          <a:solidFill>
            <a:srgbClr val="E6F4F5"/>
          </a:solidFill>
          <a:ln w="12700">
            <a:solidFill>
              <a:srgbClr val="DDE1E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0" name="TextBox 39"/>
          <p:cNvSpPr txBox="1"/>
          <p:nvPr/>
        </p:nvSpPr>
        <p:spPr>
          <a:xfrm>
            <a:off x="8257031" y="5093208"/>
            <a:ext cx="960120" cy="292608"/>
          </a:xfrm>
          <a:prstGeom prst="rect">
            <a:avLst/>
          </a:prstGeom>
          <a:noFill/>
        </p:spPr>
        <p:txBody>
          <a:bodyPr wrap="square" lIns="0" tIns="0" rIns="0" bIns="0" anchor="ctr">
            <a:spAutoFit/>
          </a:bodyPr>
          <a:lstStyle/>
          <a:p>
            <a:pPr algn="l">
              <a:spcAft>
                <a:spcPts val="400"/>
              </a:spcAft>
            </a:pPr>
            <a:r>
              <a:rPr sz="1100" b="0" i="0">
                <a:solidFill>
                  <a:srgbClr val="53565A"/>
                </a:solidFill>
                <a:latin typeface="Calibri"/>
              </a:rPr>
              <a:t>LLM agent</a:t>
            </a:r>
          </a:p>
        </p:txBody>
      </p:sp>
      <p:sp>
        <p:nvSpPr>
          <p:cNvPr id="41" name="Rounded Rectangle 40"/>
          <p:cNvSpPr/>
          <p:nvPr/>
        </p:nvSpPr>
        <p:spPr>
          <a:xfrm>
            <a:off x="9217152" y="5138928"/>
            <a:ext cx="201168" cy="201168"/>
          </a:xfrm>
          <a:prstGeom prst="roundRect">
            <a:avLst>
              <a:gd name="adj" fmla="val 6000"/>
            </a:avLst>
          </a:prstGeom>
          <a:solidFill>
            <a:srgbClr val="F1F8E6"/>
          </a:solidFill>
          <a:ln w="12700">
            <a:solidFill>
              <a:srgbClr val="DDE1E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2" name="TextBox 41"/>
          <p:cNvSpPr txBox="1"/>
          <p:nvPr/>
        </p:nvSpPr>
        <p:spPr>
          <a:xfrm>
            <a:off x="9473184" y="5093208"/>
            <a:ext cx="960120" cy="292608"/>
          </a:xfrm>
          <a:prstGeom prst="rect">
            <a:avLst/>
          </a:prstGeom>
          <a:noFill/>
        </p:spPr>
        <p:txBody>
          <a:bodyPr wrap="square" lIns="0" tIns="0" rIns="0" bIns="0" anchor="ctr">
            <a:spAutoFit/>
          </a:bodyPr>
          <a:lstStyle/>
          <a:p>
            <a:pPr algn="l">
              <a:spcAft>
                <a:spcPts val="400"/>
              </a:spcAft>
            </a:pPr>
            <a:r>
              <a:rPr sz="1100" b="0" i="0">
                <a:solidFill>
                  <a:srgbClr val="53565A"/>
                </a:solidFill>
                <a:latin typeface="Calibri"/>
              </a:rPr>
              <a:t>Deterministic</a:t>
            </a:r>
          </a:p>
        </p:txBody>
      </p:sp>
      <p:sp>
        <p:nvSpPr>
          <p:cNvPr id="43" name="Rounded Rectangle 42"/>
          <p:cNvSpPr/>
          <p:nvPr/>
        </p:nvSpPr>
        <p:spPr>
          <a:xfrm>
            <a:off x="10433304" y="5138928"/>
            <a:ext cx="201168" cy="201168"/>
          </a:xfrm>
          <a:prstGeom prst="roundRect">
            <a:avLst>
              <a:gd name="adj" fmla="val 6000"/>
            </a:avLst>
          </a:prstGeom>
          <a:solidFill>
            <a:srgbClr val="0D0D0D"/>
          </a:solidFill>
          <a:ln w="12700">
            <a:solidFill>
              <a:srgbClr val="DDE1E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4" name="TextBox 43"/>
          <p:cNvSpPr txBox="1"/>
          <p:nvPr/>
        </p:nvSpPr>
        <p:spPr>
          <a:xfrm>
            <a:off x="10689336" y="5093208"/>
            <a:ext cx="960120" cy="292608"/>
          </a:xfrm>
          <a:prstGeom prst="rect">
            <a:avLst/>
          </a:prstGeom>
          <a:noFill/>
        </p:spPr>
        <p:txBody>
          <a:bodyPr wrap="square" lIns="0" tIns="0" rIns="0" bIns="0" anchor="ctr">
            <a:spAutoFit/>
          </a:bodyPr>
          <a:lstStyle/>
          <a:p>
            <a:pPr algn="l">
              <a:spcAft>
                <a:spcPts val="400"/>
              </a:spcAft>
            </a:pPr>
            <a:r>
              <a:rPr sz="1100" b="0" i="0">
                <a:solidFill>
                  <a:srgbClr val="53565A"/>
                </a:solidFill>
                <a:latin typeface="Calibri"/>
              </a:rPr>
              <a:t>Human</a:t>
            </a:r>
          </a:p>
        </p:txBody>
      </p:sp>
      <p:sp>
        <p:nvSpPr>
          <p:cNvPr id="45" name="Rounded Rectangle 44"/>
          <p:cNvSpPr/>
          <p:nvPr/>
        </p:nvSpPr>
        <p:spPr>
          <a:xfrm>
            <a:off x="10744200" y="1783080"/>
            <a:ext cx="868680" cy="3063240"/>
          </a:xfrm>
          <a:prstGeom prst="roundRect">
            <a:avLst>
              <a:gd name="adj" fmla="val 6000"/>
            </a:avLst>
          </a:prstGeom>
          <a:solidFill>
            <a:srgbClr val="0D0D0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6" name="TextBox 45"/>
          <p:cNvSpPr txBox="1"/>
          <p:nvPr/>
        </p:nvSpPr>
        <p:spPr>
          <a:xfrm>
            <a:off x="10771632" y="1828800"/>
            <a:ext cx="813816" cy="2971800"/>
          </a:xfrm>
          <a:prstGeom prst="rect">
            <a:avLst/>
          </a:prstGeom>
          <a:noFill/>
        </p:spPr>
        <p:txBody>
          <a:bodyPr wrap="square" lIns="0" tIns="0" rIns="0" bIns="0" anchor="ctr">
            <a:spAutoFit/>
          </a:bodyPr>
          <a:lstStyle/>
          <a:p>
            <a:pPr algn="ctr">
              <a:spcAft>
                <a:spcPts val="400"/>
              </a:spcAft>
            </a:pPr>
            <a:r>
              <a:rPr sz="1200" b="1" i="0">
                <a:solidFill>
                  <a:srgbClr val="FFFFFF"/>
                </a:solidFill>
                <a:latin typeface="Calibri"/>
              </a:rPr>
              <a:t>Eval gate</a:t>
            </a:r>
          </a:p>
          <a:p>
            <a:pPr algn="ctr">
              <a:spcAft>
                <a:spcPts val="400"/>
              </a:spcAft>
            </a:pPr>
            <a:r>
              <a:rPr sz="1000" b="0" i="0">
                <a:solidFill>
                  <a:srgbClr val="C9CDD1"/>
                </a:solidFill>
                <a:latin typeface="Calibri"/>
              </a:rPr>
              <a:t>Golden set runs on every model or prompt change</a:t>
            </a:r>
          </a:p>
        </p:txBody>
      </p:sp>
      <p:sp>
        <p:nvSpPr>
          <p:cNvPr id="47" name="Rounded Rectangle 46"/>
          <p:cNvSpPr/>
          <p:nvPr/>
        </p:nvSpPr>
        <p:spPr>
          <a:xfrm>
            <a:off x="548640" y="5669280"/>
            <a:ext cx="11064240" cy="502920"/>
          </a:xfrm>
          <a:prstGeom prst="roundRect">
            <a:avLst>
              <a:gd name="adj" fmla="val 6000"/>
            </a:avLst>
          </a:prstGeom>
          <a:solidFill>
            <a:srgbClr val="F4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8" name="TextBox 47"/>
          <p:cNvSpPr txBox="1"/>
          <p:nvPr/>
        </p:nvSpPr>
        <p:spPr>
          <a:xfrm>
            <a:off x="731520" y="5669280"/>
            <a:ext cx="10698480" cy="502920"/>
          </a:xfrm>
          <a:prstGeom prst="rect">
            <a:avLst/>
          </a:prstGeom>
          <a:noFill/>
        </p:spPr>
        <p:txBody>
          <a:bodyPr wrap="square" lIns="0" tIns="0" rIns="0" bIns="0" anchor="ctr">
            <a:spAutoFit/>
          </a:bodyPr>
          <a:lstStyle/>
          <a:p>
            <a:pPr algn="l">
              <a:spcAft>
                <a:spcPts val="400"/>
              </a:spcAft>
            </a:pPr>
            <a:r>
              <a:rPr sz="1200" b="1" i="0">
                <a:solidFill>
                  <a:srgbClr val="1A1A1A"/>
                </a:solidFill>
                <a:latin typeface="Calibri"/>
              </a:rPr>
              <a:t>Cross-cutting: </a:t>
            </a:r>
            <a:r>
              <a:rPr sz="1200" b="0" i="0">
                <a:solidFill>
                  <a:srgbClr val="1A1A1A"/>
                </a:solidFill>
                <a:latin typeface="Calibri"/>
              </a:rPr>
              <a:t>OpenTelemetry tracing per candidate · token + sandbox cost per run · versioned prompts, model and rules · immutable audit log</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ection"/>
          <p:cNvSpPr txBox="1"/>
          <p:nvPr/>
        </p:nvSpPr>
        <p:spPr>
          <a:xfrm>
            <a:off x="548640" y="292608"/>
            <a:ext cx="8229600" cy="274320"/>
          </a:xfrm>
          <a:prstGeom prst="rect">
            <a:avLst/>
          </a:prstGeom>
          <a:noFill/>
        </p:spPr>
        <p:txBody>
          <a:bodyPr wrap="square" lIns="0" tIns="0" rIns="0" bIns="0" anchor="t">
            <a:spAutoFit/>
          </a:bodyPr>
          <a:lstStyle/>
          <a:p>
            <a:pPr algn="l">
              <a:spcAft>
                <a:spcPts val="400"/>
              </a:spcAft>
            </a:pPr>
            <a:r>
              <a:rPr sz="1100" b="1" i="0">
                <a:solidFill>
                  <a:srgbClr val="046A38"/>
                </a:solidFill>
                <a:latin typeface="Arial"/>
              </a:rPr>
              <a:t>3 · SOLUTION</a:t>
            </a:r>
          </a:p>
        </p:txBody>
      </p:sp>
      <p:sp>
        <p:nvSpPr>
          <p:cNvPr id="3" name="Title"/>
          <p:cNvSpPr txBox="1"/>
          <p:nvPr/>
        </p:nvSpPr>
        <p:spPr>
          <a:xfrm>
            <a:off x="548640" y="548640"/>
            <a:ext cx="11064240" cy="868680"/>
          </a:xfrm>
          <a:prstGeom prst="rect">
            <a:avLst/>
          </a:prstGeom>
          <a:noFill/>
        </p:spPr>
        <p:txBody>
          <a:bodyPr wrap="square" lIns="0" tIns="0" rIns="0" bIns="0" anchor="t">
            <a:spAutoFit/>
          </a:bodyPr>
          <a:lstStyle/>
          <a:p>
            <a:pPr algn="l">
              <a:spcAft>
                <a:spcPts val="400"/>
              </a:spcAft>
            </a:pPr>
            <a:r>
              <a:rPr sz="2800" b="1" i="0">
                <a:solidFill>
                  <a:srgbClr val="1A1A1A"/>
                </a:solidFill>
                <a:latin typeface="Arial"/>
              </a:rPr>
              <a:t>RuleForge plugs into CloudGuard's existing stack and stays off the scan path</a:t>
            </a:r>
          </a:p>
        </p:txBody>
      </p:sp>
      <p:sp>
        <p:nvSpPr>
          <p:cNvPr id="5" name="SlideNo"/>
          <p:cNvSpPr txBox="1"/>
          <p:nvPr/>
        </p:nvSpPr>
        <p:spPr>
          <a:xfrm>
            <a:off x="11064240" y="6355080"/>
            <a:ext cx="576072" cy="320040"/>
          </a:xfrm>
          <a:prstGeom prst="rect">
            <a:avLst/>
          </a:prstGeom>
          <a:noFill/>
        </p:spPr>
        <p:txBody>
          <a:bodyPr wrap="square" lIns="0" tIns="0" rIns="0" bIns="0" anchor="t">
            <a:spAutoFit/>
          </a:bodyPr>
          <a:lstStyle/>
          <a:p>
            <a:pPr algn="r">
              <a:spcAft>
                <a:spcPts val="400"/>
              </a:spcAft>
            </a:pPr>
            <a:r>
              <a:rPr sz="1000" b="0" i="0">
                <a:solidFill>
                  <a:srgbClr val="53565A"/>
                </a:solidFill>
                <a:latin typeface="Calibri"/>
              </a:rPr>
              <a:t>10</a:t>
            </a:r>
          </a:p>
        </p:txBody>
      </p:sp>
      <p:graphicFrame>
        <p:nvGraphicFramePr>
          <p:cNvPr id="6" name="Table 5"/>
          <p:cNvGraphicFramePr>
            <a:graphicFrameLocks noGrp="1"/>
          </p:cNvGraphicFramePr>
          <p:nvPr/>
        </p:nvGraphicFramePr>
        <p:xfrm>
          <a:off x="548640" y="1691640"/>
          <a:ext cx="11064240" cy="3803904"/>
        </p:xfrm>
        <a:graphic>
          <a:graphicData uri="http://schemas.openxmlformats.org/drawingml/2006/table">
            <a:tbl>
              <a:tblPr firstRow="1" bandRow="1">
                <a:tableStyleId>{5940675A-B579-460E-94D1-54222C63F5DA}</a:tableStyleId>
              </a:tblPr>
              <a:tblGrid>
                <a:gridCol w="2743200">
                  <a:extLst>
                    <a:ext uri="{9D8B030D-6E8A-4147-A177-3AD203B41FA5}">
                      <a16:colId xmlns:a16="http://schemas.microsoft.com/office/drawing/2014/main" val="20000"/>
                    </a:ext>
                  </a:extLst>
                </a:gridCol>
                <a:gridCol w="5852160">
                  <a:extLst>
                    <a:ext uri="{9D8B030D-6E8A-4147-A177-3AD203B41FA5}">
                      <a16:colId xmlns:a16="http://schemas.microsoft.com/office/drawing/2014/main" val="20001"/>
                    </a:ext>
                  </a:extLst>
                </a:gridCol>
                <a:gridCol w="2468880">
                  <a:extLst>
                    <a:ext uri="{9D8B030D-6E8A-4147-A177-3AD203B41FA5}">
                      <a16:colId xmlns:a16="http://schemas.microsoft.com/office/drawing/2014/main" val="20002"/>
                    </a:ext>
                  </a:extLst>
                </a:gridCol>
              </a:tblGrid>
              <a:tr h="475488">
                <a:tc>
                  <a:txBody>
                    <a:bodyPr/>
                    <a:lstStyle/>
                    <a:p>
                      <a:r>
                        <a:rPr sz="1300" b="1">
                          <a:solidFill>
                            <a:srgbClr val="FFFFFF"/>
                          </a:solidFill>
                          <a:latin typeface="Calibri"/>
                        </a:rPr>
                        <a:t>System</a:t>
                      </a:r>
                    </a:p>
                  </a:txBody>
                  <a:tcPr marL="73152" marR="73152" marT="36576" marB="36576" anchor="ctr">
                    <a:solidFill>
                      <a:srgbClr val="0D0D0D"/>
                    </a:solidFill>
                  </a:tcPr>
                </a:tc>
                <a:tc>
                  <a:txBody>
                    <a:bodyPr/>
                    <a:lstStyle/>
                    <a:p>
                      <a:r>
                        <a:rPr sz="1300" b="1">
                          <a:solidFill>
                            <a:srgbClr val="FFFFFF"/>
                          </a:solidFill>
                          <a:latin typeface="Calibri"/>
                        </a:rPr>
                        <a:t>How RuleForge uses it</a:t>
                      </a:r>
                    </a:p>
                  </a:txBody>
                  <a:tcPr marL="73152" marR="73152" marT="36576" marB="36576" anchor="ctr">
                    <a:solidFill>
                      <a:srgbClr val="0D0D0D"/>
                    </a:solidFill>
                  </a:tcPr>
                </a:tc>
                <a:tc>
                  <a:txBody>
                    <a:bodyPr/>
                    <a:lstStyle/>
                    <a:p>
                      <a:r>
                        <a:rPr sz="1300" b="1">
                          <a:solidFill>
                            <a:srgbClr val="FFFFFF"/>
                          </a:solidFill>
                          <a:latin typeface="Calibri"/>
                        </a:rPr>
                        <a:t>Access</a:t>
                      </a:r>
                    </a:p>
                  </a:txBody>
                  <a:tcPr marL="73152" marR="73152" marT="36576" marB="36576" anchor="ctr">
                    <a:solidFill>
                      <a:srgbClr val="0D0D0D"/>
                    </a:solidFill>
                  </a:tcPr>
                </a:tc>
                <a:extLst>
                  <a:ext uri="{0D108BD9-81ED-4DB2-BD59-A6C34878D82A}">
                    <a16:rowId xmlns:a16="http://schemas.microsoft.com/office/drawing/2014/main" val="10000"/>
                  </a:ext>
                </a:extLst>
              </a:tr>
              <a:tr h="475488">
                <a:tc>
                  <a:txBody>
                    <a:bodyPr/>
                    <a:lstStyle/>
                    <a:p>
                      <a:r>
                        <a:rPr sz="1300" b="1">
                          <a:solidFill>
                            <a:srgbClr val="1A1A1A"/>
                          </a:solidFill>
                          <a:latin typeface="Calibri"/>
                        </a:rPr>
                        <a:t>Rule library (Git, house format)</a:t>
                      </a:r>
                    </a:p>
                  </a:txBody>
                  <a:tcPr marL="73152" marR="73152" marT="36576" marB="36576" anchor="ctr">
                    <a:solidFill>
                      <a:srgbClr val="FFFFFF"/>
                    </a:solidFill>
                  </a:tcPr>
                </a:tc>
                <a:tc>
                  <a:txBody>
                    <a:bodyPr/>
                    <a:lstStyle/>
                    <a:p>
                      <a:r>
                        <a:rPr sz="1300">
                          <a:solidFill>
                            <a:srgbClr val="1A1A1A"/>
                          </a:solidFill>
                          <a:latin typeface="Calibri"/>
                        </a:rPr>
                        <a:t>Few-shot examples and dedupe; drafts arrive as pull requests with the evidence pack</a:t>
                      </a:r>
                    </a:p>
                  </a:txBody>
                  <a:tcPr marL="73152" marR="73152" marT="36576" marB="36576" anchor="ctr">
                    <a:solidFill>
                      <a:srgbClr val="FFFFFF"/>
                    </a:solidFill>
                  </a:tcPr>
                </a:tc>
                <a:tc>
                  <a:txBody>
                    <a:bodyPr/>
                    <a:lstStyle/>
                    <a:p>
                      <a:r>
                        <a:rPr sz="1300">
                          <a:solidFill>
                            <a:srgbClr val="1A1A1A"/>
                          </a:solidFill>
                          <a:latin typeface="Calibri"/>
                        </a:rPr>
                        <a:t>Read + open PRs</a:t>
                      </a:r>
                    </a:p>
                  </a:txBody>
                  <a:tcPr marL="73152" marR="73152" marT="36576" marB="36576" anchor="ctr">
                    <a:solidFill>
                      <a:srgbClr val="FFFFFF"/>
                    </a:solidFill>
                  </a:tcPr>
                </a:tc>
                <a:extLst>
                  <a:ext uri="{0D108BD9-81ED-4DB2-BD59-A6C34878D82A}">
                    <a16:rowId xmlns:a16="http://schemas.microsoft.com/office/drawing/2014/main" val="10001"/>
                  </a:ext>
                </a:extLst>
              </a:tr>
              <a:tr h="475488">
                <a:tc>
                  <a:txBody>
                    <a:bodyPr/>
                    <a:lstStyle/>
                    <a:p>
                      <a:r>
                        <a:rPr sz="1300" b="1">
                          <a:solidFill>
                            <a:srgbClr val="1A1A1A"/>
                          </a:solidFill>
                          <a:latin typeface="Calibri"/>
                        </a:rPr>
                        <a:t>CI/CD pipeline</a:t>
                      </a:r>
                    </a:p>
                  </a:txBody>
                  <a:tcPr marL="73152" marR="73152" marT="36576" marB="36576" anchor="ctr">
                    <a:solidFill>
                      <a:srgbClr val="F4F5F2"/>
                    </a:solidFill>
                  </a:tcPr>
                </a:tc>
                <a:tc>
                  <a:txBody>
                    <a:bodyPr/>
                    <a:lstStyle/>
                    <a:p>
                      <a:r>
                        <a:rPr sz="1300">
                          <a:solidFill>
                            <a:srgbClr val="1A1A1A"/>
                          </a:solidFill>
                          <a:latin typeface="Calibri"/>
                        </a:rPr>
                        <a:t>Schema checks, golden-set gate and existing rule tests run on every draft PR</a:t>
                      </a:r>
                    </a:p>
                  </a:txBody>
                  <a:tcPr marL="73152" marR="73152" marT="36576" marB="36576" anchor="ctr">
                    <a:solidFill>
                      <a:srgbClr val="F4F5F2"/>
                    </a:solidFill>
                  </a:tcPr>
                </a:tc>
                <a:tc>
                  <a:txBody>
                    <a:bodyPr/>
                    <a:lstStyle/>
                    <a:p>
                      <a:r>
                        <a:rPr sz="1300">
                          <a:solidFill>
                            <a:srgbClr val="1A1A1A"/>
                          </a:solidFill>
                          <a:latin typeface="Calibri"/>
                        </a:rPr>
                        <a:t>Same pipeline as SME rules</a:t>
                      </a:r>
                    </a:p>
                  </a:txBody>
                  <a:tcPr marL="73152" marR="73152" marT="36576" marB="36576" anchor="ctr">
                    <a:solidFill>
                      <a:srgbClr val="F4F5F2"/>
                    </a:solidFill>
                  </a:tcPr>
                </a:tc>
                <a:extLst>
                  <a:ext uri="{0D108BD9-81ED-4DB2-BD59-A6C34878D82A}">
                    <a16:rowId xmlns:a16="http://schemas.microsoft.com/office/drawing/2014/main" val="10002"/>
                  </a:ext>
                </a:extLst>
              </a:tr>
              <a:tr h="475488">
                <a:tc>
                  <a:txBody>
                    <a:bodyPr/>
                    <a:lstStyle/>
                    <a:p>
                      <a:r>
                        <a:rPr sz="1300" b="1">
                          <a:solidFill>
                            <a:srgbClr val="1A1A1A"/>
                          </a:solidFill>
                          <a:latin typeface="Calibri"/>
                        </a:rPr>
                        <a:t>Sandbox AWS Organization (new)</a:t>
                      </a:r>
                    </a:p>
                  </a:txBody>
                  <a:tcPr marL="73152" marR="73152" marT="36576" marB="36576" anchor="ctr">
                    <a:solidFill>
                      <a:srgbClr val="FFFFFF"/>
                    </a:solidFill>
                  </a:tcPr>
                </a:tc>
                <a:tc>
                  <a:txBody>
                    <a:bodyPr/>
                    <a:lstStyle/>
                    <a:p>
                      <a:r>
                        <a:rPr sz="1300">
                          <a:solidFill>
                            <a:srgbClr val="1A1A1A"/>
                          </a:solidFill>
                          <a:latin typeface="Calibri"/>
                        </a:rPr>
                        <a:t>Terraform fixtures per run; standing accounts for root- and org-level rules that cannot be spun up</a:t>
                      </a:r>
                    </a:p>
                  </a:txBody>
                  <a:tcPr marL="73152" marR="73152" marT="36576" marB="36576" anchor="ctr">
                    <a:solidFill>
                      <a:srgbClr val="FFFFFF"/>
                    </a:solidFill>
                  </a:tcPr>
                </a:tc>
                <a:tc>
                  <a:txBody>
                    <a:bodyPr/>
                    <a:lstStyle/>
                    <a:p>
                      <a:r>
                        <a:rPr sz="1300">
                          <a:solidFill>
                            <a:srgbClr val="1A1A1A"/>
                          </a:solidFill>
                          <a:latin typeface="Calibri"/>
                        </a:rPr>
                        <a:t>Isolated, no customer data</a:t>
                      </a:r>
                    </a:p>
                  </a:txBody>
                  <a:tcPr marL="73152" marR="73152" marT="36576" marB="36576" anchor="ctr">
                    <a:solidFill>
                      <a:srgbClr val="FFFFFF"/>
                    </a:solidFill>
                  </a:tcPr>
                </a:tc>
                <a:extLst>
                  <a:ext uri="{0D108BD9-81ED-4DB2-BD59-A6C34878D82A}">
                    <a16:rowId xmlns:a16="http://schemas.microsoft.com/office/drawing/2014/main" val="10003"/>
                  </a:ext>
                </a:extLst>
              </a:tr>
              <a:tr h="475488">
                <a:tc>
                  <a:txBody>
                    <a:bodyPr/>
                    <a:lstStyle/>
                    <a:p>
                      <a:r>
                        <a:rPr sz="1300" b="1">
                          <a:solidFill>
                            <a:srgbClr val="1A1A1A"/>
                          </a:solidFill>
                          <a:latin typeface="Calibri"/>
                        </a:rPr>
                        <a:t>Retrieval index (new)</a:t>
                      </a:r>
                    </a:p>
                  </a:txBody>
                  <a:tcPr marL="73152" marR="73152" marT="36576" marB="36576" anchor="ctr">
                    <a:solidFill>
                      <a:srgbClr val="F4F5F2"/>
                    </a:solidFill>
                  </a:tcPr>
                </a:tc>
                <a:tc>
                  <a:txBody>
                    <a:bodyPr/>
                    <a:lstStyle/>
                    <a:p>
                      <a:r>
                        <a:rPr sz="1300">
                          <a:solidFill>
                            <a:srgbClr val="1A1A1A"/>
                          </a:solidFill>
                          <a:latin typeface="Calibri"/>
                        </a:rPr>
                        <a:t>CIS text, AWS docs, botocore models and existing rules, chunked with source URLs</a:t>
                      </a:r>
                    </a:p>
                  </a:txBody>
                  <a:tcPr marL="73152" marR="73152" marT="36576" marB="36576" anchor="ctr">
                    <a:solidFill>
                      <a:srgbClr val="F4F5F2"/>
                    </a:solidFill>
                  </a:tcPr>
                </a:tc>
                <a:tc>
                  <a:txBody>
                    <a:bodyPr/>
                    <a:lstStyle/>
                    <a:p>
                      <a:r>
                        <a:rPr sz="1300">
                          <a:solidFill>
                            <a:srgbClr val="1A1A1A"/>
                          </a:solidFill>
                          <a:latin typeface="Calibri"/>
                        </a:rPr>
                        <a:t>Read-only</a:t>
                      </a:r>
                    </a:p>
                  </a:txBody>
                  <a:tcPr marL="73152" marR="73152" marT="36576" marB="36576" anchor="ctr">
                    <a:solidFill>
                      <a:srgbClr val="F4F5F2"/>
                    </a:solidFill>
                  </a:tcPr>
                </a:tc>
                <a:extLst>
                  <a:ext uri="{0D108BD9-81ED-4DB2-BD59-A6C34878D82A}">
                    <a16:rowId xmlns:a16="http://schemas.microsoft.com/office/drawing/2014/main" val="10004"/>
                  </a:ext>
                </a:extLst>
              </a:tr>
              <a:tr h="475488">
                <a:tc>
                  <a:txBody>
                    <a:bodyPr/>
                    <a:lstStyle/>
                    <a:p>
                      <a:r>
                        <a:rPr sz="1300" b="1">
                          <a:solidFill>
                            <a:srgbClr val="1A1A1A"/>
                          </a:solidFill>
                          <a:latin typeface="Calibri"/>
                        </a:rPr>
                        <a:t>Scan telemetry</a:t>
                      </a:r>
                    </a:p>
                  </a:txBody>
                  <a:tcPr marL="73152" marR="73152" marT="36576" marB="36576" anchor="ctr">
                    <a:solidFill>
                      <a:srgbClr val="FFFFFF"/>
                    </a:solidFill>
                  </a:tcPr>
                </a:tc>
                <a:tc>
                  <a:txBody>
                    <a:bodyPr/>
                    <a:lstStyle/>
                    <a:p>
                      <a:r>
                        <a:rPr sz="1300">
                          <a:solidFill>
                            <a:srgbClr val="1A1A1A"/>
                          </a:solidFill>
                          <a:latin typeface="Calibri"/>
                        </a:rPr>
                        <a:t>Aggregated resource counts to rank candidates by customer footprint</a:t>
                      </a:r>
                    </a:p>
                  </a:txBody>
                  <a:tcPr marL="73152" marR="73152" marT="36576" marB="36576" anchor="ctr">
                    <a:solidFill>
                      <a:srgbClr val="FFFFFF"/>
                    </a:solidFill>
                  </a:tcPr>
                </a:tc>
                <a:tc>
                  <a:txBody>
                    <a:bodyPr/>
                    <a:lstStyle/>
                    <a:p>
                      <a:r>
                        <a:rPr sz="1300">
                          <a:solidFill>
                            <a:srgbClr val="1A1A1A"/>
                          </a:solidFill>
                          <a:latin typeface="Calibri"/>
                        </a:rPr>
                        <a:t>Aggregated, read-only</a:t>
                      </a:r>
                    </a:p>
                  </a:txBody>
                  <a:tcPr marL="73152" marR="73152" marT="36576" marB="36576" anchor="ctr">
                    <a:solidFill>
                      <a:srgbClr val="FFFFFF"/>
                    </a:solidFill>
                  </a:tcPr>
                </a:tc>
                <a:extLst>
                  <a:ext uri="{0D108BD9-81ED-4DB2-BD59-A6C34878D82A}">
                    <a16:rowId xmlns:a16="http://schemas.microsoft.com/office/drawing/2014/main" val="10005"/>
                  </a:ext>
                </a:extLst>
              </a:tr>
              <a:tr h="475488">
                <a:tc>
                  <a:txBody>
                    <a:bodyPr/>
                    <a:lstStyle/>
                    <a:p>
                      <a:r>
                        <a:rPr sz="1300" b="1">
                          <a:solidFill>
                            <a:srgbClr val="1A1A1A"/>
                          </a:solidFill>
                          <a:latin typeface="Calibri"/>
                        </a:rPr>
                        <a:t>Feature flags, Jira, SSO</a:t>
                      </a:r>
                    </a:p>
                  </a:txBody>
                  <a:tcPr marL="73152" marR="73152" marT="36576" marB="36576" anchor="ctr">
                    <a:solidFill>
                      <a:srgbClr val="FFFFFF"/>
                    </a:solidFill>
                  </a:tcPr>
                </a:tc>
                <a:tc>
                  <a:txBody>
                    <a:bodyPr/>
                    <a:lstStyle/>
                    <a:p>
                      <a:r>
                        <a:rPr sz="1300">
                          <a:solidFill>
                            <a:srgbClr val="1A1A1A"/>
                          </a:solidFill>
                          <a:latin typeface="Calibri"/>
                        </a:rPr>
                        <a:t>Flag per AI-drafted rule and kill switch; SME review queue; reviewer identity</a:t>
                      </a:r>
                    </a:p>
                  </a:txBody>
                  <a:tcPr marL="73152" marR="73152" marT="36576" marB="36576" anchor="ctr">
                    <a:solidFill>
                      <a:srgbClr val="FFFFFF"/>
                    </a:solidFill>
                  </a:tcPr>
                </a:tc>
                <a:tc>
                  <a:txBody>
                    <a:bodyPr/>
                    <a:lstStyle/>
                    <a:p>
                      <a:r>
                        <a:rPr sz="1300">
                          <a:solidFill>
                            <a:srgbClr val="1A1A1A"/>
                          </a:solidFill>
                          <a:latin typeface="Calibri"/>
                        </a:rPr>
                        <a:t>Role-based</a:t>
                      </a:r>
                    </a:p>
                  </a:txBody>
                  <a:tcPr marL="73152" marR="73152" marT="36576" marB="36576" anchor="ctr">
                    <a:solidFill>
                      <a:srgbClr val="FFFFFF"/>
                    </a:solidFill>
                  </a:tcPr>
                </a:tc>
                <a:extLst>
                  <a:ext uri="{0D108BD9-81ED-4DB2-BD59-A6C34878D82A}">
                    <a16:rowId xmlns:a16="http://schemas.microsoft.com/office/drawing/2014/main" val="10006"/>
                  </a:ext>
                </a:extLst>
              </a:tr>
              <a:tr h="475488">
                <a:tc>
                  <a:txBody>
                    <a:bodyPr/>
                    <a:lstStyle/>
                    <a:p>
                      <a:r>
                        <a:rPr sz="1300" b="1">
                          <a:solidFill>
                            <a:srgbClr val="1A1A1A"/>
                          </a:solidFill>
                          <a:latin typeface="Calibri"/>
                        </a:rPr>
                        <a:t>Audit + evidence store (new)</a:t>
                      </a:r>
                    </a:p>
                  </a:txBody>
                  <a:tcPr marL="73152" marR="73152" marT="36576" marB="36576" anchor="ctr">
                    <a:solidFill>
                      <a:srgbClr val="FFFFFF"/>
                    </a:solidFill>
                  </a:tcPr>
                </a:tc>
                <a:tc>
                  <a:txBody>
                    <a:bodyPr/>
                    <a:lstStyle/>
                    <a:p>
                      <a:r>
                        <a:rPr sz="1300">
                          <a:solidFill>
                            <a:srgbClr val="1A1A1A"/>
                          </a:solidFill>
                          <a:latin typeface="Calibri"/>
                        </a:rPr>
                        <a:t>Prompt, model version, citations, test results and approver for every rule</a:t>
                      </a:r>
                    </a:p>
                  </a:txBody>
                  <a:tcPr marL="73152" marR="73152" marT="36576" marB="36576" anchor="ctr">
                    <a:solidFill>
                      <a:srgbClr val="FFFFFF"/>
                    </a:solidFill>
                  </a:tcPr>
                </a:tc>
                <a:tc>
                  <a:txBody>
                    <a:bodyPr/>
                    <a:lstStyle/>
                    <a:p>
                      <a:r>
                        <a:rPr sz="1300">
                          <a:solidFill>
                            <a:srgbClr val="1A1A1A"/>
                          </a:solidFill>
                          <a:latin typeface="Calibri"/>
                        </a:rPr>
                        <a:t>Append-only</a:t>
                      </a:r>
                    </a:p>
                  </a:txBody>
                  <a:tcPr marL="73152" marR="73152" marT="36576" marB="36576" anchor="ctr">
                    <a:solidFill>
                      <a:srgbClr val="FFFFFF"/>
                    </a:solid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ection"/>
          <p:cNvSpPr txBox="1"/>
          <p:nvPr/>
        </p:nvSpPr>
        <p:spPr>
          <a:xfrm>
            <a:off x="548640" y="292608"/>
            <a:ext cx="8229600" cy="274320"/>
          </a:xfrm>
          <a:prstGeom prst="rect">
            <a:avLst/>
          </a:prstGeom>
          <a:noFill/>
        </p:spPr>
        <p:txBody>
          <a:bodyPr wrap="square" lIns="0" tIns="0" rIns="0" bIns="0" anchor="t">
            <a:spAutoFit/>
          </a:bodyPr>
          <a:lstStyle/>
          <a:p>
            <a:pPr algn="l">
              <a:spcAft>
                <a:spcPts val="400"/>
              </a:spcAft>
            </a:pPr>
            <a:r>
              <a:rPr sz="1100" b="1" i="0">
                <a:solidFill>
                  <a:srgbClr val="046A38"/>
                </a:solidFill>
                <a:latin typeface="Arial"/>
              </a:rPr>
              <a:t>3 · SOLUTION</a:t>
            </a:r>
          </a:p>
        </p:txBody>
      </p:sp>
      <p:sp>
        <p:nvSpPr>
          <p:cNvPr id="3" name="Title"/>
          <p:cNvSpPr txBox="1"/>
          <p:nvPr/>
        </p:nvSpPr>
        <p:spPr>
          <a:xfrm>
            <a:off x="548640" y="548640"/>
            <a:ext cx="11064240" cy="868680"/>
          </a:xfrm>
          <a:prstGeom prst="rect">
            <a:avLst/>
          </a:prstGeom>
          <a:noFill/>
        </p:spPr>
        <p:txBody>
          <a:bodyPr wrap="square" lIns="0" tIns="0" rIns="0" bIns="0" anchor="t">
            <a:spAutoFit/>
          </a:bodyPr>
          <a:lstStyle/>
          <a:p>
            <a:pPr algn="l">
              <a:spcAft>
                <a:spcPts val="400"/>
              </a:spcAft>
            </a:pPr>
            <a:r>
              <a:rPr sz="2800" b="1" i="0">
                <a:solidFill>
                  <a:srgbClr val="1A1A1A"/>
                </a:solidFill>
                <a:latin typeface="Arial"/>
              </a:rPr>
              <a:t>How the agents are prompted and orchestrated to reason reliably</a:t>
            </a:r>
          </a:p>
        </p:txBody>
      </p:sp>
      <p:sp>
        <p:nvSpPr>
          <p:cNvPr id="5" name="SlideNo"/>
          <p:cNvSpPr txBox="1"/>
          <p:nvPr/>
        </p:nvSpPr>
        <p:spPr>
          <a:xfrm>
            <a:off x="11064240" y="6355080"/>
            <a:ext cx="576072" cy="320040"/>
          </a:xfrm>
          <a:prstGeom prst="rect">
            <a:avLst/>
          </a:prstGeom>
          <a:noFill/>
        </p:spPr>
        <p:txBody>
          <a:bodyPr wrap="square" lIns="0" tIns="0" rIns="0" bIns="0" anchor="t">
            <a:spAutoFit/>
          </a:bodyPr>
          <a:lstStyle/>
          <a:p>
            <a:pPr algn="r">
              <a:spcAft>
                <a:spcPts val="400"/>
              </a:spcAft>
            </a:pPr>
            <a:r>
              <a:rPr sz="1000" b="0" i="0">
                <a:solidFill>
                  <a:srgbClr val="53565A"/>
                </a:solidFill>
                <a:latin typeface="Calibri"/>
              </a:rPr>
              <a:t>11</a:t>
            </a:r>
          </a:p>
        </p:txBody>
      </p:sp>
      <p:sp>
        <p:nvSpPr>
          <p:cNvPr id="6" name="TextBox 5"/>
          <p:cNvSpPr txBox="1"/>
          <p:nvPr/>
        </p:nvSpPr>
        <p:spPr>
          <a:xfrm>
            <a:off x="548640" y="1737360"/>
            <a:ext cx="6035040" cy="4389120"/>
          </a:xfrm>
          <a:prstGeom prst="rect">
            <a:avLst/>
          </a:prstGeom>
          <a:noFill/>
        </p:spPr>
        <p:txBody>
          <a:bodyPr wrap="square" lIns="0" tIns="0" rIns="0" bIns="0">
            <a:spAutoFit/>
          </a:bodyPr>
          <a:lstStyle/>
          <a:p>
            <a:pPr marL="201168" indent="-201168">
              <a:spcAft>
                <a:spcPts val="900"/>
              </a:spcAft>
              <a:buChar char="•"/>
            </a:pPr>
            <a:r>
              <a:rPr sz="1500" b="1">
                <a:solidFill>
                  <a:srgbClr val="1A1A1A"/>
                </a:solidFill>
                <a:latin typeface="Calibri"/>
              </a:rPr>
              <a:t>Workflow, not a free-roaming agent. </a:t>
            </a:r>
            <a:r>
              <a:rPr sz="1500" b="0">
                <a:solidFill>
                  <a:srgbClr val="1A1A1A"/>
                </a:solidFill>
                <a:latin typeface="Calibri"/>
              </a:rPr>
              <a:t>Code fixes the order of steps; each LLM call has one job.</a:t>
            </a:r>
          </a:p>
          <a:p>
            <a:pPr marL="201168" indent="-201168">
              <a:spcAft>
                <a:spcPts val="900"/>
              </a:spcAft>
              <a:buChar char="•"/>
            </a:pPr>
            <a:r>
              <a:rPr sz="1500" b="1">
                <a:solidFill>
                  <a:srgbClr val="1A1A1A"/>
                </a:solidFill>
                <a:latin typeface="Calibri"/>
              </a:rPr>
              <a:t>Structured outputs. </a:t>
            </a:r>
            <a:r>
              <a:rPr sz="1500" b="0">
                <a:solidFill>
                  <a:srgbClr val="1A1A1A"/>
                </a:solidFill>
                <a:latin typeface="Calibri"/>
              </a:rPr>
              <a:t>Every agent returns JSON against a schema; invalid output is rejected and retried.</a:t>
            </a:r>
          </a:p>
          <a:p>
            <a:pPr marL="201168" indent="-201168">
              <a:spcAft>
                <a:spcPts val="900"/>
              </a:spcAft>
              <a:buChar char="•"/>
            </a:pPr>
            <a:r>
              <a:rPr sz="1500" b="1">
                <a:solidFill>
                  <a:srgbClr val="1A1A1A"/>
                </a:solidFill>
                <a:latin typeface="Calibri"/>
              </a:rPr>
              <a:t>Citation grounding. </a:t>
            </a:r>
            <a:r>
              <a:rPr sz="1500" b="0">
                <a:solidFill>
                  <a:srgbClr val="1A1A1A"/>
                </a:solidFill>
                <a:latin typeface="Calibri"/>
              </a:rPr>
              <a:t>Research output must quote the source span it relies on.</a:t>
            </a:r>
          </a:p>
          <a:p>
            <a:pPr marL="201168" indent="-201168">
              <a:spcAft>
                <a:spcPts val="900"/>
              </a:spcAft>
              <a:buChar char="•"/>
            </a:pPr>
            <a:r>
              <a:rPr sz="1500" b="1">
                <a:solidFill>
                  <a:srgbClr val="1A1A1A"/>
                </a:solidFill>
                <a:latin typeface="Calibri"/>
              </a:rPr>
              <a:t>Few-shot from house rules. </a:t>
            </a:r>
            <a:r>
              <a:rPr sz="1500" b="0">
                <a:solidFill>
                  <a:srgbClr val="1A1A1A"/>
                </a:solidFill>
                <a:latin typeface="Calibri"/>
              </a:rPr>
              <a:t>The existing several hundred SME-written rules are the examples.</a:t>
            </a:r>
          </a:p>
          <a:p>
            <a:pPr marL="201168" indent="-201168">
              <a:spcAft>
                <a:spcPts val="900"/>
              </a:spcAft>
              <a:buChar char="•"/>
            </a:pPr>
            <a:r>
              <a:rPr sz="1500" b="1">
                <a:solidFill>
                  <a:srgbClr val="1A1A1A"/>
                </a:solidFill>
                <a:latin typeface="Calibri"/>
              </a:rPr>
              <a:t>LLM never grades itself. </a:t>
            </a:r>
            <a:r>
              <a:rPr sz="1500" b="0">
                <a:solidFill>
                  <a:srgbClr val="1A1A1A"/>
                </a:solidFill>
                <a:latin typeface="Calibri"/>
              </a:rPr>
              <a:t>Pass/fail comes from the sandbox test harness.</a:t>
            </a:r>
          </a:p>
          <a:p>
            <a:pPr marL="201168" indent="-201168">
              <a:spcAft>
                <a:spcPts val="900"/>
              </a:spcAft>
              <a:buChar char="•"/>
            </a:pPr>
            <a:r>
              <a:rPr sz="1500" b="1">
                <a:solidFill>
                  <a:srgbClr val="1A1A1A"/>
                </a:solidFill>
                <a:latin typeface="Calibri"/>
              </a:rPr>
              <a:t>Least privilege (OWASP LLM06). </a:t>
            </a:r>
            <a:r>
              <a:rPr sz="1500" b="0">
                <a:solidFill>
                  <a:srgbClr val="1A1A1A"/>
                </a:solidFill>
                <a:latin typeface="Calibri"/>
              </a:rPr>
              <a:t>Agents read docs and write drafts; no production credentials.</a:t>
            </a:r>
          </a:p>
          <a:p>
            <a:pPr marL="201168" indent="-201168">
              <a:spcAft>
                <a:spcPts val="900"/>
              </a:spcAft>
              <a:buChar char="•"/>
            </a:pPr>
            <a:r>
              <a:rPr sz="1500" b="1">
                <a:solidFill>
                  <a:srgbClr val="1A1A1A"/>
                </a:solidFill>
                <a:latin typeface="Calibri"/>
              </a:rPr>
              <a:t>Ingested text is untrusted (OWASP LLM01). </a:t>
            </a:r>
            <a:r>
              <a:rPr sz="1500" b="0">
                <a:solidFill>
                  <a:srgbClr val="1A1A1A"/>
                </a:solidFill>
                <a:latin typeface="Calibri"/>
              </a:rPr>
              <a:t>Web content is passed as data, never as instructions.</a:t>
            </a:r>
          </a:p>
        </p:txBody>
      </p:sp>
      <p:sp>
        <p:nvSpPr>
          <p:cNvPr id="7" name="TextBox 6"/>
          <p:cNvSpPr txBox="1"/>
          <p:nvPr/>
        </p:nvSpPr>
        <p:spPr>
          <a:xfrm>
            <a:off x="6949440" y="1737360"/>
            <a:ext cx="4663440" cy="365760"/>
          </a:xfrm>
          <a:prstGeom prst="rect">
            <a:avLst/>
          </a:prstGeom>
          <a:noFill/>
        </p:spPr>
        <p:txBody>
          <a:bodyPr wrap="square" lIns="0" tIns="0" rIns="0" bIns="0" anchor="t">
            <a:spAutoFit/>
          </a:bodyPr>
          <a:lstStyle/>
          <a:p>
            <a:pPr algn="l">
              <a:spcAft>
                <a:spcPts val="400"/>
              </a:spcAft>
            </a:pPr>
            <a:r>
              <a:rPr sz="1200" b="1" i="0">
                <a:solidFill>
                  <a:srgbClr val="046A38"/>
                </a:solidFill>
                <a:latin typeface="Arial"/>
              </a:rPr>
              <a:t>MODEL TIERING (EXAMPLE PROVIDER)</a:t>
            </a:r>
          </a:p>
        </p:txBody>
      </p:sp>
      <p:graphicFrame>
        <p:nvGraphicFramePr>
          <p:cNvPr id="8" name="Table 7"/>
          <p:cNvGraphicFramePr>
            <a:graphicFrameLocks noGrp="1"/>
          </p:cNvGraphicFramePr>
          <p:nvPr/>
        </p:nvGraphicFramePr>
        <p:xfrm>
          <a:off x="6949440" y="2148840"/>
          <a:ext cx="4663440" cy="1828800"/>
        </p:xfrm>
        <a:graphic>
          <a:graphicData uri="http://schemas.openxmlformats.org/drawingml/2006/table">
            <a:tbl>
              <a:tblPr firstRow="1" bandRow="1">
                <a:tableStyleId>{5940675A-B579-460E-94D1-54222C63F5DA}</a:tableStyleId>
              </a:tblPr>
              <a:tblGrid>
                <a:gridCol w="155448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gridCol w="1645920">
                  <a:extLst>
                    <a:ext uri="{9D8B030D-6E8A-4147-A177-3AD203B41FA5}">
                      <a16:colId xmlns:a16="http://schemas.microsoft.com/office/drawing/2014/main" val="20002"/>
                    </a:ext>
                  </a:extLst>
                </a:gridCol>
              </a:tblGrid>
              <a:tr h="457200">
                <a:tc>
                  <a:txBody>
                    <a:bodyPr/>
                    <a:lstStyle/>
                    <a:p>
                      <a:r>
                        <a:rPr sz="1200" b="1">
                          <a:solidFill>
                            <a:srgbClr val="FFFFFF"/>
                          </a:solidFill>
                          <a:latin typeface="Calibri"/>
                        </a:rPr>
                        <a:t>Stage</a:t>
                      </a:r>
                    </a:p>
                  </a:txBody>
                  <a:tcPr marL="73152" marR="73152" marT="36576" marB="36576" anchor="ctr">
                    <a:solidFill>
                      <a:srgbClr val="0D0D0D"/>
                    </a:solidFill>
                  </a:tcPr>
                </a:tc>
                <a:tc>
                  <a:txBody>
                    <a:bodyPr/>
                    <a:lstStyle/>
                    <a:p>
                      <a:r>
                        <a:rPr sz="1200" b="1">
                          <a:solidFill>
                            <a:srgbClr val="FFFFFF"/>
                          </a:solidFill>
                          <a:latin typeface="Calibri"/>
                        </a:rPr>
                        <a:t>Model tier</a:t>
                      </a:r>
                    </a:p>
                  </a:txBody>
                  <a:tcPr marL="73152" marR="73152" marT="36576" marB="36576" anchor="ctr">
                    <a:solidFill>
                      <a:srgbClr val="0D0D0D"/>
                    </a:solidFill>
                  </a:tcPr>
                </a:tc>
                <a:tc>
                  <a:txBody>
                    <a:bodyPr/>
                    <a:lstStyle/>
                    <a:p>
                      <a:r>
                        <a:rPr sz="1200" b="1">
                          <a:solidFill>
                            <a:srgbClr val="FFFFFF"/>
                          </a:solidFill>
                          <a:latin typeface="Calibri"/>
                        </a:rPr>
                        <a:t>Input / output $ per 1M tokens</a:t>
                      </a:r>
                    </a:p>
                  </a:txBody>
                  <a:tcPr marL="73152" marR="73152" marT="36576" marB="36576" anchor="ctr">
                    <a:solidFill>
                      <a:srgbClr val="0D0D0D"/>
                    </a:solidFill>
                  </a:tcPr>
                </a:tc>
                <a:extLst>
                  <a:ext uri="{0D108BD9-81ED-4DB2-BD59-A6C34878D82A}">
                    <a16:rowId xmlns:a16="http://schemas.microsoft.com/office/drawing/2014/main" val="10000"/>
                  </a:ext>
                </a:extLst>
              </a:tr>
              <a:tr h="457200">
                <a:tc>
                  <a:txBody>
                    <a:bodyPr/>
                    <a:lstStyle/>
                    <a:p>
                      <a:r>
                        <a:rPr sz="1200">
                          <a:solidFill>
                            <a:srgbClr val="1A1A1A"/>
                          </a:solidFill>
                          <a:latin typeface="Calibri"/>
                        </a:rPr>
                        <a:t>Watcher triage</a:t>
                      </a:r>
                    </a:p>
                  </a:txBody>
                  <a:tcPr marL="73152" marR="73152" marT="36576" marB="36576" anchor="ctr">
                    <a:solidFill>
                      <a:srgbClr val="FFFFFF"/>
                    </a:solidFill>
                  </a:tcPr>
                </a:tc>
                <a:tc>
                  <a:txBody>
                    <a:bodyPr/>
                    <a:lstStyle/>
                    <a:p>
                      <a:r>
                        <a:rPr sz="1200">
                          <a:solidFill>
                            <a:srgbClr val="1A1A1A"/>
                          </a:solidFill>
                          <a:latin typeface="Calibri"/>
                        </a:rPr>
                        <a:t>Small (Haiku 5.5)</a:t>
                      </a:r>
                    </a:p>
                  </a:txBody>
                  <a:tcPr marL="73152" marR="73152" marT="36576" marB="36576" anchor="ctr">
                    <a:solidFill>
                      <a:srgbClr val="FFFFFF"/>
                    </a:solidFill>
                  </a:tcPr>
                </a:tc>
                <a:tc>
                  <a:txBody>
                    <a:bodyPr/>
                    <a:lstStyle/>
                    <a:p>
                      <a:r>
                        <a:rPr sz="1200">
                          <a:solidFill>
                            <a:srgbClr val="1A1A1A"/>
                          </a:solidFill>
                          <a:latin typeface="Calibri"/>
                        </a:rPr>
                        <a:t>$0.10 / $0.50</a:t>
                      </a:r>
                    </a:p>
                  </a:txBody>
                  <a:tcPr marL="73152" marR="73152" marT="36576" marB="36576" anchor="ctr">
                    <a:solidFill>
                      <a:srgbClr val="FFFFFF"/>
                    </a:solidFill>
                  </a:tcPr>
                </a:tc>
                <a:extLst>
                  <a:ext uri="{0D108BD9-81ED-4DB2-BD59-A6C34878D82A}">
                    <a16:rowId xmlns:a16="http://schemas.microsoft.com/office/drawing/2014/main" val="10001"/>
                  </a:ext>
                </a:extLst>
              </a:tr>
              <a:tr h="457200">
                <a:tc>
                  <a:txBody>
                    <a:bodyPr/>
                    <a:lstStyle/>
                    <a:p>
                      <a:r>
                        <a:rPr sz="1200">
                          <a:solidFill>
                            <a:srgbClr val="1A1A1A"/>
                          </a:solidFill>
                          <a:latin typeface="Calibri"/>
                        </a:rPr>
                        <a:t>Research, Author</a:t>
                      </a:r>
                    </a:p>
                  </a:txBody>
                  <a:tcPr marL="73152" marR="73152" marT="36576" marB="36576" anchor="ctr">
                    <a:solidFill>
                      <a:srgbClr val="F4F5F2"/>
                    </a:solidFill>
                  </a:tcPr>
                </a:tc>
                <a:tc>
                  <a:txBody>
                    <a:bodyPr/>
                    <a:lstStyle/>
                    <a:p>
                      <a:r>
                        <a:rPr sz="1200">
                          <a:solidFill>
                            <a:srgbClr val="1A1A1A"/>
                          </a:solidFill>
                          <a:latin typeface="Calibri"/>
                        </a:rPr>
                        <a:t>Mid (Sonnet 5.5)</a:t>
                      </a:r>
                    </a:p>
                  </a:txBody>
                  <a:tcPr marL="73152" marR="73152" marT="36576" marB="36576" anchor="ctr">
                    <a:solidFill>
                      <a:srgbClr val="F4F5F2"/>
                    </a:solidFill>
                  </a:tcPr>
                </a:tc>
                <a:tc>
                  <a:txBody>
                    <a:bodyPr/>
                    <a:lstStyle/>
                    <a:p>
                      <a:r>
                        <a:rPr sz="1200">
                          <a:solidFill>
                            <a:srgbClr val="1A1A1A"/>
                          </a:solidFill>
                          <a:latin typeface="Calibri"/>
                        </a:rPr>
                        <a:t>$2 / $10</a:t>
                      </a:r>
                    </a:p>
                  </a:txBody>
                  <a:tcPr marL="73152" marR="73152" marT="36576" marB="36576" anchor="ctr">
                    <a:solidFill>
                      <a:srgbClr val="F4F5F2"/>
                    </a:solidFill>
                  </a:tcPr>
                </a:tc>
                <a:extLst>
                  <a:ext uri="{0D108BD9-81ED-4DB2-BD59-A6C34878D82A}">
                    <a16:rowId xmlns:a16="http://schemas.microsoft.com/office/drawing/2014/main" val="10002"/>
                  </a:ext>
                </a:extLst>
              </a:tr>
              <a:tr h="457200">
                <a:tc>
                  <a:txBody>
                    <a:bodyPr/>
                    <a:lstStyle/>
                    <a:p>
                      <a:r>
                        <a:rPr sz="1200">
                          <a:solidFill>
                            <a:srgbClr val="1A1A1A"/>
                          </a:solidFill>
                          <a:latin typeface="Calibri"/>
                        </a:rPr>
                        <a:t>Critic (all rules)</a:t>
                      </a:r>
                    </a:p>
                  </a:txBody>
                  <a:tcPr marL="73152" marR="73152" marT="36576" marB="36576" anchor="ctr">
                    <a:solidFill>
                      <a:srgbClr val="FFFFFF"/>
                    </a:solidFill>
                  </a:tcPr>
                </a:tc>
                <a:tc>
                  <a:txBody>
                    <a:bodyPr/>
                    <a:lstStyle/>
                    <a:p>
                      <a:r>
                        <a:rPr sz="1200">
                          <a:solidFill>
                            <a:srgbClr val="1A1A1A"/>
                          </a:solidFill>
                          <a:latin typeface="Calibri"/>
                        </a:rPr>
                        <a:t>Mid; large (Opus 5.5) on T3</a:t>
                      </a:r>
                    </a:p>
                  </a:txBody>
                  <a:tcPr marL="73152" marR="73152" marT="36576" marB="36576" anchor="ctr">
                    <a:solidFill>
                      <a:srgbClr val="FFFFFF"/>
                    </a:solidFill>
                  </a:tcPr>
                </a:tc>
                <a:tc>
                  <a:txBody>
                    <a:bodyPr/>
                    <a:lstStyle/>
                    <a:p>
                      <a:r>
                        <a:rPr sz="1200">
                          <a:solidFill>
                            <a:srgbClr val="1A1A1A"/>
                          </a:solidFill>
                          <a:latin typeface="Calibri"/>
                        </a:rPr>
                        <a:t>$2 / $10 · $4 / $20</a:t>
                      </a:r>
                    </a:p>
                  </a:txBody>
                  <a:tcPr marL="73152" marR="73152" marT="36576" marB="36576" anchor="ctr">
                    <a:solidFill>
                      <a:srgbClr val="FFFFFF"/>
                    </a:solidFill>
                  </a:tcPr>
                </a:tc>
                <a:extLst>
                  <a:ext uri="{0D108BD9-81ED-4DB2-BD59-A6C34878D82A}">
                    <a16:rowId xmlns:a16="http://schemas.microsoft.com/office/drawing/2014/main" val="10003"/>
                  </a:ext>
                </a:extLst>
              </a:tr>
            </a:tbl>
          </a:graphicData>
        </a:graphic>
      </p:graphicFrame>
      <p:sp>
        <p:nvSpPr>
          <p:cNvPr id="9" name="Rounded Rectangle 8"/>
          <p:cNvSpPr/>
          <p:nvPr/>
        </p:nvSpPr>
        <p:spPr>
          <a:xfrm>
            <a:off x="6949440" y="4206240"/>
            <a:ext cx="4663440" cy="1737360"/>
          </a:xfrm>
          <a:prstGeom prst="roundRect">
            <a:avLst>
              <a:gd name="adj" fmla="val 6000"/>
            </a:avLst>
          </a:prstGeom>
          <a:solidFill>
            <a:srgbClr val="FFF3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7178040" y="4343400"/>
            <a:ext cx="4206240" cy="1508760"/>
          </a:xfrm>
          <a:prstGeom prst="rect">
            <a:avLst/>
          </a:prstGeom>
          <a:noFill/>
        </p:spPr>
        <p:txBody>
          <a:bodyPr wrap="square" lIns="0" tIns="0" rIns="0" bIns="0" anchor="t">
            <a:spAutoFit/>
          </a:bodyPr>
          <a:lstStyle/>
          <a:p>
            <a:pPr algn="l">
              <a:spcAft>
                <a:spcPts val="400"/>
              </a:spcAft>
            </a:pPr>
            <a:r>
              <a:rPr sz="1300" b="1" i="0">
                <a:solidFill>
                  <a:srgbClr val="A34A00"/>
                </a:solidFill>
                <a:latin typeface="Calibri"/>
              </a:rPr>
              <a:t>Estimated cost per rule: under $1 in tokens</a:t>
            </a:r>
          </a:p>
          <a:p>
            <a:pPr algn="l">
              <a:spcAft>
                <a:spcPts val="400"/>
              </a:spcAft>
            </a:pPr>
            <a:r>
              <a:rPr sz="1300" b="0" i="0">
                <a:solidFill>
                  <a:srgbClr val="1A1A1A"/>
                </a:solidFill>
                <a:latin typeface="Calibri"/>
              </a:rPr>
              <a:t>Research + Author (~40k in / 5k out, mid) ≈ $0.13 · Critic on T3 (~20k / 2k, large) ≈ $0.12 · Watcher share ≈ $0.02. SME time and sandbox spend dominate. The pilot replaces these assumptions with logged tokens.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ection"/>
          <p:cNvSpPr txBox="1"/>
          <p:nvPr/>
        </p:nvSpPr>
        <p:spPr>
          <a:xfrm>
            <a:off x="548640" y="292608"/>
            <a:ext cx="8229600" cy="274320"/>
          </a:xfrm>
          <a:prstGeom prst="rect">
            <a:avLst/>
          </a:prstGeom>
          <a:noFill/>
        </p:spPr>
        <p:txBody>
          <a:bodyPr wrap="square" lIns="0" tIns="0" rIns="0" bIns="0" anchor="t">
            <a:spAutoFit/>
          </a:bodyPr>
          <a:lstStyle/>
          <a:p>
            <a:pPr algn="l">
              <a:spcAft>
                <a:spcPts val="400"/>
              </a:spcAft>
            </a:pPr>
            <a:r>
              <a:rPr sz="1100" b="1" i="0">
                <a:solidFill>
                  <a:srgbClr val="046A38"/>
                </a:solidFill>
                <a:latin typeface="Arial"/>
              </a:rPr>
              <a:t>3 · FEASIBILITY</a:t>
            </a:r>
          </a:p>
        </p:txBody>
      </p:sp>
      <p:sp>
        <p:nvSpPr>
          <p:cNvPr id="3" name="Title"/>
          <p:cNvSpPr txBox="1"/>
          <p:nvPr/>
        </p:nvSpPr>
        <p:spPr>
          <a:xfrm>
            <a:off x="548640" y="548640"/>
            <a:ext cx="11064240" cy="868680"/>
          </a:xfrm>
          <a:prstGeom prst="rect">
            <a:avLst/>
          </a:prstGeom>
          <a:noFill/>
        </p:spPr>
        <p:txBody>
          <a:bodyPr wrap="square" lIns="0" tIns="0" rIns="0" bIns="0" anchor="t">
            <a:spAutoFit/>
          </a:bodyPr>
          <a:lstStyle/>
          <a:p>
            <a:pPr algn="l">
              <a:spcAft>
                <a:spcPts val="400"/>
              </a:spcAft>
            </a:pPr>
            <a:r>
              <a:rPr sz="2800" b="1" i="0">
                <a:solidFill>
                  <a:srgbClr val="1A1A1A"/>
                </a:solidFill>
                <a:latin typeface="Arial"/>
              </a:rPr>
              <a:t>Build on a hosted LLM API, and use open source as reference data</a:t>
            </a:r>
          </a:p>
        </p:txBody>
      </p:sp>
      <p:sp>
        <p:nvSpPr>
          <p:cNvPr id="5" name="SlideNo"/>
          <p:cNvSpPr txBox="1"/>
          <p:nvPr/>
        </p:nvSpPr>
        <p:spPr>
          <a:xfrm>
            <a:off x="11064240" y="6355080"/>
            <a:ext cx="576072" cy="320040"/>
          </a:xfrm>
          <a:prstGeom prst="rect">
            <a:avLst/>
          </a:prstGeom>
          <a:noFill/>
        </p:spPr>
        <p:txBody>
          <a:bodyPr wrap="square" lIns="0" tIns="0" rIns="0" bIns="0" anchor="t">
            <a:spAutoFit/>
          </a:bodyPr>
          <a:lstStyle/>
          <a:p>
            <a:pPr algn="r">
              <a:spcAft>
                <a:spcPts val="400"/>
              </a:spcAft>
            </a:pPr>
            <a:r>
              <a:rPr sz="1000" b="0" i="0">
                <a:solidFill>
                  <a:srgbClr val="53565A"/>
                </a:solidFill>
                <a:latin typeface="Calibri"/>
              </a:rPr>
              <a:t>12</a:t>
            </a:r>
          </a:p>
        </p:txBody>
      </p:sp>
      <p:graphicFrame>
        <p:nvGraphicFramePr>
          <p:cNvPr id="6" name="Table 5"/>
          <p:cNvGraphicFramePr>
            <a:graphicFrameLocks noGrp="1"/>
          </p:cNvGraphicFramePr>
          <p:nvPr/>
        </p:nvGraphicFramePr>
        <p:xfrm>
          <a:off x="548640" y="1737360"/>
          <a:ext cx="11064240" cy="3291840"/>
        </p:xfrm>
        <a:graphic>
          <a:graphicData uri="http://schemas.openxmlformats.org/drawingml/2006/table">
            <a:tbl>
              <a:tblPr firstRow="1" bandRow="1">
                <a:tableStyleId>{5940675A-B579-460E-94D1-54222C63F5DA}</a:tableStyleId>
              </a:tblPr>
              <a:tblGrid>
                <a:gridCol w="2377440">
                  <a:extLst>
                    <a:ext uri="{9D8B030D-6E8A-4147-A177-3AD203B41FA5}">
                      <a16:colId xmlns:a16="http://schemas.microsoft.com/office/drawing/2014/main" val="20000"/>
                    </a:ext>
                  </a:extLst>
                </a:gridCol>
                <a:gridCol w="3566160">
                  <a:extLst>
                    <a:ext uri="{9D8B030D-6E8A-4147-A177-3AD203B41FA5}">
                      <a16:colId xmlns:a16="http://schemas.microsoft.com/office/drawing/2014/main" val="20001"/>
                    </a:ext>
                  </a:extLst>
                </a:gridCol>
                <a:gridCol w="1188720">
                  <a:extLst>
                    <a:ext uri="{9D8B030D-6E8A-4147-A177-3AD203B41FA5}">
                      <a16:colId xmlns:a16="http://schemas.microsoft.com/office/drawing/2014/main" val="20002"/>
                    </a:ext>
                  </a:extLst>
                </a:gridCol>
                <a:gridCol w="1188720">
                  <a:extLst>
                    <a:ext uri="{9D8B030D-6E8A-4147-A177-3AD203B41FA5}">
                      <a16:colId xmlns:a16="http://schemas.microsoft.com/office/drawing/2014/main" val="20003"/>
                    </a:ext>
                  </a:extLst>
                </a:gridCol>
                <a:gridCol w="1188720">
                  <a:extLst>
                    <a:ext uri="{9D8B030D-6E8A-4147-A177-3AD203B41FA5}">
                      <a16:colId xmlns:a16="http://schemas.microsoft.com/office/drawing/2014/main" val="20004"/>
                    </a:ext>
                  </a:extLst>
                </a:gridCol>
                <a:gridCol w="1554480">
                  <a:extLst>
                    <a:ext uri="{9D8B030D-6E8A-4147-A177-3AD203B41FA5}">
                      <a16:colId xmlns:a16="http://schemas.microsoft.com/office/drawing/2014/main" val="20005"/>
                    </a:ext>
                  </a:extLst>
                </a:gridCol>
              </a:tblGrid>
              <a:tr h="658368">
                <a:tc>
                  <a:txBody>
                    <a:bodyPr/>
                    <a:lstStyle/>
                    <a:p>
                      <a:r>
                        <a:rPr sz="1200" b="1">
                          <a:solidFill>
                            <a:srgbClr val="FFFFFF"/>
                          </a:solidFill>
                          <a:latin typeface="Calibri"/>
                        </a:rPr>
                        <a:t>Option</a:t>
                      </a:r>
                    </a:p>
                  </a:txBody>
                  <a:tcPr marL="73152" marR="73152" marT="36576" marB="36576" anchor="ctr">
                    <a:solidFill>
                      <a:srgbClr val="0D0D0D"/>
                    </a:solidFill>
                  </a:tcPr>
                </a:tc>
                <a:tc>
                  <a:txBody>
                    <a:bodyPr/>
                    <a:lstStyle/>
                    <a:p>
                      <a:r>
                        <a:rPr sz="1200" b="1">
                          <a:solidFill>
                            <a:srgbClr val="FFFFFF"/>
                          </a:solidFill>
                          <a:latin typeface="Calibri"/>
                        </a:rPr>
                        <a:t>What the facts say</a:t>
                      </a:r>
                    </a:p>
                  </a:txBody>
                  <a:tcPr marL="73152" marR="73152" marT="36576" marB="36576" anchor="ctr">
                    <a:solidFill>
                      <a:srgbClr val="0D0D0D"/>
                    </a:solidFill>
                  </a:tcPr>
                </a:tc>
                <a:tc>
                  <a:txBody>
                    <a:bodyPr/>
                    <a:lstStyle/>
                    <a:p>
                      <a:r>
                        <a:rPr sz="1200" b="1">
                          <a:solidFill>
                            <a:srgbClr val="FFFFFF"/>
                          </a:solidFill>
                          <a:latin typeface="Calibri"/>
                        </a:rPr>
                        <a:t>Cost</a:t>
                      </a:r>
                    </a:p>
                  </a:txBody>
                  <a:tcPr marL="73152" marR="73152" marT="36576" marB="36576" anchor="ctr">
                    <a:solidFill>
                      <a:srgbClr val="0D0D0D"/>
                    </a:solidFill>
                  </a:tcPr>
                </a:tc>
                <a:tc>
                  <a:txBody>
                    <a:bodyPr/>
                    <a:lstStyle/>
                    <a:p>
                      <a:r>
                        <a:rPr sz="1200" b="1">
                          <a:solidFill>
                            <a:srgbClr val="FFFFFF"/>
                          </a:solidFill>
                          <a:latin typeface="Calibri"/>
                        </a:rPr>
                        <a:t>Time to value</a:t>
                      </a:r>
                    </a:p>
                  </a:txBody>
                  <a:tcPr marL="73152" marR="73152" marT="36576" marB="36576" anchor="ctr">
                    <a:solidFill>
                      <a:srgbClr val="0D0D0D"/>
                    </a:solidFill>
                  </a:tcPr>
                </a:tc>
                <a:tc>
                  <a:txBody>
                    <a:bodyPr/>
                    <a:lstStyle/>
                    <a:p>
                      <a:r>
                        <a:rPr sz="1200" b="1">
                          <a:solidFill>
                            <a:srgbClr val="FFFFFF"/>
                          </a:solidFill>
                          <a:latin typeface="Calibri"/>
                        </a:rPr>
                        <a:t>Control / IP</a:t>
                      </a:r>
                    </a:p>
                  </a:txBody>
                  <a:tcPr marL="73152" marR="73152" marT="36576" marB="36576" anchor="ctr">
                    <a:solidFill>
                      <a:srgbClr val="0D0D0D"/>
                    </a:solidFill>
                  </a:tcPr>
                </a:tc>
                <a:tc>
                  <a:txBody>
                    <a:bodyPr/>
                    <a:lstStyle/>
                    <a:p>
                      <a:r>
                        <a:rPr sz="1200" b="1">
                          <a:solidFill>
                            <a:srgbClr val="FFFFFF"/>
                          </a:solidFill>
                          <a:latin typeface="Calibri"/>
                        </a:rPr>
                        <a:t>Verdict</a:t>
                      </a:r>
                    </a:p>
                  </a:txBody>
                  <a:tcPr marL="73152" marR="73152" marT="36576" marB="36576" anchor="ctr">
                    <a:solidFill>
                      <a:srgbClr val="0D0D0D"/>
                    </a:solidFill>
                  </a:tcPr>
                </a:tc>
                <a:extLst>
                  <a:ext uri="{0D108BD9-81ED-4DB2-BD59-A6C34878D82A}">
                    <a16:rowId xmlns:a16="http://schemas.microsoft.com/office/drawing/2014/main" val="10000"/>
                  </a:ext>
                </a:extLst>
              </a:tr>
              <a:tr h="658368">
                <a:tc>
                  <a:txBody>
                    <a:bodyPr/>
                    <a:lstStyle/>
                    <a:p>
                      <a:r>
                        <a:rPr sz="1200" b="1">
                          <a:solidFill>
                            <a:srgbClr val="1A1A1A"/>
                          </a:solidFill>
                          <a:latin typeface="Calibri"/>
                        </a:rPr>
                        <a:t>Buy a rule set</a:t>
                      </a:r>
                    </a:p>
                  </a:txBody>
                  <a:tcPr marL="73152" marR="73152" marT="36576" marB="36576" anchor="ctr">
                    <a:solidFill>
                      <a:srgbClr val="FFFFFF"/>
                    </a:solidFill>
                  </a:tcPr>
                </a:tc>
                <a:tc>
                  <a:txBody>
                    <a:bodyPr/>
                    <a:lstStyle/>
                    <a:p>
                      <a:r>
                        <a:rPr sz="1200">
                          <a:solidFill>
                            <a:srgbClr val="1A1A1A"/>
                          </a:solidFill>
                          <a:latin typeface="Calibri"/>
                        </a:rPr>
                        <a:t>Case: no budget to license a large third-party rule set</a:t>
                      </a:r>
                    </a:p>
                  </a:txBody>
                  <a:tcPr marL="73152" marR="73152" marT="36576" marB="36576" anchor="ctr">
                    <a:solidFill>
                      <a:srgbClr val="FFFFFF"/>
                    </a:solidFill>
                  </a:tcPr>
                </a:tc>
                <a:tc>
                  <a:txBody>
                    <a:bodyPr/>
                    <a:lstStyle/>
                    <a:p>
                      <a:r>
                        <a:rPr sz="1200">
                          <a:solidFill>
                            <a:srgbClr val="1A1A1A"/>
                          </a:solidFill>
                          <a:latin typeface="Calibri"/>
                        </a:rPr>
                        <a:t>High</a:t>
                      </a:r>
                    </a:p>
                  </a:txBody>
                  <a:tcPr marL="73152" marR="73152" marT="36576" marB="36576" anchor="ctr">
                    <a:solidFill>
                      <a:srgbClr val="FFFFFF"/>
                    </a:solidFill>
                  </a:tcPr>
                </a:tc>
                <a:tc>
                  <a:txBody>
                    <a:bodyPr/>
                    <a:lstStyle/>
                    <a:p>
                      <a:r>
                        <a:rPr sz="1200">
                          <a:solidFill>
                            <a:srgbClr val="1A1A1A"/>
                          </a:solidFill>
                          <a:latin typeface="Calibri"/>
                        </a:rPr>
                        <a:t>Fast</a:t>
                      </a:r>
                    </a:p>
                  </a:txBody>
                  <a:tcPr marL="73152" marR="73152" marT="36576" marB="36576" anchor="ctr">
                    <a:solidFill>
                      <a:srgbClr val="FFFFFF"/>
                    </a:solidFill>
                  </a:tcPr>
                </a:tc>
                <a:tc>
                  <a:txBody>
                    <a:bodyPr/>
                    <a:lstStyle/>
                    <a:p>
                      <a:r>
                        <a:rPr sz="1200">
                          <a:solidFill>
                            <a:srgbClr val="1A1A1A"/>
                          </a:solidFill>
                          <a:latin typeface="Calibri"/>
                        </a:rPr>
                        <a:t>Low</a:t>
                      </a:r>
                    </a:p>
                  </a:txBody>
                  <a:tcPr marL="73152" marR="73152" marT="36576" marB="36576" anchor="ctr">
                    <a:solidFill>
                      <a:srgbClr val="FFFFFF"/>
                    </a:solidFill>
                  </a:tcPr>
                </a:tc>
                <a:tc>
                  <a:txBody>
                    <a:bodyPr/>
                    <a:lstStyle/>
                    <a:p>
                      <a:r>
                        <a:rPr sz="1200" b="1">
                          <a:solidFill>
                            <a:srgbClr val="1A1A1A"/>
                          </a:solidFill>
                          <a:latin typeface="Calibri"/>
                        </a:rPr>
                        <a:t>Rejected</a:t>
                      </a:r>
                    </a:p>
                  </a:txBody>
                  <a:tcPr marL="73152" marR="73152" marT="36576" marB="36576" anchor="ctr">
                    <a:solidFill>
                      <a:srgbClr val="FEE4E2"/>
                    </a:solidFill>
                  </a:tcPr>
                </a:tc>
                <a:extLst>
                  <a:ext uri="{0D108BD9-81ED-4DB2-BD59-A6C34878D82A}">
                    <a16:rowId xmlns:a16="http://schemas.microsoft.com/office/drawing/2014/main" val="10001"/>
                  </a:ext>
                </a:extLst>
              </a:tr>
              <a:tr h="658368">
                <a:tc>
                  <a:txBody>
                    <a:bodyPr/>
                    <a:lstStyle/>
                    <a:p>
                      <a:r>
                        <a:rPr sz="1200" b="1">
                          <a:solidFill>
                            <a:srgbClr val="1A1A1A"/>
                          </a:solidFill>
                          <a:latin typeface="Calibri"/>
                        </a:rPr>
                        <a:t>Adopt open source (Prowler, Checkov, Cloud Custodian)</a:t>
                      </a:r>
                    </a:p>
                  </a:txBody>
                  <a:tcPr marL="73152" marR="73152" marT="36576" marB="36576" anchor="ctr">
                    <a:solidFill>
                      <a:srgbClr val="F4F5F2"/>
                    </a:solidFill>
                  </a:tcPr>
                </a:tc>
                <a:tc>
                  <a:txBody>
                    <a:bodyPr/>
                    <a:lstStyle/>
                    <a:p>
                      <a:r>
                        <a:rPr sz="1200">
                          <a:solidFill>
                            <a:srgbClr val="1A1A1A"/>
                          </a:solidFill>
                          <a:latin typeface="Calibri"/>
                        </a:rPr>
                        <a:t>Prowler 567 AWS checks (Apache-2.0); Checkov 750+ IaC policies; different formats</a:t>
                      </a:r>
                    </a:p>
                  </a:txBody>
                  <a:tcPr marL="73152" marR="73152" marT="36576" marB="36576" anchor="ctr">
                    <a:solidFill>
                      <a:srgbClr val="F4F5F2"/>
                    </a:solidFill>
                  </a:tcPr>
                </a:tc>
                <a:tc>
                  <a:txBody>
                    <a:bodyPr/>
                    <a:lstStyle/>
                    <a:p>
                      <a:r>
                        <a:rPr sz="1200">
                          <a:solidFill>
                            <a:srgbClr val="1A1A1A"/>
                          </a:solidFill>
                          <a:latin typeface="Calibri"/>
                        </a:rPr>
                        <a:t>Free</a:t>
                      </a:r>
                    </a:p>
                  </a:txBody>
                  <a:tcPr marL="73152" marR="73152" marT="36576" marB="36576" anchor="ctr">
                    <a:solidFill>
                      <a:srgbClr val="F4F5F2"/>
                    </a:solidFill>
                  </a:tcPr>
                </a:tc>
                <a:tc>
                  <a:txBody>
                    <a:bodyPr/>
                    <a:lstStyle/>
                    <a:p>
                      <a:r>
                        <a:rPr sz="1200">
                          <a:solidFill>
                            <a:srgbClr val="1A1A1A"/>
                          </a:solidFill>
                          <a:latin typeface="Calibri"/>
                        </a:rPr>
                        <a:t>Medium</a:t>
                      </a:r>
                    </a:p>
                  </a:txBody>
                  <a:tcPr marL="73152" marR="73152" marT="36576" marB="36576" anchor="ctr">
                    <a:solidFill>
                      <a:srgbClr val="F4F5F2"/>
                    </a:solidFill>
                  </a:tcPr>
                </a:tc>
                <a:tc>
                  <a:txBody>
                    <a:bodyPr/>
                    <a:lstStyle/>
                    <a:p>
                      <a:r>
                        <a:rPr sz="1200">
                          <a:solidFill>
                            <a:srgbClr val="1A1A1A"/>
                          </a:solidFill>
                          <a:latin typeface="Calibri"/>
                        </a:rPr>
                        <a:t>Medium</a:t>
                      </a:r>
                    </a:p>
                  </a:txBody>
                  <a:tcPr marL="73152" marR="73152" marT="36576" marB="36576" anchor="ctr">
                    <a:solidFill>
                      <a:srgbClr val="F4F5F2"/>
                    </a:solidFill>
                  </a:tcPr>
                </a:tc>
                <a:tc>
                  <a:txBody>
                    <a:bodyPr/>
                    <a:lstStyle/>
                    <a:p>
                      <a:r>
                        <a:rPr sz="1200" b="1">
                          <a:solidFill>
                            <a:srgbClr val="1A1A1A"/>
                          </a:solidFill>
                          <a:latin typeface="Calibri"/>
                        </a:rPr>
                        <a:t>Use as reference + golden data</a:t>
                      </a:r>
                    </a:p>
                  </a:txBody>
                  <a:tcPr marL="73152" marR="73152" marT="36576" marB="36576" anchor="ctr">
                    <a:solidFill>
                      <a:srgbClr val="FFF3DC"/>
                    </a:solidFill>
                  </a:tcPr>
                </a:tc>
                <a:extLst>
                  <a:ext uri="{0D108BD9-81ED-4DB2-BD59-A6C34878D82A}">
                    <a16:rowId xmlns:a16="http://schemas.microsoft.com/office/drawing/2014/main" val="10002"/>
                  </a:ext>
                </a:extLst>
              </a:tr>
              <a:tr h="658368">
                <a:tc>
                  <a:txBody>
                    <a:bodyPr/>
                    <a:lstStyle/>
                    <a:p>
                      <a:r>
                        <a:rPr sz="1200" b="1">
                          <a:solidFill>
                            <a:srgbClr val="1A1A1A"/>
                          </a:solidFill>
                          <a:latin typeface="Calibri"/>
                        </a:rPr>
                        <a:t>Build on hosted LLM API</a:t>
                      </a:r>
                    </a:p>
                  </a:txBody>
                  <a:tcPr marL="73152" marR="73152" marT="36576" marB="36576" anchor="ctr">
                    <a:solidFill>
                      <a:srgbClr val="FFFFFF"/>
                    </a:solidFill>
                  </a:tcPr>
                </a:tc>
                <a:tc>
                  <a:txBody>
                    <a:bodyPr/>
                    <a:lstStyle/>
                    <a:p>
                      <a:r>
                        <a:rPr sz="1200">
                          <a:solidFill>
                            <a:srgbClr val="1A1A1A"/>
                          </a:solidFill>
                          <a:latin typeface="Calibri"/>
                        </a:rPr>
                        <a:t>Pay per token; fits a 2–3 engineer pod; no ML ops needed</a:t>
                      </a:r>
                    </a:p>
                  </a:txBody>
                  <a:tcPr marL="73152" marR="73152" marT="36576" marB="36576" anchor="ctr">
                    <a:solidFill>
                      <a:srgbClr val="FFFFFF"/>
                    </a:solidFill>
                  </a:tcPr>
                </a:tc>
                <a:tc>
                  <a:txBody>
                    <a:bodyPr/>
                    <a:lstStyle/>
                    <a:p>
                      <a:r>
                        <a:rPr sz="1200">
                          <a:solidFill>
                            <a:srgbClr val="1A1A1A"/>
                          </a:solidFill>
                          <a:latin typeface="Calibri"/>
                        </a:rPr>
                        <a:t>Low, variable</a:t>
                      </a:r>
                    </a:p>
                  </a:txBody>
                  <a:tcPr marL="73152" marR="73152" marT="36576" marB="36576" anchor="ctr">
                    <a:solidFill>
                      <a:srgbClr val="FFFFFF"/>
                    </a:solidFill>
                  </a:tcPr>
                </a:tc>
                <a:tc>
                  <a:txBody>
                    <a:bodyPr/>
                    <a:lstStyle/>
                    <a:p>
                      <a:r>
                        <a:rPr sz="1200">
                          <a:solidFill>
                            <a:srgbClr val="1A1A1A"/>
                          </a:solidFill>
                          <a:latin typeface="Calibri"/>
                        </a:rPr>
                        <a:t>Fast</a:t>
                      </a:r>
                    </a:p>
                  </a:txBody>
                  <a:tcPr marL="73152" marR="73152" marT="36576" marB="36576" anchor="ctr">
                    <a:solidFill>
                      <a:srgbClr val="FFFFFF"/>
                    </a:solidFill>
                  </a:tcPr>
                </a:tc>
                <a:tc>
                  <a:txBody>
                    <a:bodyPr/>
                    <a:lstStyle/>
                    <a:p>
                      <a:r>
                        <a:rPr sz="1200">
                          <a:solidFill>
                            <a:srgbClr val="1A1A1A"/>
                          </a:solidFill>
                          <a:latin typeface="Calibri"/>
                        </a:rPr>
                        <a:t>High</a:t>
                      </a:r>
                    </a:p>
                  </a:txBody>
                  <a:tcPr marL="73152" marR="73152" marT="36576" marB="36576" anchor="ctr">
                    <a:solidFill>
                      <a:srgbClr val="FFFFFF"/>
                    </a:solidFill>
                  </a:tcPr>
                </a:tc>
                <a:tc>
                  <a:txBody>
                    <a:bodyPr/>
                    <a:lstStyle/>
                    <a:p>
                      <a:r>
                        <a:rPr sz="1200" b="1">
                          <a:solidFill>
                            <a:srgbClr val="1A1A1A"/>
                          </a:solidFill>
                          <a:latin typeface="Calibri"/>
                        </a:rPr>
                        <a:t>Recommended</a:t>
                      </a:r>
                    </a:p>
                  </a:txBody>
                  <a:tcPr marL="73152" marR="73152" marT="36576" marB="36576" anchor="ctr">
                    <a:solidFill>
                      <a:srgbClr val="F1F8E6"/>
                    </a:solidFill>
                  </a:tcPr>
                </a:tc>
                <a:extLst>
                  <a:ext uri="{0D108BD9-81ED-4DB2-BD59-A6C34878D82A}">
                    <a16:rowId xmlns:a16="http://schemas.microsoft.com/office/drawing/2014/main" val="10003"/>
                  </a:ext>
                </a:extLst>
              </a:tr>
              <a:tr h="658368">
                <a:tc>
                  <a:txBody>
                    <a:bodyPr/>
                    <a:lstStyle/>
                    <a:p>
                      <a:r>
                        <a:rPr sz="1200" b="1">
                          <a:solidFill>
                            <a:srgbClr val="1A1A1A"/>
                          </a:solidFill>
                          <a:latin typeface="Calibri"/>
                        </a:rPr>
                        <a:t>Fine-tune / self-host model</a:t>
                      </a:r>
                    </a:p>
                  </a:txBody>
                  <a:tcPr marL="73152" marR="73152" marT="36576" marB="36576" anchor="ctr">
                    <a:solidFill>
                      <a:srgbClr val="F4F5F2"/>
                    </a:solidFill>
                  </a:tcPr>
                </a:tc>
                <a:tc>
                  <a:txBody>
                    <a:bodyPr/>
                    <a:lstStyle/>
                    <a:p>
                      <a:r>
                        <a:rPr sz="1200">
                          <a:solidFill>
                            <a:srgbClr val="1A1A1A"/>
                          </a:solidFill>
                          <a:latin typeface="Calibri"/>
                        </a:rPr>
                        <a:t>Needs ML ops and GPU budget the pod does not have</a:t>
                      </a:r>
                    </a:p>
                  </a:txBody>
                  <a:tcPr marL="73152" marR="73152" marT="36576" marB="36576" anchor="ctr">
                    <a:solidFill>
                      <a:srgbClr val="F4F5F2"/>
                    </a:solidFill>
                  </a:tcPr>
                </a:tc>
                <a:tc>
                  <a:txBody>
                    <a:bodyPr/>
                    <a:lstStyle/>
                    <a:p>
                      <a:r>
                        <a:rPr sz="1200">
                          <a:solidFill>
                            <a:srgbClr val="1A1A1A"/>
                          </a:solidFill>
                          <a:latin typeface="Calibri"/>
                        </a:rPr>
                        <a:t>High fixed</a:t>
                      </a:r>
                    </a:p>
                  </a:txBody>
                  <a:tcPr marL="73152" marR="73152" marT="36576" marB="36576" anchor="ctr">
                    <a:solidFill>
                      <a:srgbClr val="F4F5F2"/>
                    </a:solidFill>
                  </a:tcPr>
                </a:tc>
                <a:tc>
                  <a:txBody>
                    <a:bodyPr/>
                    <a:lstStyle/>
                    <a:p>
                      <a:r>
                        <a:rPr sz="1200">
                          <a:solidFill>
                            <a:srgbClr val="1A1A1A"/>
                          </a:solidFill>
                          <a:latin typeface="Calibri"/>
                        </a:rPr>
                        <a:t>Slow</a:t>
                      </a:r>
                    </a:p>
                  </a:txBody>
                  <a:tcPr marL="73152" marR="73152" marT="36576" marB="36576" anchor="ctr">
                    <a:solidFill>
                      <a:srgbClr val="F4F5F2"/>
                    </a:solidFill>
                  </a:tcPr>
                </a:tc>
                <a:tc>
                  <a:txBody>
                    <a:bodyPr/>
                    <a:lstStyle/>
                    <a:p>
                      <a:r>
                        <a:rPr sz="1200">
                          <a:solidFill>
                            <a:srgbClr val="1A1A1A"/>
                          </a:solidFill>
                          <a:latin typeface="Calibri"/>
                        </a:rPr>
                        <a:t>High</a:t>
                      </a:r>
                    </a:p>
                  </a:txBody>
                  <a:tcPr marL="73152" marR="73152" marT="36576" marB="36576" anchor="ctr">
                    <a:solidFill>
                      <a:srgbClr val="F4F5F2"/>
                    </a:solidFill>
                  </a:tcPr>
                </a:tc>
                <a:tc>
                  <a:txBody>
                    <a:bodyPr/>
                    <a:lstStyle/>
                    <a:p>
                      <a:r>
                        <a:rPr sz="1200" b="1">
                          <a:solidFill>
                            <a:srgbClr val="1A1A1A"/>
                          </a:solidFill>
                          <a:latin typeface="Calibri"/>
                        </a:rPr>
                        <a:t>Revisit in V2</a:t>
                      </a:r>
                    </a:p>
                  </a:txBody>
                  <a:tcPr marL="73152" marR="73152" marT="36576" marB="36576" anchor="ctr">
                    <a:solidFill>
                      <a:srgbClr val="F4F5F2"/>
                    </a:solidFill>
                  </a:tcPr>
                </a:tc>
                <a:extLst>
                  <a:ext uri="{0D108BD9-81ED-4DB2-BD59-A6C34878D82A}">
                    <a16:rowId xmlns:a16="http://schemas.microsoft.com/office/drawing/2014/main" val="10004"/>
                  </a:ext>
                </a:extLst>
              </a:tr>
            </a:tbl>
          </a:graphicData>
        </a:graphic>
      </p:graphicFrame>
      <p:sp>
        <p:nvSpPr>
          <p:cNvPr id="7" name="TextBox 6"/>
          <p:cNvSpPr txBox="1"/>
          <p:nvPr/>
        </p:nvSpPr>
        <p:spPr>
          <a:xfrm>
            <a:off x="548640" y="5257800"/>
            <a:ext cx="11064240" cy="822960"/>
          </a:xfrm>
          <a:prstGeom prst="rect">
            <a:avLst/>
          </a:prstGeom>
          <a:noFill/>
        </p:spPr>
        <p:txBody>
          <a:bodyPr wrap="square" lIns="0" tIns="0" rIns="0" bIns="0" anchor="t">
            <a:spAutoFit/>
          </a:bodyPr>
          <a:lstStyle/>
          <a:p>
            <a:pPr algn="l">
              <a:spcAft>
                <a:spcPts val="400"/>
              </a:spcAft>
            </a:pPr>
            <a:r>
              <a:rPr sz="1400" b="1" i="0">
                <a:solidFill>
                  <a:srgbClr val="1A1A1A"/>
                </a:solidFill>
                <a:latin typeface="Calibri"/>
              </a:rPr>
              <a:t>Scalability: </a:t>
            </a:r>
            <a:r>
              <a:rPr sz="1400" b="0" i="0">
                <a:solidFill>
                  <a:srgbClr val="1A1A1A"/>
                </a:solidFill>
                <a:latin typeface="Calibri"/>
              </a:rPr>
              <a:t>candidates run in parallel and independently, so throughput scales with workers. The main running cost is sandbox cloud resources rather than tokens, so fixtures are torn down after every run. Non-urgent backlog work can use batch processing.</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ection"/>
          <p:cNvSpPr txBox="1"/>
          <p:nvPr/>
        </p:nvSpPr>
        <p:spPr>
          <a:xfrm>
            <a:off x="548640" y="292608"/>
            <a:ext cx="8229600" cy="274320"/>
          </a:xfrm>
          <a:prstGeom prst="rect">
            <a:avLst/>
          </a:prstGeom>
          <a:noFill/>
        </p:spPr>
        <p:txBody>
          <a:bodyPr wrap="square" lIns="0" tIns="0" rIns="0" bIns="0" anchor="t">
            <a:spAutoFit/>
          </a:bodyPr>
          <a:lstStyle/>
          <a:p>
            <a:pPr algn="l">
              <a:spcAft>
                <a:spcPts val="400"/>
              </a:spcAft>
            </a:pPr>
            <a:r>
              <a:rPr sz="1100" b="1" i="0">
                <a:solidFill>
                  <a:srgbClr val="046A38"/>
                </a:solidFill>
                <a:latin typeface="Arial"/>
              </a:rPr>
              <a:t>4 · MVP &amp; ROADMAP</a:t>
            </a:r>
          </a:p>
        </p:txBody>
      </p:sp>
      <p:sp>
        <p:nvSpPr>
          <p:cNvPr id="3" name="Title"/>
          <p:cNvSpPr txBox="1"/>
          <p:nvPr/>
        </p:nvSpPr>
        <p:spPr>
          <a:xfrm>
            <a:off x="548640" y="548640"/>
            <a:ext cx="11064240" cy="868680"/>
          </a:xfrm>
          <a:prstGeom prst="rect">
            <a:avLst/>
          </a:prstGeom>
          <a:noFill/>
        </p:spPr>
        <p:txBody>
          <a:bodyPr wrap="square" lIns="0" tIns="0" rIns="0" bIns="0" anchor="t">
            <a:spAutoFit/>
          </a:bodyPr>
          <a:lstStyle/>
          <a:p>
            <a:pPr algn="l">
              <a:spcAft>
                <a:spcPts val="400"/>
              </a:spcAft>
            </a:pPr>
            <a:r>
              <a:rPr sz="2800" b="1" i="0">
                <a:solidFill>
                  <a:srgbClr val="1A1A1A"/>
                </a:solidFill>
                <a:latin typeface="Arial"/>
              </a:rPr>
              <a:t>MVP: AWS only, simple settings, every rule signed off by an SME</a:t>
            </a:r>
          </a:p>
        </p:txBody>
      </p:sp>
      <p:sp>
        <p:nvSpPr>
          <p:cNvPr id="5" name="SlideNo"/>
          <p:cNvSpPr txBox="1"/>
          <p:nvPr/>
        </p:nvSpPr>
        <p:spPr>
          <a:xfrm>
            <a:off x="11064240" y="6355080"/>
            <a:ext cx="576072" cy="320040"/>
          </a:xfrm>
          <a:prstGeom prst="rect">
            <a:avLst/>
          </a:prstGeom>
          <a:noFill/>
        </p:spPr>
        <p:txBody>
          <a:bodyPr wrap="square" lIns="0" tIns="0" rIns="0" bIns="0" anchor="t">
            <a:spAutoFit/>
          </a:bodyPr>
          <a:lstStyle/>
          <a:p>
            <a:pPr algn="r">
              <a:spcAft>
                <a:spcPts val="400"/>
              </a:spcAft>
            </a:pPr>
            <a:r>
              <a:rPr sz="1000" b="0" i="0">
                <a:solidFill>
                  <a:srgbClr val="53565A"/>
                </a:solidFill>
                <a:latin typeface="Calibri"/>
              </a:rPr>
              <a:t>13</a:t>
            </a:r>
          </a:p>
        </p:txBody>
      </p:sp>
      <p:sp>
        <p:nvSpPr>
          <p:cNvPr id="6" name="Rounded Rectangle 5"/>
          <p:cNvSpPr/>
          <p:nvPr/>
        </p:nvSpPr>
        <p:spPr>
          <a:xfrm>
            <a:off x="548640" y="1737360"/>
            <a:ext cx="5394960" cy="4251960"/>
          </a:xfrm>
          <a:prstGeom prst="roundRect">
            <a:avLst>
              <a:gd name="adj" fmla="val 6000"/>
            </a:avLst>
          </a:prstGeom>
          <a:solidFill>
            <a:srgbClr val="F1F8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822960" y="1874519"/>
            <a:ext cx="4846320" cy="411480"/>
          </a:xfrm>
          <a:prstGeom prst="rect">
            <a:avLst/>
          </a:prstGeom>
          <a:noFill/>
        </p:spPr>
        <p:txBody>
          <a:bodyPr wrap="square" lIns="0" tIns="0" rIns="0" bIns="0" anchor="t">
            <a:spAutoFit/>
          </a:bodyPr>
          <a:lstStyle/>
          <a:p>
            <a:pPr algn="l">
              <a:spcAft>
                <a:spcPts val="400"/>
              </a:spcAft>
            </a:pPr>
            <a:r>
              <a:rPr sz="1400" b="1" i="0">
                <a:solidFill>
                  <a:srgbClr val="046A38"/>
                </a:solidFill>
                <a:latin typeface="Arial"/>
              </a:rPr>
              <a:t>IN THE MVP</a:t>
            </a:r>
          </a:p>
        </p:txBody>
      </p:sp>
      <p:sp>
        <p:nvSpPr>
          <p:cNvPr id="8" name="TextBox 7"/>
          <p:cNvSpPr txBox="1"/>
          <p:nvPr/>
        </p:nvSpPr>
        <p:spPr>
          <a:xfrm>
            <a:off x="822960" y="2377440"/>
            <a:ext cx="4846320" cy="4023360"/>
          </a:xfrm>
          <a:prstGeom prst="rect">
            <a:avLst/>
          </a:prstGeom>
          <a:noFill/>
        </p:spPr>
        <p:txBody>
          <a:bodyPr wrap="square" lIns="0" tIns="0" rIns="0" bIns="0">
            <a:spAutoFit/>
          </a:bodyPr>
          <a:lstStyle/>
          <a:p>
            <a:pPr marL="201168" indent="-201168">
              <a:spcAft>
                <a:spcPts val="800"/>
              </a:spcAft>
              <a:buChar char="•"/>
            </a:pPr>
            <a:r>
              <a:rPr sz="1500" b="0">
                <a:solidFill>
                  <a:srgbClr val="1A1A1A"/>
                </a:solidFill>
                <a:latin typeface="Calibri"/>
              </a:rPr>
              <a:t>AWS only</a:t>
            </a:r>
          </a:p>
          <a:p>
            <a:pPr marL="201168" indent="-201168">
              <a:spcAft>
                <a:spcPts val="800"/>
              </a:spcAft>
              <a:buChar char="•"/>
            </a:pPr>
            <a:r>
              <a:rPr sz="1500" b="0">
                <a:solidFill>
                  <a:srgbClr val="1A1A1A"/>
                </a:solidFill>
                <a:latin typeface="Calibri"/>
              </a:rPr>
              <a:t>2–3 service families with simple, checkable settings: storage, logging, encryption</a:t>
            </a:r>
          </a:p>
          <a:p>
            <a:pPr marL="201168" indent="-201168">
              <a:spcAft>
                <a:spcPts val="800"/>
              </a:spcAft>
              <a:buChar char="•"/>
            </a:pPr>
            <a:r>
              <a:rPr sz="1500" b="0">
                <a:solidFill>
                  <a:srgbClr val="1A1A1A"/>
                </a:solidFill>
                <a:latin typeface="Calibri"/>
              </a:rPr>
              <a:t>Sources: CIS AWS Foundations v7.0.0, AWS docs, AWS What's New</a:t>
            </a:r>
          </a:p>
          <a:p>
            <a:pPr marL="201168" indent="-201168">
              <a:spcAft>
                <a:spcPts val="800"/>
              </a:spcAft>
              <a:buChar char="•"/>
            </a:pPr>
            <a:r>
              <a:rPr sz="1500" b="0">
                <a:solidFill>
                  <a:srgbClr val="1A1A1A"/>
                </a:solidFill>
                <a:latin typeface="Calibri"/>
              </a:rPr>
              <a:t>Watcher, Research, Author, Test harness and Critic agents + shadow mode</a:t>
            </a:r>
          </a:p>
          <a:p>
            <a:pPr marL="201168" indent="-201168">
              <a:spcAft>
                <a:spcPts val="800"/>
              </a:spcAft>
              <a:buChar char="•"/>
            </a:pPr>
            <a:r>
              <a:rPr sz="1500" b="0">
                <a:solidFill>
                  <a:srgbClr val="1A1A1A"/>
                </a:solidFill>
                <a:latin typeface="Calibri"/>
              </a:rPr>
              <a:t>Review in pull requests with the evidence pack attached (prototype shows the V1 console)</a:t>
            </a:r>
          </a:p>
          <a:p>
            <a:pPr marL="201168" indent="-201168">
              <a:spcAft>
                <a:spcPts val="800"/>
              </a:spcAft>
              <a:buChar char="•"/>
            </a:pPr>
            <a:r>
              <a:rPr sz="1500" b="0">
                <a:solidFill>
                  <a:srgbClr val="1A1A1A"/>
                </a:solidFill>
                <a:latin typeface="Calibri"/>
              </a:rPr>
              <a:t>CIS v6.0 → v7.0 drift remapping (31 items, metadata only)</a:t>
            </a:r>
          </a:p>
          <a:p>
            <a:pPr marL="201168" indent="-201168">
              <a:spcAft>
                <a:spcPts val="800"/>
              </a:spcAft>
              <a:buChar char="•"/>
            </a:pPr>
            <a:r>
              <a:rPr sz="1500" b="0">
                <a:solidFill>
                  <a:srgbClr val="1A1A1A"/>
                </a:solidFill>
                <a:latin typeface="Calibri"/>
              </a:rPr>
              <a:t>100% SME sign-off on every rule, whatever its tier</a:t>
            </a:r>
          </a:p>
        </p:txBody>
      </p:sp>
      <p:sp>
        <p:nvSpPr>
          <p:cNvPr id="9" name="Rounded Rectangle 8"/>
          <p:cNvSpPr/>
          <p:nvPr/>
        </p:nvSpPr>
        <p:spPr>
          <a:xfrm>
            <a:off x="6217920" y="1737360"/>
            <a:ext cx="5394960" cy="4251960"/>
          </a:xfrm>
          <a:prstGeom prst="roundRect">
            <a:avLst>
              <a:gd name="adj" fmla="val 6000"/>
            </a:avLst>
          </a:prstGeom>
          <a:solidFill>
            <a:srgbClr val="F4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6492240" y="1874519"/>
            <a:ext cx="4846320" cy="411480"/>
          </a:xfrm>
          <a:prstGeom prst="rect">
            <a:avLst/>
          </a:prstGeom>
          <a:noFill/>
        </p:spPr>
        <p:txBody>
          <a:bodyPr wrap="square" lIns="0" tIns="0" rIns="0" bIns="0" anchor="t">
            <a:spAutoFit/>
          </a:bodyPr>
          <a:lstStyle/>
          <a:p>
            <a:pPr algn="l">
              <a:spcAft>
                <a:spcPts val="400"/>
              </a:spcAft>
            </a:pPr>
            <a:r>
              <a:rPr sz="1400" b="1" i="0">
                <a:solidFill>
                  <a:srgbClr val="53565A"/>
                </a:solidFill>
                <a:latin typeface="Arial"/>
              </a:rPr>
              <a:t>OUT OF THE MVP</a:t>
            </a:r>
          </a:p>
        </p:txBody>
      </p:sp>
      <p:sp>
        <p:nvSpPr>
          <p:cNvPr id="11" name="TextBox 10"/>
          <p:cNvSpPr txBox="1"/>
          <p:nvPr/>
        </p:nvSpPr>
        <p:spPr>
          <a:xfrm>
            <a:off x="6492240" y="2377440"/>
            <a:ext cx="4846320" cy="4023360"/>
          </a:xfrm>
          <a:prstGeom prst="rect">
            <a:avLst/>
          </a:prstGeom>
          <a:noFill/>
        </p:spPr>
        <p:txBody>
          <a:bodyPr wrap="square" lIns="0" tIns="0" rIns="0" bIns="0">
            <a:spAutoFit/>
          </a:bodyPr>
          <a:lstStyle/>
          <a:p>
            <a:pPr marL="201168" indent="-201168">
              <a:spcAft>
                <a:spcPts val="800"/>
              </a:spcAft>
              <a:buChar char="•"/>
            </a:pPr>
            <a:r>
              <a:rPr sz="1500" b="0">
                <a:solidFill>
                  <a:srgbClr val="1A1A1A"/>
                </a:solidFill>
                <a:latin typeface="Calibri"/>
              </a:rPr>
              <a:t>Azure and GCP</a:t>
            </a:r>
          </a:p>
          <a:p>
            <a:pPr marL="201168" indent="-201168">
              <a:spcAft>
                <a:spcPts val="800"/>
              </a:spcAft>
              <a:buChar char="•"/>
            </a:pPr>
            <a:r>
              <a:rPr sz="1500" b="0">
                <a:solidFill>
                  <a:srgbClr val="1A1A1A"/>
                </a:solidFill>
                <a:latin typeface="Calibri"/>
              </a:rPr>
              <a:t>IAM privilege-escalation and multi-resource attack-path rules</a:t>
            </a:r>
          </a:p>
          <a:p>
            <a:pPr marL="201168" indent="-201168">
              <a:spcAft>
                <a:spcPts val="800"/>
              </a:spcAft>
              <a:buChar char="•"/>
            </a:pPr>
            <a:r>
              <a:rPr sz="1500" b="0">
                <a:solidFill>
                  <a:srgbClr val="1A1A1A"/>
                </a:solidFill>
                <a:latin typeface="Calibri"/>
              </a:rPr>
              <a:t>CVE and threat-intel driven rules</a:t>
            </a:r>
          </a:p>
          <a:p>
            <a:pPr marL="201168" indent="-201168">
              <a:spcAft>
                <a:spcPts val="800"/>
              </a:spcAft>
              <a:buChar char="•"/>
            </a:pPr>
            <a:r>
              <a:rPr sz="1500" b="0">
                <a:solidFill>
                  <a:srgbClr val="1A1A1A"/>
                </a:solidFill>
                <a:latin typeface="Calibri"/>
              </a:rPr>
              <a:t>Any auto-approval, even for low-risk rules</a:t>
            </a:r>
          </a:p>
          <a:p>
            <a:pPr marL="201168" indent="-201168">
              <a:spcAft>
                <a:spcPts val="800"/>
              </a:spcAft>
              <a:buChar char="•"/>
            </a:pPr>
            <a:r>
              <a:rPr sz="1500" b="0">
                <a:solidFill>
                  <a:srgbClr val="1A1A1A"/>
                </a:solidFill>
                <a:latin typeface="Calibri"/>
              </a:rPr>
              <a:t>Customer-facing AI features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ection"/>
          <p:cNvSpPr txBox="1"/>
          <p:nvPr/>
        </p:nvSpPr>
        <p:spPr>
          <a:xfrm>
            <a:off x="548640" y="292608"/>
            <a:ext cx="8229600" cy="274320"/>
          </a:xfrm>
          <a:prstGeom prst="rect">
            <a:avLst/>
          </a:prstGeom>
          <a:noFill/>
        </p:spPr>
        <p:txBody>
          <a:bodyPr wrap="square" lIns="0" tIns="0" rIns="0" bIns="0" anchor="t">
            <a:spAutoFit/>
          </a:bodyPr>
          <a:lstStyle/>
          <a:p>
            <a:pPr algn="l">
              <a:spcAft>
                <a:spcPts val="400"/>
              </a:spcAft>
            </a:pPr>
            <a:r>
              <a:rPr sz="1100" b="1" i="0">
                <a:solidFill>
                  <a:srgbClr val="046A38"/>
                </a:solidFill>
                <a:latin typeface="Arial"/>
              </a:rPr>
              <a:t>4 · MVP &amp; ROADMAP</a:t>
            </a:r>
          </a:p>
        </p:txBody>
      </p:sp>
      <p:sp>
        <p:nvSpPr>
          <p:cNvPr id="3" name="Title"/>
          <p:cNvSpPr txBox="1"/>
          <p:nvPr/>
        </p:nvSpPr>
        <p:spPr>
          <a:xfrm>
            <a:off x="548640" y="548640"/>
            <a:ext cx="11064240" cy="868680"/>
          </a:xfrm>
          <a:prstGeom prst="rect">
            <a:avLst/>
          </a:prstGeom>
          <a:noFill/>
        </p:spPr>
        <p:txBody>
          <a:bodyPr wrap="square" lIns="0" tIns="0" rIns="0" bIns="0" anchor="t">
            <a:spAutoFit/>
          </a:bodyPr>
          <a:lstStyle/>
          <a:p>
            <a:pPr algn="l">
              <a:spcAft>
                <a:spcPts val="400"/>
              </a:spcAft>
            </a:pPr>
            <a:r>
              <a:rPr sz="2800" b="1" i="0">
                <a:solidFill>
                  <a:srgbClr val="1A1A1A"/>
                </a:solidFill>
                <a:latin typeface="Arial"/>
              </a:rPr>
              <a:t>Roadmap: prove it on AWS in 12 weeks, then widen scope and autonomy</a:t>
            </a:r>
          </a:p>
        </p:txBody>
      </p:sp>
      <p:sp>
        <p:nvSpPr>
          <p:cNvPr id="5" name="SlideNo"/>
          <p:cNvSpPr txBox="1"/>
          <p:nvPr/>
        </p:nvSpPr>
        <p:spPr>
          <a:xfrm>
            <a:off x="11064240" y="6355080"/>
            <a:ext cx="576072" cy="320040"/>
          </a:xfrm>
          <a:prstGeom prst="rect">
            <a:avLst/>
          </a:prstGeom>
          <a:noFill/>
        </p:spPr>
        <p:txBody>
          <a:bodyPr wrap="square" lIns="0" tIns="0" rIns="0" bIns="0" anchor="t">
            <a:spAutoFit/>
          </a:bodyPr>
          <a:lstStyle/>
          <a:p>
            <a:pPr algn="r">
              <a:spcAft>
                <a:spcPts val="400"/>
              </a:spcAft>
            </a:pPr>
            <a:r>
              <a:rPr sz="1000" b="0" i="0">
                <a:solidFill>
                  <a:srgbClr val="53565A"/>
                </a:solidFill>
                <a:latin typeface="Calibri"/>
              </a:rPr>
              <a:t>14</a:t>
            </a:r>
          </a:p>
        </p:txBody>
      </p:sp>
      <p:sp>
        <p:nvSpPr>
          <p:cNvPr id="6" name="Rounded Rectangle 5"/>
          <p:cNvSpPr/>
          <p:nvPr/>
        </p:nvSpPr>
        <p:spPr>
          <a:xfrm>
            <a:off x="548640" y="1737360"/>
            <a:ext cx="3566160" cy="3840480"/>
          </a:xfrm>
          <a:prstGeom prst="roundRect">
            <a:avLst>
              <a:gd name="adj" fmla="val 6000"/>
            </a:avLst>
          </a:prstGeom>
          <a:solidFill>
            <a:srgbClr val="F1F8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822959" y="1874519"/>
            <a:ext cx="3017520" cy="411480"/>
          </a:xfrm>
          <a:prstGeom prst="rect">
            <a:avLst/>
          </a:prstGeom>
          <a:noFill/>
        </p:spPr>
        <p:txBody>
          <a:bodyPr wrap="square" lIns="0" tIns="0" rIns="0" bIns="0" anchor="t">
            <a:spAutoFit/>
          </a:bodyPr>
          <a:lstStyle/>
          <a:p>
            <a:pPr algn="l">
              <a:spcAft>
                <a:spcPts val="400"/>
              </a:spcAft>
            </a:pPr>
            <a:r>
              <a:rPr sz="1800" b="1" i="0">
                <a:solidFill>
                  <a:srgbClr val="046A38"/>
                </a:solidFill>
                <a:latin typeface="Arial"/>
              </a:rPr>
              <a:t>MVP · months 0–3</a:t>
            </a:r>
          </a:p>
        </p:txBody>
      </p:sp>
      <p:sp>
        <p:nvSpPr>
          <p:cNvPr id="8" name="TextBox 7"/>
          <p:cNvSpPr txBox="1"/>
          <p:nvPr/>
        </p:nvSpPr>
        <p:spPr>
          <a:xfrm>
            <a:off x="822959" y="2331720"/>
            <a:ext cx="3017520" cy="365760"/>
          </a:xfrm>
          <a:prstGeom prst="rect">
            <a:avLst/>
          </a:prstGeom>
          <a:noFill/>
        </p:spPr>
        <p:txBody>
          <a:bodyPr wrap="square" lIns="0" tIns="0" rIns="0" bIns="0" anchor="t">
            <a:spAutoFit/>
          </a:bodyPr>
          <a:lstStyle/>
          <a:p>
            <a:pPr algn="l">
              <a:spcAft>
                <a:spcPts val="400"/>
              </a:spcAft>
            </a:pPr>
            <a:r>
              <a:rPr sz="1400" b="0" i="1">
                <a:solidFill>
                  <a:srgbClr val="53565A"/>
                </a:solidFill>
                <a:latin typeface="Calibri"/>
              </a:rPr>
              <a:t>12-week pilot</a:t>
            </a:r>
          </a:p>
        </p:txBody>
      </p:sp>
      <p:sp>
        <p:nvSpPr>
          <p:cNvPr id="9" name="TextBox 8"/>
          <p:cNvSpPr txBox="1"/>
          <p:nvPr/>
        </p:nvSpPr>
        <p:spPr>
          <a:xfrm>
            <a:off x="822959" y="2834640"/>
            <a:ext cx="3063240" cy="3108960"/>
          </a:xfrm>
          <a:prstGeom prst="rect">
            <a:avLst/>
          </a:prstGeom>
          <a:noFill/>
        </p:spPr>
        <p:txBody>
          <a:bodyPr wrap="square" lIns="0" tIns="0" rIns="0" bIns="0">
            <a:spAutoFit/>
          </a:bodyPr>
          <a:lstStyle/>
          <a:p>
            <a:pPr marL="201168" indent="-201168">
              <a:spcAft>
                <a:spcPts val="800"/>
              </a:spcAft>
              <a:buChar char="•"/>
            </a:pPr>
            <a:r>
              <a:rPr sz="1400" b="0">
                <a:solidFill>
                  <a:srgbClr val="1A1A1A"/>
                </a:solidFill>
                <a:latin typeface="Calibri"/>
              </a:rPr>
              <a:t>Wk 1–3: backtest on golden set (hide SME rules, regenerate)</a:t>
            </a:r>
          </a:p>
          <a:p>
            <a:pPr marL="201168" indent="-201168">
              <a:spcAft>
                <a:spcPts val="800"/>
              </a:spcAft>
              <a:buChar char="•"/>
            </a:pPr>
            <a:r>
              <a:rPr sz="1400" b="0">
                <a:solidFill>
                  <a:srgbClr val="1A1A1A"/>
                </a:solidFill>
                <a:latin typeface="Calibri"/>
              </a:rPr>
              <a:t>Wk 4–8: live drafts, all in shadow mode</a:t>
            </a:r>
          </a:p>
          <a:p>
            <a:pPr marL="201168" indent="-201168">
              <a:spcAft>
                <a:spcPts val="800"/>
              </a:spcAft>
              <a:buChar char="•"/>
            </a:pPr>
            <a:r>
              <a:rPr sz="1400" b="0">
                <a:solidFill>
                  <a:srgbClr val="1A1A1A"/>
                </a:solidFill>
                <a:latin typeface="Calibri"/>
              </a:rPr>
              <a:t>Wk 9–12: canary customers, go/no-go</a:t>
            </a:r>
          </a:p>
        </p:txBody>
      </p:sp>
      <p:cxnSp>
        <p:nvCxnSpPr>
          <p:cNvPr id="10" name="Connector 9"/>
          <p:cNvCxnSpPr/>
          <p:nvPr/>
        </p:nvCxnSpPr>
        <p:spPr>
          <a:xfrm>
            <a:off x="4114800" y="3886200"/>
            <a:ext cx="182879" cy="0"/>
          </a:xfrm>
          <a:prstGeom prst="line">
            <a:avLst/>
          </a:prstGeom>
          <a:ln w="25400">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4297679" y="1737360"/>
            <a:ext cx="3566160" cy="3840480"/>
          </a:xfrm>
          <a:prstGeom prst="roundRect">
            <a:avLst>
              <a:gd name="adj" fmla="val 6000"/>
            </a:avLst>
          </a:prstGeom>
          <a:solidFill>
            <a:srgbClr val="E6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4571999" y="1874519"/>
            <a:ext cx="3017520" cy="411480"/>
          </a:xfrm>
          <a:prstGeom prst="rect">
            <a:avLst/>
          </a:prstGeom>
          <a:noFill/>
        </p:spPr>
        <p:txBody>
          <a:bodyPr wrap="square" lIns="0" tIns="0" rIns="0" bIns="0" anchor="t">
            <a:spAutoFit/>
          </a:bodyPr>
          <a:lstStyle/>
          <a:p>
            <a:pPr algn="l">
              <a:spcAft>
                <a:spcPts val="400"/>
              </a:spcAft>
            </a:pPr>
            <a:r>
              <a:rPr sz="1800" b="1" i="0">
                <a:solidFill>
                  <a:srgbClr val="007680"/>
                </a:solidFill>
                <a:latin typeface="Arial"/>
              </a:rPr>
              <a:t>V1 · months 3–6</a:t>
            </a:r>
          </a:p>
        </p:txBody>
      </p:sp>
      <p:sp>
        <p:nvSpPr>
          <p:cNvPr id="13" name="TextBox 12"/>
          <p:cNvSpPr txBox="1"/>
          <p:nvPr/>
        </p:nvSpPr>
        <p:spPr>
          <a:xfrm>
            <a:off x="4571999" y="2331720"/>
            <a:ext cx="3017520" cy="365760"/>
          </a:xfrm>
          <a:prstGeom prst="rect">
            <a:avLst/>
          </a:prstGeom>
          <a:noFill/>
        </p:spPr>
        <p:txBody>
          <a:bodyPr wrap="square" lIns="0" tIns="0" rIns="0" bIns="0" anchor="t">
            <a:spAutoFit/>
          </a:bodyPr>
          <a:lstStyle/>
          <a:p>
            <a:pPr algn="l">
              <a:spcAft>
                <a:spcPts val="400"/>
              </a:spcAft>
            </a:pPr>
            <a:r>
              <a:rPr sz="1400" b="0" i="1">
                <a:solidFill>
                  <a:srgbClr val="53565A"/>
                </a:solidFill>
                <a:latin typeface="Calibri"/>
              </a:rPr>
              <a:t>Widen coverage</a:t>
            </a:r>
          </a:p>
        </p:txBody>
      </p:sp>
      <p:sp>
        <p:nvSpPr>
          <p:cNvPr id="14" name="TextBox 13"/>
          <p:cNvSpPr txBox="1"/>
          <p:nvPr/>
        </p:nvSpPr>
        <p:spPr>
          <a:xfrm>
            <a:off x="4571999" y="2834640"/>
            <a:ext cx="3063240" cy="3108960"/>
          </a:xfrm>
          <a:prstGeom prst="rect">
            <a:avLst/>
          </a:prstGeom>
          <a:noFill/>
        </p:spPr>
        <p:txBody>
          <a:bodyPr wrap="square" lIns="0" tIns="0" rIns="0" bIns="0">
            <a:spAutoFit/>
          </a:bodyPr>
          <a:lstStyle/>
          <a:p>
            <a:pPr marL="201168" indent="-201168">
              <a:spcAft>
                <a:spcPts val="800"/>
              </a:spcAft>
              <a:buChar char="•"/>
            </a:pPr>
            <a:r>
              <a:rPr sz="1400" b="0">
                <a:solidFill>
                  <a:srgbClr val="1A1A1A"/>
                </a:solidFill>
                <a:latin typeface="Calibri"/>
              </a:rPr>
              <a:t>Azure and GCP</a:t>
            </a:r>
          </a:p>
          <a:p>
            <a:pPr marL="201168" indent="-201168">
              <a:spcAft>
                <a:spcPts val="800"/>
              </a:spcAft>
              <a:buChar char="•"/>
            </a:pPr>
            <a:r>
              <a:rPr sz="1400" b="0">
                <a:solidFill>
                  <a:srgbClr val="1A1A1A"/>
                </a:solidFill>
                <a:latin typeface="Calibri"/>
              </a:rPr>
              <a:t>Maintenance agent for API deprecations and future CIS releases</a:t>
            </a:r>
          </a:p>
          <a:p>
            <a:pPr marL="201168" indent="-201168">
              <a:spcAft>
                <a:spcPts val="800"/>
              </a:spcAft>
              <a:buChar char="•"/>
            </a:pPr>
            <a:r>
              <a:rPr sz="1400" b="0">
                <a:solidFill>
                  <a:srgbClr val="1A1A1A"/>
                </a:solidFill>
                <a:latin typeface="Calibri"/>
              </a:rPr>
              <a:t>Purpose-built review console</a:t>
            </a:r>
          </a:p>
          <a:p>
            <a:pPr marL="201168" indent="-201168">
              <a:spcAft>
                <a:spcPts val="800"/>
              </a:spcAft>
              <a:buChar char="•"/>
            </a:pPr>
            <a:r>
              <a:rPr sz="1400" b="0">
                <a:solidFill>
                  <a:srgbClr val="1A1A1A"/>
                </a:solidFill>
                <a:latin typeface="Calibri"/>
              </a:rPr>
              <a:t>T1 rules auto-ship with random SME audits</a:t>
            </a:r>
          </a:p>
        </p:txBody>
      </p:sp>
      <p:cxnSp>
        <p:nvCxnSpPr>
          <p:cNvPr id="15" name="Connector 14"/>
          <p:cNvCxnSpPr/>
          <p:nvPr/>
        </p:nvCxnSpPr>
        <p:spPr>
          <a:xfrm>
            <a:off x="7863840" y="3886200"/>
            <a:ext cx="182879" cy="0"/>
          </a:xfrm>
          <a:prstGeom prst="line">
            <a:avLst/>
          </a:prstGeom>
          <a:ln w="25400">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8046719" y="1737360"/>
            <a:ext cx="3566160" cy="3840480"/>
          </a:xfrm>
          <a:prstGeom prst="roundRect">
            <a:avLst>
              <a:gd name="adj" fmla="val 6000"/>
            </a:avLst>
          </a:prstGeom>
          <a:solidFill>
            <a:srgbClr val="FFF3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8321040" y="1874519"/>
            <a:ext cx="3017520" cy="411480"/>
          </a:xfrm>
          <a:prstGeom prst="rect">
            <a:avLst/>
          </a:prstGeom>
          <a:noFill/>
        </p:spPr>
        <p:txBody>
          <a:bodyPr wrap="square" lIns="0" tIns="0" rIns="0" bIns="0" anchor="t">
            <a:spAutoFit/>
          </a:bodyPr>
          <a:lstStyle/>
          <a:p>
            <a:pPr algn="l">
              <a:spcAft>
                <a:spcPts val="400"/>
              </a:spcAft>
            </a:pPr>
            <a:r>
              <a:rPr sz="1800" b="1" i="0">
                <a:solidFill>
                  <a:srgbClr val="A34A00"/>
                </a:solidFill>
                <a:latin typeface="Arial"/>
              </a:rPr>
              <a:t>V2 · months 6–12</a:t>
            </a:r>
          </a:p>
        </p:txBody>
      </p:sp>
      <p:sp>
        <p:nvSpPr>
          <p:cNvPr id="18" name="TextBox 17"/>
          <p:cNvSpPr txBox="1"/>
          <p:nvPr/>
        </p:nvSpPr>
        <p:spPr>
          <a:xfrm>
            <a:off x="8321040" y="2331720"/>
            <a:ext cx="3017520" cy="365760"/>
          </a:xfrm>
          <a:prstGeom prst="rect">
            <a:avLst/>
          </a:prstGeom>
          <a:noFill/>
        </p:spPr>
        <p:txBody>
          <a:bodyPr wrap="square" lIns="0" tIns="0" rIns="0" bIns="0" anchor="t">
            <a:spAutoFit/>
          </a:bodyPr>
          <a:lstStyle/>
          <a:p>
            <a:pPr algn="l">
              <a:spcAft>
                <a:spcPts val="400"/>
              </a:spcAft>
            </a:pPr>
            <a:r>
              <a:rPr sz="1400" b="0" i="1">
                <a:solidFill>
                  <a:srgbClr val="53565A"/>
                </a:solidFill>
                <a:latin typeface="Calibri"/>
              </a:rPr>
              <a:t>New rule classes</a:t>
            </a:r>
          </a:p>
        </p:txBody>
      </p:sp>
      <p:sp>
        <p:nvSpPr>
          <p:cNvPr id="19" name="TextBox 18"/>
          <p:cNvSpPr txBox="1"/>
          <p:nvPr/>
        </p:nvSpPr>
        <p:spPr>
          <a:xfrm>
            <a:off x="8321040" y="2834640"/>
            <a:ext cx="3063240" cy="3108960"/>
          </a:xfrm>
          <a:prstGeom prst="rect">
            <a:avLst/>
          </a:prstGeom>
          <a:noFill/>
        </p:spPr>
        <p:txBody>
          <a:bodyPr wrap="square" lIns="0" tIns="0" rIns="0" bIns="0">
            <a:spAutoFit/>
          </a:bodyPr>
          <a:lstStyle/>
          <a:p>
            <a:pPr marL="201168" indent="-201168">
              <a:spcAft>
                <a:spcPts val="800"/>
              </a:spcAft>
              <a:buChar char="•"/>
            </a:pPr>
            <a:r>
              <a:rPr sz="1400" b="0">
                <a:solidFill>
                  <a:srgbClr val="1A1A1A"/>
                </a:solidFill>
                <a:latin typeface="Calibri"/>
              </a:rPr>
              <a:t>CVE and threat-intel driven rules</a:t>
            </a:r>
          </a:p>
          <a:p>
            <a:pPr marL="201168" indent="-201168">
              <a:spcAft>
                <a:spcPts val="800"/>
              </a:spcAft>
              <a:buChar char="•"/>
            </a:pPr>
            <a:r>
              <a:rPr sz="1400" b="0">
                <a:solidFill>
                  <a:srgbClr val="1A1A1A"/>
                </a:solidFill>
                <a:latin typeface="Calibri"/>
              </a:rPr>
              <a:t>Attack-path rules across resources</a:t>
            </a:r>
          </a:p>
          <a:p>
            <a:pPr marL="201168" indent="-201168">
              <a:spcAft>
                <a:spcPts val="800"/>
              </a:spcAft>
              <a:buChar char="•"/>
            </a:pPr>
            <a:r>
              <a:rPr sz="1400" b="0">
                <a:solidFill>
                  <a:srgbClr val="1A1A1A"/>
                </a:solidFill>
                <a:latin typeface="Calibri"/>
              </a:rPr>
              <a:t>Natural-language custom rules for customers</a:t>
            </a:r>
          </a:p>
          <a:p>
            <a:pPr marL="201168" indent="-201168">
              <a:spcAft>
                <a:spcPts val="800"/>
              </a:spcAft>
              <a:buChar char="•"/>
            </a:pPr>
            <a:r>
              <a:rPr sz="1400" b="0">
                <a:solidFill>
                  <a:srgbClr val="1A1A1A"/>
                </a:solidFill>
                <a:latin typeface="Calibri"/>
              </a:rPr>
              <a:t>Auditor provenance portal</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ection"/>
          <p:cNvSpPr txBox="1"/>
          <p:nvPr/>
        </p:nvSpPr>
        <p:spPr>
          <a:xfrm>
            <a:off x="548640" y="292608"/>
            <a:ext cx="8229600" cy="274320"/>
          </a:xfrm>
          <a:prstGeom prst="rect">
            <a:avLst/>
          </a:prstGeom>
          <a:noFill/>
        </p:spPr>
        <p:txBody>
          <a:bodyPr wrap="square" lIns="0" tIns="0" rIns="0" bIns="0" anchor="t">
            <a:spAutoFit/>
          </a:bodyPr>
          <a:lstStyle/>
          <a:p>
            <a:pPr algn="l">
              <a:spcAft>
                <a:spcPts val="400"/>
              </a:spcAft>
            </a:pPr>
            <a:r>
              <a:rPr sz="1100" b="1" i="0">
                <a:solidFill>
                  <a:srgbClr val="046A38"/>
                </a:solidFill>
                <a:latin typeface="Arial"/>
              </a:rPr>
              <a:t>4 · MVP &amp; ROADMAP</a:t>
            </a:r>
          </a:p>
        </p:txBody>
      </p:sp>
      <p:sp>
        <p:nvSpPr>
          <p:cNvPr id="3" name="Title"/>
          <p:cNvSpPr txBox="1"/>
          <p:nvPr/>
        </p:nvSpPr>
        <p:spPr>
          <a:xfrm>
            <a:off x="548640" y="548640"/>
            <a:ext cx="11064240" cy="868680"/>
          </a:xfrm>
          <a:prstGeom prst="rect">
            <a:avLst/>
          </a:prstGeom>
          <a:noFill/>
        </p:spPr>
        <p:txBody>
          <a:bodyPr wrap="square" lIns="0" tIns="0" rIns="0" bIns="0" anchor="t">
            <a:spAutoFit/>
          </a:bodyPr>
          <a:lstStyle/>
          <a:p>
            <a:pPr algn="l">
              <a:spcAft>
                <a:spcPts val="400"/>
              </a:spcAft>
            </a:pPr>
            <a:r>
              <a:rPr sz="2800" b="1" i="0">
                <a:solidFill>
                  <a:srgbClr val="1A1A1A"/>
                </a:solidFill>
                <a:latin typeface="Arial"/>
              </a:rPr>
              <a:t>KPIs tie model quality to the business case</a:t>
            </a:r>
          </a:p>
        </p:txBody>
      </p:sp>
      <p:sp>
        <p:nvSpPr>
          <p:cNvPr id="5" name="SlideNo"/>
          <p:cNvSpPr txBox="1"/>
          <p:nvPr/>
        </p:nvSpPr>
        <p:spPr>
          <a:xfrm>
            <a:off x="11064240" y="6355080"/>
            <a:ext cx="576072" cy="320040"/>
          </a:xfrm>
          <a:prstGeom prst="rect">
            <a:avLst/>
          </a:prstGeom>
          <a:noFill/>
        </p:spPr>
        <p:txBody>
          <a:bodyPr wrap="square" lIns="0" tIns="0" rIns="0" bIns="0" anchor="t">
            <a:spAutoFit/>
          </a:bodyPr>
          <a:lstStyle/>
          <a:p>
            <a:pPr algn="r">
              <a:spcAft>
                <a:spcPts val="400"/>
              </a:spcAft>
            </a:pPr>
            <a:r>
              <a:rPr sz="1000" b="0" i="0">
                <a:solidFill>
                  <a:srgbClr val="53565A"/>
                </a:solidFill>
                <a:latin typeface="Calibri"/>
              </a:rPr>
              <a:t>15</a:t>
            </a:r>
          </a:p>
        </p:txBody>
      </p:sp>
      <p:graphicFrame>
        <p:nvGraphicFramePr>
          <p:cNvPr id="6" name="Table 5"/>
          <p:cNvGraphicFramePr>
            <a:graphicFrameLocks noGrp="1"/>
          </p:cNvGraphicFramePr>
          <p:nvPr/>
        </p:nvGraphicFramePr>
        <p:xfrm>
          <a:off x="548640" y="1737360"/>
          <a:ext cx="6949440" cy="3657600"/>
        </p:xfrm>
        <a:graphic>
          <a:graphicData uri="http://schemas.openxmlformats.org/drawingml/2006/table">
            <a:tbl>
              <a:tblPr firstRow="1" bandRow="1">
                <a:tableStyleId>{5940675A-B579-460E-94D1-54222C63F5DA}</a:tableStyleId>
              </a:tblPr>
              <a:tblGrid>
                <a:gridCol w="1097280">
                  <a:extLst>
                    <a:ext uri="{9D8B030D-6E8A-4147-A177-3AD203B41FA5}">
                      <a16:colId xmlns:a16="http://schemas.microsoft.com/office/drawing/2014/main" val="20000"/>
                    </a:ext>
                  </a:extLst>
                </a:gridCol>
                <a:gridCol w="301752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463040">
                  <a:extLst>
                    <a:ext uri="{9D8B030D-6E8A-4147-A177-3AD203B41FA5}">
                      <a16:colId xmlns:a16="http://schemas.microsoft.com/office/drawing/2014/main" val="20003"/>
                    </a:ext>
                  </a:extLst>
                </a:gridCol>
              </a:tblGrid>
              <a:tr h="457200">
                <a:tc>
                  <a:txBody>
                    <a:bodyPr/>
                    <a:lstStyle/>
                    <a:p>
                      <a:r>
                        <a:rPr sz="1200" b="1">
                          <a:solidFill>
                            <a:srgbClr val="FFFFFF"/>
                          </a:solidFill>
                          <a:latin typeface="Calibri"/>
                        </a:rPr>
                        <a:t>Layer</a:t>
                      </a:r>
                    </a:p>
                  </a:txBody>
                  <a:tcPr marL="73152" marR="73152" marT="36576" marB="36576" anchor="ctr">
                    <a:solidFill>
                      <a:srgbClr val="0D0D0D"/>
                    </a:solidFill>
                  </a:tcPr>
                </a:tc>
                <a:tc>
                  <a:txBody>
                    <a:bodyPr/>
                    <a:lstStyle/>
                    <a:p>
                      <a:r>
                        <a:rPr sz="1200" b="1">
                          <a:solidFill>
                            <a:srgbClr val="FFFFFF"/>
                          </a:solidFill>
                          <a:latin typeface="Calibri"/>
                        </a:rPr>
                        <a:t>KPI</a:t>
                      </a:r>
                    </a:p>
                  </a:txBody>
                  <a:tcPr marL="73152" marR="73152" marT="36576" marB="36576" anchor="ctr">
                    <a:solidFill>
                      <a:srgbClr val="0D0D0D"/>
                    </a:solidFill>
                  </a:tcPr>
                </a:tc>
                <a:tc>
                  <a:txBody>
                    <a:bodyPr/>
                    <a:lstStyle/>
                    <a:p>
                      <a:r>
                        <a:rPr sz="1200" b="1">
                          <a:solidFill>
                            <a:srgbClr val="FFFFFF"/>
                          </a:solidFill>
                          <a:latin typeface="Calibri"/>
                        </a:rPr>
                        <a:t>Baseline</a:t>
                      </a:r>
                    </a:p>
                  </a:txBody>
                  <a:tcPr marL="73152" marR="73152" marT="36576" marB="36576" anchor="ctr">
                    <a:solidFill>
                      <a:srgbClr val="0D0D0D"/>
                    </a:solidFill>
                  </a:tcPr>
                </a:tc>
                <a:tc>
                  <a:txBody>
                    <a:bodyPr/>
                    <a:lstStyle/>
                    <a:p>
                      <a:r>
                        <a:rPr sz="1200" b="1">
                          <a:solidFill>
                            <a:srgbClr val="FFFFFF"/>
                          </a:solidFill>
                          <a:latin typeface="Calibri"/>
                        </a:rPr>
                        <a:t>Target</a:t>
                      </a:r>
                    </a:p>
                  </a:txBody>
                  <a:tcPr marL="73152" marR="73152" marT="36576" marB="36576" anchor="ctr">
                    <a:solidFill>
                      <a:srgbClr val="0D0D0D"/>
                    </a:solidFill>
                  </a:tcPr>
                </a:tc>
                <a:extLst>
                  <a:ext uri="{0D108BD9-81ED-4DB2-BD59-A6C34878D82A}">
                    <a16:rowId xmlns:a16="http://schemas.microsoft.com/office/drawing/2014/main" val="10000"/>
                  </a:ext>
                </a:extLst>
              </a:tr>
              <a:tr h="457200">
                <a:tc>
                  <a:txBody>
                    <a:bodyPr/>
                    <a:lstStyle/>
                    <a:p>
                      <a:r>
                        <a:rPr sz="1200">
                          <a:solidFill>
                            <a:srgbClr val="1A1A1A"/>
                          </a:solidFill>
                          <a:latin typeface="Calibri"/>
                        </a:rPr>
                        <a:t>Business</a:t>
                      </a:r>
                    </a:p>
                  </a:txBody>
                  <a:tcPr marL="73152" marR="73152" marT="36576" marB="36576" anchor="ctr">
                    <a:solidFill>
                      <a:srgbClr val="FFFFFF"/>
                    </a:solidFill>
                  </a:tcPr>
                </a:tc>
                <a:tc>
                  <a:txBody>
                    <a:bodyPr/>
                    <a:lstStyle/>
                    <a:p>
                      <a:r>
                        <a:rPr sz="1200">
                          <a:solidFill>
                            <a:srgbClr val="1A1A1A"/>
                          </a:solidFill>
                          <a:latin typeface="Calibri"/>
                        </a:rPr>
                        <a:t>Validated rules per week</a:t>
                      </a:r>
                    </a:p>
                  </a:txBody>
                  <a:tcPr marL="73152" marR="73152" marT="36576" marB="36576" anchor="ctr">
                    <a:solidFill>
                      <a:srgbClr val="FFFFFF"/>
                    </a:solidFill>
                  </a:tcPr>
                </a:tc>
                <a:tc>
                  <a:txBody>
                    <a:bodyPr/>
                    <a:lstStyle/>
                    <a:p>
                      <a:r>
                        <a:rPr sz="1200">
                          <a:solidFill>
                            <a:srgbClr val="1A1A1A"/>
                          </a:solidFill>
                          <a:latin typeface="Calibri"/>
                        </a:rPr>
                        <a:t>6–10 max (derived)</a:t>
                      </a:r>
                    </a:p>
                  </a:txBody>
                  <a:tcPr marL="73152" marR="73152" marT="36576" marB="36576" anchor="ctr">
                    <a:solidFill>
                      <a:srgbClr val="FFFFFF"/>
                    </a:solidFill>
                  </a:tcPr>
                </a:tc>
                <a:tc>
                  <a:txBody>
                    <a:bodyPr/>
                    <a:lstStyle/>
                    <a:p>
                      <a:r>
                        <a:rPr sz="1200">
                          <a:solidFill>
                            <a:srgbClr val="1A1A1A"/>
                          </a:solidFill>
                          <a:latin typeface="Calibri"/>
                        </a:rPr>
                        <a:t>≥ 20 / week (~3×)</a:t>
                      </a:r>
                    </a:p>
                  </a:txBody>
                  <a:tcPr marL="73152" marR="73152" marT="36576" marB="36576" anchor="ctr">
                    <a:solidFill>
                      <a:srgbClr val="FFFFFF"/>
                    </a:solidFill>
                  </a:tcPr>
                </a:tc>
                <a:extLst>
                  <a:ext uri="{0D108BD9-81ED-4DB2-BD59-A6C34878D82A}">
                    <a16:rowId xmlns:a16="http://schemas.microsoft.com/office/drawing/2014/main" val="10001"/>
                  </a:ext>
                </a:extLst>
              </a:tr>
              <a:tr h="457200">
                <a:tc>
                  <a:txBody>
                    <a:bodyPr/>
                    <a:lstStyle/>
                    <a:p>
                      <a:r>
                        <a:rPr sz="1200">
                          <a:solidFill>
                            <a:srgbClr val="1A1A1A"/>
                          </a:solidFill>
                          <a:latin typeface="Calibri"/>
                        </a:rPr>
                        <a:t>Business</a:t>
                      </a:r>
                    </a:p>
                  </a:txBody>
                  <a:tcPr marL="73152" marR="73152" marT="36576" marB="36576" anchor="ctr">
                    <a:solidFill>
                      <a:srgbClr val="F4F5F2"/>
                    </a:solidFill>
                  </a:tcPr>
                </a:tc>
                <a:tc>
                  <a:txBody>
                    <a:bodyPr/>
                    <a:lstStyle/>
                    <a:p>
                      <a:r>
                        <a:rPr sz="1200">
                          <a:solidFill>
                            <a:srgbClr val="1A1A1A"/>
                          </a:solidFill>
                          <a:latin typeface="Calibri"/>
                        </a:rPr>
                        <a:t>Days from provider change to rule shipped</a:t>
                      </a:r>
                    </a:p>
                  </a:txBody>
                  <a:tcPr marL="73152" marR="73152" marT="36576" marB="36576" anchor="ctr">
                    <a:solidFill>
                      <a:srgbClr val="F4F5F2"/>
                    </a:solidFill>
                  </a:tcPr>
                </a:tc>
                <a:tc>
                  <a:txBody>
                    <a:bodyPr/>
                    <a:lstStyle/>
                    <a:p>
                      <a:r>
                        <a:rPr sz="1200">
                          <a:solidFill>
                            <a:srgbClr val="1A1A1A"/>
                          </a:solidFill>
                          <a:latin typeface="Calibri"/>
                        </a:rPr>
                        <a:t>"Months" (case)</a:t>
                      </a:r>
                    </a:p>
                  </a:txBody>
                  <a:tcPr marL="73152" marR="73152" marT="36576" marB="36576" anchor="ctr">
                    <a:solidFill>
                      <a:srgbClr val="F4F5F2"/>
                    </a:solidFill>
                  </a:tcPr>
                </a:tc>
                <a:tc>
                  <a:txBody>
                    <a:bodyPr/>
                    <a:lstStyle/>
                    <a:p>
                      <a:r>
                        <a:rPr sz="1200">
                          <a:solidFill>
                            <a:srgbClr val="1A1A1A"/>
                          </a:solidFill>
                          <a:latin typeface="Calibri"/>
                        </a:rPr>
                        <a:t>≤ 14 days</a:t>
                      </a:r>
                    </a:p>
                  </a:txBody>
                  <a:tcPr marL="73152" marR="73152" marT="36576" marB="36576" anchor="ctr">
                    <a:solidFill>
                      <a:srgbClr val="F4F5F2"/>
                    </a:solidFill>
                  </a:tcPr>
                </a:tc>
                <a:extLst>
                  <a:ext uri="{0D108BD9-81ED-4DB2-BD59-A6C34878D82A}">
                    <a16:rowId xmlns:a16="http://schemas.microsoft.com/office/drawing/2014/main" val="10002"/>
                  </a:ext>
                </a:extLst>
              </a:tr>
              <a:tr h="457200">
                <a:tc>
                  <a:txBody>
                    <a:bodyPr/>
                    <a:lstStyle/>
                    <a:p>
                      <a:r>
                        <a:rPr sz="1200">
                          <a:solidFill>
                            <a:srgbClr val="1A1A1A"/>
                          </a:solidFill>
                          <a:latin typeface="Calibri"/>
                        </a:rPr>
                        <a:t>Quality</a:t>
                      </a:r>
                    </a:p>
                  </a:txBody>
                  <a:tcPr marL="73152" marR="73152" marT="36576" marB="36576" anchor="ctr">
                    <a:solidFill>
                      <a:srgbClr val="FFFFFF"/>
                    </a:solidFill>
                  </a:tcPr>
                </a:tc>
                <a:tc>
                  <a:txBody>
                    <a:bodyPr/>
                    <a:lstStyle/>
                    <a:p>
                      <a:r>
                        <a:rPr sz="1200">
                          <a:solidFill>
                            <a:srgbClr val="1A1A1A"/>
                          </a:solidFill>
                          <a:latin typeface="Calibri"/>
                        </a:rPr>
                        <a:t>Citation accuracy on golden set</a:t>
                      </a:r>
                    </a:p>
                  </a:txBody>
                  <a:tcPr marL="73152" marR="73152" marT="36576" marB="36576" anchor="ctr">
                    <a:solidFill>
                      <a:srgbClr val="FFFFFF"/>
                    </a:solidFill>
                  </a:tcPr>
                </a:tc>
                <a:tc>
                  <a:txBody>
                    <a:bodyPr/>
                    <a:lstStyle/>
                    <a:p>
                      <a:r>
                        <a:rPr sz="1200">
                          <a:solidFill>
                            <a:srgbClr val="1A1A1A"/>
                          </a:solidFill>
                          <a:latin typeface="Calibri"/>
                        </a:rPr>
                        <a:t>n/a</a:t>
                      </a:r>
                    </a:p>
                  </a:txBody>
                  <a:tcPr marL="73152" marR="73152" marT="36576" marB="36576" anchor="ctr">
                    <a:solidFill>
                      <a:srgbClr val="FFFFFF"/>
                    </a:solidFill>
                  </a:tcPr>
                </a:tc>
                <a:tc>
                  <a:txBody>
                    <a:bodyPr/>
                    <a:lstStyle/>
                    <a:p>
                      <a:r>
                        <a:rPr sz="1200">
                          <a:solidFill>
                            <a:srgbClr val="1A1A1A"/>
                          </a:solidFill>
                          <a:latin typeface="Calibri"/>
                        </a:rPr>
                        <a:t>100% (hard gate)</a:t>
                      </a:r>
                    </a:p>
                  </a:txBody>
                  <a:tcPr marL="73152" marR="73152" marT="36576" marB="36576" anchor="ctr">
                    <a:solidFill>
                      <a:srgbClr val="FFFFFF"/>
                    </a:solidFill>
                  </a:tcPr>
                </a:tc>
                <a:extLst>
                  <a:ext uri="{0D108BD9-81ED-4DB2-BD59-A6C34878D82A}">
                    <a16:rowId xmlns:a16="http://schemas.microsoft.com/office/drawing/2014/main" val="10003"/>
                  </a:ext>
                </a:extLst>
              </a:tr>
              <a:tr h="457200">
                <a:tc>
                  <a:txBody>
                    <a:bodyPr/>
                    <a:lstStyle/>
                    <a:p>
                      <a:r>
                        <a:rPr sz="1200">
                          <a:solidFill>
                            <a:srgbClr val="1A1A1A"/>
                          </a:solidFill>
                          <a:latin typeface="Calibri"/>
                        </a:rPr>
                        <a:t>Quality</a:t>
                      </a:r>
                    </a:p>
                  </a:txBody>
                  <a:tcPr marL="73152" marR="73152" marT="36576" marB="36576" anchor="ctr">
                    <a:solidFill>
                      <a:srgbClr val="F4F5F2"/>
                    </a:solidFill>
                  </a:tcPr>
                </a:tc>
                <a:tc>
                  <a:txBody>
                    <a:bodyPr/>
                    <a:lstStyle/>
                    <a:p>
                      <a:r>
                        <a:rPr sz="1200">
                          <a:solidFill>
                            <a:srgbClr val="1A1A1A"/>
                          </a:solidFill>
                          <a:latin typeface="Calibri"/>
                        </a:rPr>
                        <a:t>Rule accuracy (all gates passed)</a:t>
                      </a:r>
                    </a:p>
                  </a:txBody>
                  <a:tcPr marL="73152" marR="73152" marT="36576" marB="36576" anchor="ctr">
                    <a:solidFill>
                      <a:srgbClr val="F4F5F2"/>
                    </a:solidFill>
                  </a:tcPr>
                </a:tc>
                <a:tc>
                  <a:txBody>
                    <a:bodyPr/>
                    <a:lstStyle/>
                    <a:p>
                      <a:r>
                        <a:rPr sz="1200">
                          <a:solidFill>
                            <a:srgbClr val="1A1A1A"/>
                          </a:solidFill>
                          <a:latin typeface="Calibri"/>
                        </a:rPr>
                        <a:t>n/a</a:t>
                      </a:r>
                    </a:p>
                  </a:txBody>
                  <a:tcPr marL="73152" marR="73152" marT="36576" marB="36576" anchor="ctr">
                    <a:solidFill>
                      <a:srgbClr val="F4F5F2"/>
                    </a:solidFill>
                  </a:tcPr>
                </a:tc>
                <a:tc>
                  <a:txBody>
                    <a:bodyPr/>
                    <a:lstStyle/>
                    <a:p>
                      <a:r>
                        <a:rPr sz="1200">
                          <a:solidFill>
                            <a:srgbClr val="1A1A1A"/>
                          </a:solidFill>
                          <a:latin typeface="Calibri"/>
                        </a:rPr>
                        <a:t>≥ 80%</a:t>
                      </a:r>
                    </a:p>
                  </a:txBody>
                  <a:tcPr marL="73152" marR="73152" marT="36576" marB="36576" anchor="ctr">
                    <a:solidFill>
                      <a:srgbClr val="F4F5F2"/>
                    </a:solidFill>
                  </a:tcPr>
                </a:tc>
                <a:extLst>
                  <a:ext uri="{0D108BD9-81ED-4DB2-BD59-A6C34878D82A}">
                    <a16:rowId xmlns:a16="http://schemas.microsoft.com/office/drawing/2014/main" val="10004"/>
                  </a:ext>
                </a:extLst>
              </a:tr>
              <a:tr h="457200">
                <a:tc>
                  <a:txBody>
                    <a:bodyPr/>
                    <a:lstStyle/>
                    <a:p>
                      <a:r>
                        <a:rPr sz="1200">
                          <a:solidFill>
                            <a:srgbClr val="1A1A1A"/>
                          </a:solidFill>
                          <a:latin typeface="Calibri"/>
                        </a:rPr>
                        <a:t>Quality</a:t>
                      </a:r>
                    </a:p>
                  </a:txBody>
                  <a:tcPr marL="73152" marR="73152" marT="36576" marB="36576" anchor="ctr">
                    <a:solidFill>
                      <a:srgbClr val="FFFFFF"/>
                    </a:solidFill>
                  </a:tcPr>
                </a:tc>
                <a:tc>
                  <a:txBody>
                    <a:bodyPr/>
                    <a:lstStyle/>
                    <a:p>
                      <a:r>
                        <a:rPr sz="1200">
                          <a:solidFill>
                            <a:srgbClr val="1A1A1A"/>
                          </a:solidFill>
                          <a:latin typeface="Calibri"/>
                        </a:rPr>
                        <a:t>False-positive reports per rule after release</a:t>
                      </a:r>
                    </a:p>
                  </a:txBody>
                  <a:tcPr marL="73152" marR="73152" marT="36576" marB="36576" anchor="ctr">
                    <a:solidFill>
                      <a:srgbClr val="FFFFFF"/>
                    </a:solidFill>
                  </a:tcPr>
                </a:tc>
                <a:tc>
                  <a:txBody>
                    <a:bodyPr/>
                    <a:lstStyle/>
                    <a:p>
                      <a:r>
                        <a:rPr sz="1200">
                          <a:solidFill>
                            <a:srgbClr val="1A1A1A"/>
                          </a:solidFill>
                          <a:latin typeface="Calibri"/>
                        </a:rPr>
                        <a:t>n/a</a:t>
                      </a:r>
                    </a:p>
                  </a:txBody>
                  <a:tcPr marL="73152" marR="73152" marT="36576" marB="36576" anchor="ctr">
                    <a:solidFill>
                      <a:srgbClr val="FFFFFF"/>
                    </a:solidFill>
                  </a:tcPr>
                </a:tc>
                <a:tc>
                  <a:txBody>
                    <a:bodyPr/>
                    <a:lstStyle/>
                    <a:p>
                      <a:r>
                        <a:rPr sz="1200">
                          <a:solidFill>
                            <a:srgbClr val="1A1A1A"/>
                          </a:solidFill>
                          <a:latin typeface="Calibri"/>
                        </a:rPr>
                        <a:t>≤ SME-rule rate</a:t>
                      </a:r>
                    </a:p>
                  </a:txBody>
                  <a:tcPr marL="73152" marR="73152" marT="36576" marB="36576" anchor="ctr">
                    <a:solidFill>
                      <a:srgbClr val="FFFFFF"/>
                    </a:solidFill>
                  </a:tcPr>
                </a:tc>
                <a:extLst>
                  <a:ext uri="{0D108BD9-81ED-4DB2-BD59-A6C34878D82A}">
                    <a16:rowId xmlns:a16="http://schemas.microsoft.com/office/drawing/2014/main" val="10005"/>
                  </a:ext>
                </a:extLst>
              </a:tr>
              <a:tr h="457200">
                <a:tc>
                  <a:txBody>
                    <a:bodyPr/>
                    <a:lstStyle/>
                    <a:p>
                      <a:r>
                        <a:rPr sz="1200">
                          <a:solidFill>
                            <a:srgbClr val="1A1A1A"/>
                          </a:solidFill>
                          <a:latin typeface="Calibri"/>
                        </a:rPr>
                        <a:t>Technical</a:t>
                      </a:r>
                    </a:p>
                  </a:txBody>
                  <a:tcPr marL="73152" marR="73152" marT="36576" marB="36576" anchor="ctr">
                    <a:solidFill>
                      <a:srgbClr val="F4F5F2"/>
                    </a:solidFill>
                  </a:tcPr>
                </a:tc>
                <a:tc>
                  <a:txBody>
                    <a:bodyPr/>
                    <a:lstStyle/>
                    <a:p>
                      <a:r>
                        <a:rPr sz="1200">
                          <a:solidFill>
                            <a:srgbClr val="1A1A1A"/>
                          </a:solidFill>
                          <a:latin typeface="Calibri"/>
                        </a:rPr>
                        <a:t>Triage recall on 'needs rule' class</a:t>
                      </a:r>
                    </a:p>
                  </a:txBody>
                  <a:tcPr marL="73152" marR="73152" marT="36576" marB="36576" anchor="ctr">
                    <a:solidFill>
                      <a:srgbClr val="F4F5F2"/>
                    </a:solidFill>
                  </a:tcPr>
                </a:tc>
                <a:tc>
                  <a:txBody>
                    <a:bodyPr/>
                    <a:lstStyle/>
                    <a:p>
                      <a:r>
                        <a:rPr sz="1200">
                          <a:solidFill>
                            <a:srgbClr val="1A1A1A"/>
                          </a:solidFill>
                          <a:latin typeface="Calibri"/>
                        </a:rPr>
                        <a:t>n/a</a:t>
                      </a:r>
                    </a:p>
                  </a:txBody>
                  <a:tcPr marL="73152" marR="73152" marT="36576" marB="36576" anchor="ctr">
                    <a:solidFill>
                      <a:srgbClr val="F4F5F2"/>
                    </a:solidFill>
                  </a:tcPr>
                </a:tc>
                <a:tc>
                  <a:txBody>
                    <a:bodyPr/>
                    <a:lstStyle/>
                    <a:p>
                      <a:r>
                        <a:rPr sz="1200">
                          <a:solidFill>
                            <a:srgbClr val="1A1A1A"/>
                          </a:solidFill>
                          <a:latin typeface="Calibri"/>
                        </a:rPr>
                        <a:t>≥ 95%</a:t>
                      </a:r>
                    </a:p>
                  </a:txBody>
                  <a:tcPr marL="73152" marR="73152" marT="36576" marB="36576" anchor="ctr">
                    <a:solidFill>
                      <a:srgbClr val="F4F5F2"/>
                    </a:solidFill>
                  </a:tcPr>
                </a:tc>
                <a:extLst>
                  <a:ext uri="{0D108BD9-81ED-4DB2-BD59-A6C34878D82A}">
                    <a16:rowId xmlns:a16="http://schemas.microsoft.com/office/drawing/2014/main" val="10006"/>
                  </a:ext>
                </a:extLst>
              </a:tr>
              <a:tr h="457200">
                <a:tc>
                  <a:txBody>
                    <a:bodyPr/>
                    <a:lstStyle/>
                    <a:p>
                      <a:r>
                        <a:rPr sz="1200">
                          <a:solidFill>
                            <a:srgbClr val="1A1A1A"/>
                          </a:solidFill>
                          <a:latin typeface="Calibri"/>
                        </a:rPr>
                        <a:t>Ops</a:t>
                      </a:r>
                    </a:p>
                  </a:txBody>
                  <a:tcPr marL="73152" marR="73152" marT="36576" marB="36576" anchor="ctr">
                    <a:solidFill>
                      <a:srgbClr val="FFFFFF"/>
                    </a:solidFill>
                  </a:tcPr>
                </a:tc>
                <a:tc>
                  <a:txBody>
                    <a:bodyPr/>
                    <a:lstStyle/>
                    <a:p>
                      <a:r>
                        <a:rPr sz="1200">
                          <a:solidFill>
                            <a:srgbClr val="1A1A1A"/>
                          </a:solidFill>
                          <a:latin typeface="Calibri"/>
                        </a:rPr>
                        <a:t>SME minutes per rule · cost per rule · p95 pipeline latency</a:t>
                      </a:r>
                    </a:p>
                  </a:txBody>
                  <a:tcPr marL="73152" marR="73152" marT="36576" marB="36576" anchor="ctr">
                    <a:solidFill>
                      <a:srgbClr val="FFFFFF"/>
                    </a:solidFill>
                  </a:tcPr>
                </a:tc>
                <a:tc>
                  <a:txBody>
                    <a:bodyPr/>
                    <a:lstStyle/>
                    <a:p>
                      <a:r>
                        <a:rPr sz="1200">
                          <a:solidFill>
                            <a:srgbClr val="1A1A1A"/>
                          </a:solidFill>
                          <a:latin typeface="Calibri"/>
                        </a:rPr>
                        <a:t>3–5 SME-days</a:t>
                      </a:r>
                    </a:p>
                  </a:txBody>
                  <a:tcPr marL="73152" marR="73152" marT="36576" marB="36576" anchor="ctr">
                    <a:solidFill>
                      <a:srgbClr val="FFFFFF"/>
                    </a:solidFill>
                  </a:tcPr>
                </a:tc>
                <a:tc>
                  <a:txBody>
                    <a:bodyPr/>
                    <a:lstStyle/>
                    <a:p>
                      <a:r>
                        <a:rPr sz="1200">
                          <a:solidFill>
                            <a:srgbClr val="1A1A1A"/>
                          </a:solidFill>
                          <a:latin typeface="Calibri"/>
                        </a:rPr>
                        <a:t>≤ 120 SME-min · &lt; $1 tokens</a:t>
                      </a:r>
                    </a:p>
                  </a:txBody>
                  <a:tcPr marL="73152" marR="73152" marT="36576" marB="36576" anchor="ctr">
                    <a:solidFill>
                      <a:srgbClr val="FFFFFF"/>
                    </a:solidFill>
                  </a:tcPr>
                </a:tc>
                <a:extLst>
                  <a:ext uri="{0D108BD9-81ED-4DB2-BD59-A6C34878D82A}">
                    <a16:rowId xmlns:a16="http://schemas.microsoft.com/office/drawing/2014/main" val="10007"/>
                  </a:ext>
                </a:extLst>
              </a:tr>
            </a:tbl>
          </a:graphicData>
        </a:graphic>
      </p:graphicFrame>
      <p:sp>
        <p:nvSpPr>
          <p:cNvPr id="7" name="Rounded Rectangle 6"/>
          <p:cNvSpPr/>
          <p:nvPr/>
        </p:nvSpPr>
        <p:spPr>
          <a:xfrm>
            <a:off x="7772400" y="1737360"/>
            <a:ext cx="3840480" cy="4023360"/>
          </a:xfrm>
          <a:prstGeom prst="roundRect">
            <a:avLst>
              <a:gd name="adj" fmla="val 6000"/>
            </a:avLst>
          </a:prstGeom>
          <a:solidFill>
            <a:srgbClr val="0D0D0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8046720" y="1920240"/>
            <a:ext cx="3383280" cy="3657600"/>
          </a:xfrm>
          <a:prstGeom prst="rect">
            <a:avLst/>
          </a:prstGeom>
          <a:noFill/>
        </p:spPr>
        <p:txBody>
          <a:bodyPr wrap="square" lIns="0" tIns="0" rIns="0" bIns="0" anchor="t">
            <a:spAutoFit/>
          </a:bodyPr>
          <a:lstStyle/>
          <a:p>
            <a:pPr algn="l">
              <a:spcAft>
                <a:spcPts val="1000"/>
              </a:spcAft>
            </a:pPr>
            <a:r>
              <a:rPr sz="2000" b="1" i="0">
                <a:solidFill>
                  <a:srgbClr val="FFFFFF"/>
                </a:solidFill>
                <a:latin typeface="Arial"/>
              </a:rPr>
              <a:t>Business case</a:t>
            </a:r>
          </a:p>
          <a:p>
            <a:pPr algn="l">
              <a:spcAft>
                <a:spcPts val="1000"/>
              </a:spcAft>
            </a:pPr>
            <a:r>
              <a:rPr sz="1500" b="0" i="0">
                <a:solidFill>
                  <a:srgbClr val="C9CDD1"/>
                </a:solidFill>
                <a:latin typeface="Calibri"/>
              </a:rPr>
              <a:t>Today ~4 SME-days per rule. If review takes ~0.5 day, each rule frees ~3.5 SME-days.</a:t>
            </a:r>
          </a:p>
          <a:p>
            <a:pPr algn="l">
              <a:spcAft>
                <a:spcPts val="1000"/>
              </a:spcAft>
            </a:pPr>
            <a:r>
              <a:rPr sz="1500" b="0" i="0">
                <a:solidFill>
                  <a:srgbClr val="C9CDD1"/>
                </a:solidFill>
                <a:latin typeface="Calibri"/>
              </a:rPr>
              <a:t>~300 AWS rules a year × 3.5 = ~1,050 SME-days, about 4.7 SME-years</a:t>
            </a:r>
          </a:p>
          <a:p>
            <a:pPr algn="l">
              <a:spcAft>
                <a:spcPts val="1000"/>
              </a:spcAft>
            </a:pPr>
            <a:r>
              <a:rPr sz="1500" b="0" i="0">
                <a:solidFill>
                  <a:srgbClr val="C9CDD1"/>
                </a:solidFill>
                <a:latin typeface="Calibri"/>
              </a:rPr>
              <a:t>Cost: a 2–3 engineer pod, under $1 of tokens per rule, plus sandbox spend</a:t>
            </a:r>
          </a:p>
          <a:p>
            <a:pPr algn="l">
              <a:spcAft>
                <a:spcPts val="1000"/>
              </a:spcAft>
            </a:pPr>
            <a:r>
              <a:rPr sz="1500" b="0" i="1">
                <a:solidFill>
                  <a:srgbClr val="FFFFFF"/>
                </a:solidFill>
                <a:latin typeface="Calibri"/>
              </a:rPr>
              <a:t>Freed SME time exceeds pod size, and coverage grows ~3× without hiring.</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ection"/>
          <p:cNvSpPr txBox="1"/>
          <p:nvPr/>
        </p:nvSpPr>
        <p:spPr>
          <a:xfrm>
            <a:off x="548640" y="292608"/>
            <a:ext cx="8229600" cy="274320"/>
          </a:xfrm>
          <a:prstGeom prst="rect">
            <a:avLst/>
          </a:prstGeom>
          <a:noFill/>
        </p:spPr>
        <p:txBody>
          <a:bodyPr wrap="square" lIns="0" tIns="0" rIns="0" bIns="0" anchor="t">
            <a:spAutoFit/>
          </a:bodyPr>
          <a:lstStyle/>
          <a:p>
            <a:pPr algn="l">
              <a:spcAft>
                <a:spcPts val="400"/>
              </a:spcAft>
            </a:pPr>
            <a:r>
              <a:rPr sz="1100" b="1" i="0">
                <a:solidFill>
                  <a:srgbClr val="046A38"/>
                </a:solidFill>
                <a:latin typeface="Arial"/>
              </a:rPr>
              <a:t>5 · PRODUCTION READINESS</a:t>
            </a:r>
          </a:p>
        </p:txBody>
      </p:sp>
      <p:sp>
        <p:nvSpPr>
          <p:cNvPr id="3" name="Title"/>
          <p:cNvSpPr txBox="1"/>
          <p:nvPr/>
        </p:nvSpPr>
        <p:spPr>
          <a:xfrm>
            <a:off x="548640" y="548640"/>
            <a:ext cx="11064240" cy="868680"/>
          </a:xfrm>
          <a:prstGeom prst="rect">
            <a:avLst/>
          </a:prstGeom>
          <a:noFill/>
        </p:spPr>
        <p:txBody>
          <a:bodyPr wrap="square" lIns="0" tIns="0" rIns="0" bIns="0" anchor="t">
            <a:spAutoFit/>
          </a:bodyPr>
          <a:lstStyle/>
          <a:p>
            <a:pPr algn="l">
              <a:spcAft>
                <a:spcPts val="400"/>
              </a:spcAft>
            </a:pPr>
            <a:r>
              <a:rPr sz="2800" b="1" i="0">
                <a:solidFill>
                  <a:srgbClr val="1A1A1A"/>
                </a:solidFill>
                <a:latin typeface="Arial"/>
              </a:rPr>
              <a:t>Production readiness: versioned, observable, and reversible in one click</a:t>
            </a:r>
          </a:p>
        </p:txBody>
      </p:sp>
      <p:sp>
        <p:nvSpPr>
          <p:cNvPr id="5" name="SlideNo"/>
          <p:cNvSpPr txBox="1"/>
          <p:nvPr/>
        </p:nvSpPr>
        <p:spPr>
          <a:xfrm>
            <a:off x="11064240" y="6355080"/>
            <a:ext cx="576072" cy="320040"/>
          </a:xfrm>
          <a:prstGeom prst="rect">
            <a:avLst/>
          </a:prstGeom>
          <a:noFill/>
        </p:spPr>
        <p:txBody>
          <a:bodyPr wrap="square" lIns="0" tIns="0" rIns="0" bIns="0" anchor="t">
            <a:spAutoFit/>
          </a:bodyPr>
          <a:lstStyle/>
          <a:p>
            <a:pPr algn="r">
              <a:spcAft>
                <a:spcPts val="400"/>
              </a:spcAft>
            </a:pPr>
            <a:r>
              <a:rPr sz="1000" b="0" i="0">
                <a:solidFill>
                  <a:srgbClr val="53565A"/>
                </a:solidFill>
                <a:latin typeface="Calibri"/>
              </a:rPr>
              <a:t>16</a:t>
            </a:r>
          </a:p>
        </p:txBody>
      </p:sp>
      <p:sp>
        <p:nvSpPr>
          <p:cNvPr id="6" name="Rounded Rectangle 5"/>
          <p:cNvSpPr/>
          <p:nvPr/>
        </p:nvSpPr>
        <p:spPr>
          <a:xfrm>
            <a:off x="548640" y="1737360"/>
            <a:ext cx="5440680" cy="2057400"/>
          </a:xfrm>
          <a:prstGeom prst="roundRect">
            <a:avLst>
              <a:gd name="adj" fmla="val 6000"/>
            </a:avLst>
          </a:prstGeom>
          <a:solidFill>
            <a:srgbClr val="F4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Oval 6"/>
          <p:cNvSpPr/>
          <p:nvPr/>
        </p:nvSpPr>
        <p:spPr>
          <a:xfrm>
            <a:off x="777240" y="1938528"/>
            <a:ext cx="384048" cy="384048"/>
          </a:xfrm>
          <a:prstGeom prst="ellipse">
            <a:avLst/>
          </a:prstGeom>
          <a:solidFill>
            <a:srgbClr val="86BC25"/>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0D0D0D"/>
                </a:solidFill>
                <a:latin typeface="Arial"/>
              </a:rPr>
              <a:t>1</a:t>
            </a:r>
          </a:p>
        </p:txBody>
      </p:sp>
      <p:sp>
        <p:nvSpPr>
          <p:cNvPr id="8" name="TextBox 7"/>
          <p:cNvSpPr txBox="1"/>
          <p:nvPr/>
        </p:nvSpPr>
        <p:spPr>
          <a:xfrm>
            <a:off x="1325880" y="1938528"/>
            <a:ext cx="4480560" cy="411480"/>
          </a:xfrm>
          <a:prstGeom prst="rect">
            <a:avLst/>
          </a:prstGeom>
          <a:noFill/>
        </p:spPr>
        <p:txBody>
          <a:bodyPr wrap="square" lIns="0" tIns="0" rIns="0" bIns="0" anchor="ctr">
            <a:spAutoFit/>
          </a:bodyPr>
          <a:lstStyle/>
          <a:p>
            <a:pPr algn="l">
              <a:spcAft>
                <a:spcPts val="400"/>
              </a:spcAft>
            </a:pPr>
            <a:r>
              <a:rPr sz="1700" b="1" i="0">
                <a:solidFill>
                  <a:srgbClr val="1A1A1A"/>
                </a:solidFill>
                <a:latin typeface="Arial"/>
              </a:rPr>
              <a:t>Environments &amp; promotion</a:t>
            </a:r>
          </a:p>
        </p:txBody>
      </p:sp>
      <p:sp>
        <p:nvSpPr>
          <p:cNvPr id="9" name="TextBox 8"/>
          <p:cNvSpPr txBox="1"/>
          <p:nvPr/>
        </p:nvSpPr>
        <p:spPr>
          <a:xfrm>
            <a:off x="1325880" y="2468880"/>
            <a:ext cx="4480560" cy="1280160"/>
          </a:xfrm>
          <a:prstGeom prst="rect">
            <a:avLst/>
          </a:prstGeom>
          <a:noFill/>
        </p:spPr>
        <p:txBody>
          <a:bodyPr wrap="square" lIns="0" tIns="0" rIns="0" bIns="0">
            <a:spAutoFit/>
          </a:bodyPr>
          <a:lstStyle/>
          <a:p>
            <a:pPr marL="201168" indent="-201168">
              <a:spcAft>
                <a:spcPts val="300"/>
              </a:spcAft>
              <a:buChar char="•"/>
            </a:pPr>
            <a:r>
              <a:rPr sz="1300" b="0">
                <a:solidFill>
                  <a:srgbClr val="1A1A1A"/>
                </a:solidFill>
                <a:latin typeface="Calibri"/>
              </a:rPr>
              <a:t>Dev: sandbox AWS Organization (per-run + standing accounts)</a:t>
            </a:r>
          </a:p>
          <a:p>
            <a:pPr marL="201168" indent="-201168">
              <a:spcAft>
                <a:spcPts val="300"/>
              </a:spcAft>
              <a:buChar char="•"/>
            </a:pPr>
            <a:r>
              <a:rPr sz="1300" b="0">
                <a:solidFill>
                  <a:srgbClr val="1A1A1A"/>
                </a:solidFill>
                <a:latin typeface="Calibri"/>
              </a:rPr>
              <a:t>Staging: shadow mode on opted-in tenants</a:t>
            </a:r>
          </a:p>
          <a:p>
            <a:pPr marL="201168" indent="-201168">
              <a:spcAft>
                <a:spcPts val="300"/>
              </a:spcAft>
              <a:buChar char="•"/>
            </a:pPr>
            <a:r>
              <a:rPr sz="1300" b="0">
                <a:solidFill>
                  <a:srgbClr val="1A1A1A"/>
                </a:solidFill>
                <a:latin typeface="Calibri"/>
              </a:rPr>
              <a:t>Prod: canary, then GA</a:t>
            </a:r>
          </a:p>
          <a:p>
            <a:pPr marL="201168" indent="-201168">
              <a:spcAft>
                <a:spcPts val="300"/>
              </a:spcAft>
              <a:buChar char="•"/>
            </a:pPr>
            <a:r>
              <a:rPr sz="1300" b="0">
                <a:solidFill>
                  <a:srgbClr val="1A1A1A"/>
                </a:solidFill>
                <a:latin typeface="Calibri"/>
              </a:rPr>
              <a:t>Golden set is the CI gate at every promotion</a:t>
            </a:r>
          </a:p>
        </p:txBody>
      </p:sp>
      <p:sp>
        <p:nvSpPr>
          <p:cNvPr id="10" name="Rounded Rectangle 9"/>
          <p:cNvSpPr/>
          <p:nvPr/>
        </p:nvSpPr>
        <p:spPr>
          <a:xfrm>
            <a:off x="6172200" y="1737360"/>
            <a:ext cx="5440680" cy="2057400"/>
          </a:xfrm>
          <a:prstGeom prst="roundRect">
            <a:avLst>
              <a:gd name="adj" fmla="val 6000"/>
            </a:avLst>
          </a:prstGeom>
          <a:solidFill>
            <a:srgbClr val="F4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Oval 10"/>
          <p:cNvSpPr/>
          <p:nvPr/>
        </p:nvSpPr>
        <p:spPr>
          <a:xfrm>
            <a:off x="6400800" y="1938528"/>
            <a:ext cx="384048" cy="384048"/>
          </a:xfrm>
          <a:prstGeom prst="ellipse">
            <a:avLst/>
          </a:prstGeom>
          <a:solidFill>
            <a:srgbClr val="86BC25"/>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0D0D0D"/>
                </a:solidFill>
                <a:latin typeface="Arial"/>
              </a:rPr>
              <a:t>2</a:t>
            </a:r>
          </a:p>
        </p:txBody>
      </p:sp>
      <p:sp>
        <p:nvSpPr>
          <p:cNvPr id="12" name="TextBox 11"/>
          <p:cNvSpPr txBox="1"/>
          <p:nvPr/>
        </p:nvSpPr>
        <p:spPr>
          <a:xfrm>
            <a:off x="6949440" y="1938528"/>
            <a:ext cx="4480560" cy="411480"/>
          </a:xfrm>
          <a:prstGeom prst="rect">
            <a:avLst/>
          </a:prstGeom>
          <a:noFill/>
        </p:spPr>
        <p:txBody>
          <a:bodyPr wrap="square" lIns="0" tIns="0" rIns="0" bIns="0" anchor="ctr">
            <a:spAutoFit/>
          </a:bodyPr>
          <a:lstStyle/>
          <a:p>
            <a:pPr algn="l">
              <a:spcAft>
                <a:spcPts val="400"/>
              </a:spcAft>
            </a:pPr>
            <a:r>
              <a:rPr sz="1700" b="1" i="0">
                <a:solidFill>
                  <a:srgbClr val="1A1A1A"/>
                </a:solidFill>
                <a:latin typeface="Arial"/>
              </a:rPr>
              <a:t>Observability</a:t>
            </a:r>
          </a:p>
        </p:txBody>
      </p:sp>
      <p:sp>
        <p:nvSpPr>
          <p:cNvPr id="13" name="TextBox 12"/>
          <p:cNvSpPr txBox="1"/>
          <p:nvPr/>
        </p:nvSpPr>
        <p:spPr>
          <a:xfrm>
            <a:off x="6949440" y="2468880"/>
            <a:ext cx="4480560" cy="1280160"/>
          </a:xfrm>
          <a:prstGeom prst="rect">
            <a:avLst/>
          </a:prstGeom>
          <a:noFill/>
        </p:spPr>
        <p:txBody>
          <a:bodyPr wrap="square" lIns="0" tIns="0" rIns="0" bIns="0">
            <a:spAutoFit/>
          </a:bodyPr>
          <a:lstStyle/>
          <a:p>
            <a:pPr marL="201168" indent="-201168">
              <a:spcAft>
                <a:spcPts val="300"/>
              </a:spcAft>
              <a:buChar char="•"/>
            </a:pPr>
            <a:r>
              <a:rPr sz="1300" b="0">
                <a:solidFill>
                  <a:srgbClr val="1A1A1A"/>
                </a:solidFill>
                <a:latin typeface="Calibri"/>
              </a:rPr>
              <a:t>OpenTelemetry trace per candidate, end to end</a:t>
            </a:r>
          </a:p>
          <a:p>
            <a:pPr marL="201168" indent="-201168">
              <a:spcAft>
                <a:spcPts val="300"/>
              </a:spcAft>
              <a:buChar char="•"/>
            </a:pPr>
            <a:r>
              <a:rPr sz="1300" b="0">
                <a:solidFill>
                  <a:srgbClr val="1A1A1A"/>
                </a:solidFill>
                <a:latin typeface="Calibri"/>
              </a:rPr>
              <a:t>Tokens and cost per stage; sandbox spend</a:t>
            </a:r>
          </a:p>
          <a:p>
            <a:pPr marL="201168" indent="-201168">
              <a:spcAft>
                <a:spcPts val="300"/>
              </a:spcAft>
              <a:buChar char="•"/>
            </a:pPr>
            <a:r>
              <a:rPr sz="1300" b="0">
                <a:solidFill>
                  <a:srgbClr val="1A1A1A"/>
                </a:solidFill>
                <a:latin typeface="Calibri"/>
              </a:rPr>
              <a:t>p95 latency, errors, queue depth, SME backlog age</a:t>
            </a:r>
          </a:p>
          <a:p>
            <a:pPr marL="201168" indent="-201168">
              <a:spcAft>
                <a:spcPts val="300"/>
              </a:spcAft>
              <a:buChar char="•"/>
            </a:pPr>
            <a:r>
              <a:rPr sz="1300" b="0">
                <a:solidFill>
                  <a:srgbClr val="1A1A1A"/>
                </a:solidFill>
                <a:latin typeface="Calibri"/>
              </a:rPr>
              <a:t>Shadow: every finding diffed against Prowler</a:t>
            </a:r>
          </a:p>
        </p:txBody>
      </p:sp>
      <p:sp>
        <p:nvSpPr>
          <p:cNvPr id="14" name="Rounded Rectangle 13"/>
          <p:cNvSpPr/>
          <p:nvPr/>
        </p:nvSpPr>
        <p:spPr>
          <a:xfrm>
            <a:off x="548640" y="3977639"/>
            <a:ext cx="5440680" cy="2057400"/>
          </a:xfrm>
          <a:prstGeom prst="roundRect">
            <a:avLst>
              <a:gd name="adj" fmla="val 6000"/>
            </a:avLst>
          </a:prstGeom>
          <a:solidFill>
            <a:srgbClr val="F4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Oval 14"/>
          <p:cNvSpPr/>
          <p:nvPr/>
        </p:nvSpPr>
        <p:spPr>
          <a:xfrm>
            <a:off x="777240" y="4178807"/>
            <a:ext cx="384048" cy="384048"/>
          </a:xfrm>
          <a:prstGeom prst="ellipse">
            <a:avLst/>
          </a:prstGeom>
          <a:solidFill>
            <a:srgbClr val="86BC25"/>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0D0D0D"/>
                </a:solidFill>
                <a:latin typeface="Arial"/>
              </a:rPr>
              <a:t>3</a:t>
            </a:r>
          </a:p>
        </p:txBody>
      </p:sp>
      <p:sp>
        <p:nvSpPr>
          <p:cNvPr id="16" name="TextBox 15"/>
          <p:cNvSpPr txBox="1"/>
          <p:nvPr/>
        </p:nvSpPr>
        <p:spPr>
          <a:xfrm>
            <a:off x="1325880" y="4178807"/>
            <a:ext cx="4480560" cy="411480"/>
          </a:xfrm>
          <a:prstGeom prst="rect">
            <a:avLst/>
          </a:prstGeom>
          <a:noFill/>
        </p:spPr>
        <p:txBody>
          <a:bodyPr wrap="square" lIns="0" tIns="0" rIns="0" bIns="0" anchor="ctr">
            <a:spAutoFit/>
          </a:bodyPr>
          <a:lstStyle/>
          <a:p>
            <a:pPr algn="l">
              <a:spcAft>
                <a:spcPts val="400"/>
              </a:spcAft>
            </a:pPr>
            <a:r>
              <a:rPr sz="1700" b="1" i="0">
                <a:solidFill>
                  <a:srgbClr val="1A1A1A"/>
                </a:solidFill>
                <a:latin typeface="Arial"/>
              </a:rPr>
              <a:t>Reliability</a:t>
            </a:r>
          </a:p>
        </p:txBody>
      </p:sp>
      <p:sp>
        <p:nvSpPr>
          <p:cNvPr id="17" name="TextBox 16"/>
          <p:cNvSpPr txBox="1"/>
          <p:nvPr/>
        </p:nvSpPr>
        <p:spPr>
          <a:xfrm>
            <a:off x="1325880" y="4709159"/>
            <a:ext cx="4480560" cy="1280160"/>
          </a:xfrm>
          <a:prstGeom prst="rect">
            <a:avLst/>
          </a:prstGeom>
          <a:noFill/>
        </p:spPr>
        <p:txBody>
          <a:bodyPr wrap="square" lIns="0" tIns="0" rIns="0" bIns="0">
            <a:spAutoFit/>
          </a:bodyPr>
          <a:lstStyle/>
          <a:p>
            <a:pPr marL="201168" indent="-201168">
              <a:spcAft>
                <a:spcPts val="300"/>
              </a:spcAft>
              <a:buChar char="•"/>
            </a:pPr>
            <a:r>
              <a:rPr sz="1300" b="0">
                <a:solidFill>
                  <a:srgbClr val="1A1A1A"/>
                </a:solidFill>
                <a:latin typeface="Calibri"/>
              </a:rPr>
              <a:t>Retries with backoff; fallback model</a:t>
            </a:r>
          </a:p>
          <a:p>
            <a:pPr marL="201168" indent="-201168">
              <a:spcAft>
                <a:spcPts val="300"/>
              </a:spcAft>
              <a:buChar char="•"/>
            </a:pPr>
            <a:r>
              <a:rPr sz="1300" b="0">
                <a:solidFill>
                  <a:srgbClr val="1A1A1A"/>
                </a:solidFill>
                <a:latin typeface="Calibri"/>
              </a:rPr>
              <a:t>Idempotent runs; fixtures torn down after each run</a:t>
            </a:r>
          </a:p>
          <a:p>
            <a:pPr marL="201168" indent="-201168">
              <a:spcAft>
                <a:spcPts val="300"/>
              </a:spcAft>
              <a:buChar char="•"/>
            </a:pPr>
            <a:r>
              <a:rPr sz="1300" b="0">
                <a:solidFill>
                  <a:srgbClr val="1A1A1A"/>
                </a:solidFill>
                <a:latin typeface="Calibri"/>
              </a:rPr>
              <a:t>Pipeline isolated from the customer scan engine</a:t>
            </a:r>
          </a:p>
          <a:p>
            <a:pPr marL="201168" indent="-201168">
              <a:spcAft>
                <a:spcPts val="300"/>
              </a:spcAft>
              <a:buChar char="•"/>
            </a:pPr>
            <a:r>
              <a:rPr sz="1300" b="0">
                <a:solidFill>
                  <a:srgbClr val="1A1A1A"/>
                </a:solidFill>
                <a:latin typeface="Calibri"/>
              </a:rPr>
              <a:t>Pinned model versions</a:t>
            </a:r>
          </a:p>
        </p:txBody>
      </p:sp>
      <p:sp>
        <p:nvSpPr>
          <p:cNvPr id="18" name="Rounded Rectangle 17"/>
          <p:cNvSpPr/>
          <p:nvPr/>
        </p:nvSpPr>
        <p:spPr>
          <a:xfrm>
            <a:off x="6172200" y="3977639"/>
            <a:ext cx="5440680" cy="2057400"/>
          </a:xfrm>
          <a:prstGeom prst="roundRect">
            <a:avLst>
              <a:gd name="adj" fmla="val 6000"/>
            </a:avLst>
          </a:prstGeom>
          <a:solidFill>
            <a:srgbClr val="F4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Oval 18"/>
          <p:cNvSpPr/>
          <p:nvPr/>
        </p:nvSpPr>
        <p:spPr>
          <a:xfrm>
            <a:off x="6400800" y="4178807"/>
            <a:ext cx="384048" cy="384048"/>
          </a:xfrm>
          <a:prstGeom prst="ellipse">
            <a:avLst/>
          </a:prstGeom>
          <a:solidFill>
            <a:srgbClr val="86BC25"/>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0D0D0D"/>
                </a:solidFill>
                <a:latin typeface="Arial"/>
              </a:rPr>
              <a:t>4</a:t>
            </a:r>
          </a:p>
        </p:txBody>
      </p:sp>
      <p:sp>
        <p:nvSpPr>
          <p:cNvPr id="20" name="TextBox 19"/>
          <p:cNvSpPr txBox="1"/>
          <p:nvPr/>
        </p:nvSpPr>
        <p:spPr>
          <a:xfrm>
            <a:off x="6949440" y="4178807"/>
            <a:ext cx="4480560" cy="411480"/>
          </a:xfrm>
          <a:prstGeom prst="rect">
            <a:avLst/>
          </a:prstGeom>
          <a:noFill/>
        </p:spPr>
        <p:txBody>
          <a:bodyPr wrap="square" lIns="0" tIns="0" rIns="0" bIns="0" anchor="ctr">
            <a:spAutoFit/>
          </a:bodyPr>
          <a:lstStyle/>
          <a:p>
            <a:pPr algn="l">
              <a:spcAft>
                <a:spcPts val="400"/>
              </a:spcAft>
            </a:pPr>
            <a:r>
              <a:rPr sz="1700" b="1" i="0">
                <a:solidFill>
                  <a:srgbClr val="1A1A1A"/>
                </a:solidFill>
                <a:latin typeface="Arial"/>
              </a:rPr>
              <a:t>Rollback</a:t>
            </a:r>
          </a:p>
        </p:txBody>
      </p:sp>
      <p:sp>
        <p:nvSpPr>
          <p:cNvPr id="21" name="TextBox 20"/>
          <p:cNvSpPr txBox="1"/>
          <p:nvPr/>
        </p:nvSpPr>
        <p:spPr>
          <a:xfrm>
            <a:off x="6949440" y="4709159"/>
            <a:ext cx="4480560" cy="1280160"/>
          </a:xfrm>
          <a:prstGeom prst="rect">
            <a:avLst/>
          </a:prstGeom>
          <a:noFill/>
        </p:spPr>
        <p:txBody>
          <a:bodyPr wrap="square" lIns="0" tIns="0" rIns="0" bIns="0">
            <a:spAutoFit/>
          </a:bodyPr>
          <a:lstStyle/>
          <a:p>
            <a:pPr marL="201168" indent="-201168">
              <a:spcAft>
                <a:spcPts val="300"/>
              </a:spcAft>
              <a:buChar char="•"/>
            </a:pPr>
            <a:r>
              <a:rPr sz="1300" b="0">
                <a:solidFill>
                  <a:srgbClr val="1A1A1A"/>
                </a:solidFill>
                <a:latin typeface="Calibri"/>
              </a:rPr>
              <a:t>Every AI-drafted rule behind a feature flag</a:t>
            </a:r>
          </a:p>
          <a:p>
            <a:pPr marL="201168" indent="-201168">
              <a:spcAft>
                <a:spcPts val="300"/>
              </a:spcAft>
              <a:buChar char="•"/>
            </a:pPr>
            <a:r>
              <a:rPr sz="1300" b="0">
                <a:solidFill>
                  <a:srgbClr val="1A1A1A"/>
                </a:solidFill>
                <a:latin typeface="Calibri"/>
              </a:rPr>
              <a:t>Global kill switch: back to SME-only rules</a:t>
            </a:r>
          </a:p>
          <a:p>
            <a:pPr marL="201168" indent="-201168">
              <a:spcAft>
                <a:spcPts val="300"/>
              </a:spcAft>
              <a:buChar char="•"/>
            </a:pPr>
            <a:r>
              <a:rPr sz="1300" b="0">
                <a:solidFill>
                  <a:srgbClr val="1A1A1A"/>
                </a:solidFill>
                <a:latin typeface="Calibri"/>
              </a:rPr>
              <a:t>Prompt, model and rule versioned together</a:t>
            </a:r>
          </a:p>
          <a:p>
            <a:pPr marL="201168" indent="-201168">
              <a:spcAft>
                <a:spcPts val="300"/>
              </a:spcAft>
              <a:buChar char="•"/>
            </a:pPr>
            <a:r>
              <a:rPr sz="1300" b="0">
                <a:solidFill>
                  <a:srgbClr val="1A1A1A"/>
                </a:solidFill>
                <a:latin typeface="Calibri"/>
              </a:rPr>
              <a:t>Weekly golden-set regression run</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ection"/>
          <p:cNvSpPr txBox="1"/>
          <p:nvPr/>
        </p:nvSpPr>
        <p:spPr>
          <a:xfrm>
            <a:off x="548640" y="292608"/>
            <a:ext cx="8229600" cy="274320"/>
          </a:xfrm>
          <a:prstGeom prst="rect">
            <a:avLst/>
          </a:prstGeom>
          <a:noFill/>
        </p:spPr>
        <p:txBody>
          <a:bodyPr wrap="square" lIns="0" tIns="0" rIns="0" bIns="0" anchor="t">
            <a:spAutoFit/>
          </a:bodyPr>
          <a:lstStyle/>
          <a:p>
            <a:pPr algn="l">
              <a:spcAft>
                <a:spcPts val="400"/>
              </a:spcAft>
            </a:pPr>
            <a:r>
              <a:rPr sz="1100" b="1" i="0">
                <a:solidFill>
                  <a:srgbClr val="046A38"/>
                </a:solidFill>
                <a:latin typeface="Arial"/>
              </a:rPr>
              <a:t>5 · GOVERNANCE</a:t>
            </a:r>
          </a:p>
        </p:txBody>
      </p:sp>
      <p:sp>
        <p:nvSpPr>
          <p:cNvPr id="3" name="Title"/>
          <p:cNvSpPr txBox="1"/>
          <p:nvPr/>
        </p:nvSpPr>
        <p:spPr>
          <a:xfrm>
            <a:off x="548640" y="548640"/>
            <a:ext cx="11064240" cy="868680"/>
          </a:xfrm>
          <a:prstGeom prst="rect">
            <a:avLst/>
          </a:prstGeom>
          <a:noFill/>
        </p:spPr>
        <p:txBody>
          <a:bodyPr wrap="square" lIns="0" tIns="0" rIns="0" bIns="0" anchor="t">
            <a:spAutoFit/>
          </a:bodyPr>
          <a:lstStyle/>
          <a:p>
            <a:pPr algn="l">
              <a:spcAft>
                <a:spcPts val="400"/>
              </a:spcAft>
            </a:pPr>
            <a:r>
              <a:rPr sz="2800" b="1" i="0">
                <a:solidFill>
                  <a:srgbClr val="1A1A1A"/>
                </a:solidFill>
                <a:latin typeface="Arial"/>
              </a:rPr>
              <a:t>Security, compliance and responsible AI are designed in, not bolted on</a:t>
            </a:r>
          </a:p>
        </p:txBody>
      </p:sp>
      <p:sp>
        <p:nvSpPr>
          <p:cNvPr id="5" name="SlideNo"/>
          <p:cNvSpPr txBox="1"/>
          <p:nvPr/>
        </p:nvSpPr>
        <p:spPr>
          <a:xfrm>
            <a:off x="11064240" y="6355080"/>
            <a:ext cx="576072" cy="320040"/>
          </a:xfrm>
          <a:prstGeom prst="rect">
            <a:avLst/>
          </a:prstGeom>
          <a:noFill/>
        </p:spPr>
        <p:txBody>
          <a:bodyPr wrap="square" lIns="0" tIns="0" rIns="0" bIns="0" anchor="t">
            <a:spAutoFit/>
          </a:bodyPr>
          <a:lstStyle/>
          <a:p>
            <a:pPr algn="r">
              <a:spcAft>
                <a:spcPts val="400"/>
              </a:spcAft>
            </a:pPr>
            <a:r>
              <a:rPr sz="1000" b="0" i="0">
                <a:solidFill>
                  <a:srgbClr val="53565A"/>
                </a:solidFill>
                <a:latin typeface="Calibri"/>
              </a:rPr>
              <a:t>17</a:t>
            </a:r>
          </a:p>
        </p:txBody>
      </p:sp>
      <p:sp>
        <p:nvSpPr>
          <p:cNvPr id="6" name="Rounded Rectangle 5"/>
          <p:cNvSpPr/>
          <p:nvPr/>
        </p:nvSpPr>
        <p:spPr>
          <a:xfrm>
            <a:off x="548640" y="1737360"/>
            <a:ext cx="3566160" cy="3566160"/>
          </a:xfrm>
          <a:prstGeom prst="roundRect">
            <a:avLst>
              <a:gd name="adj" fmla="val 6000"/>
            </a:avLst>
          </a:prstGeom>
          <a:solidFill>
            <a:srgbClr val="F4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822959" y="1874519"/>
            <a:ext cx="3017520" cy="457200"/>
          </a:xfrm>
          <a:prstGeom prst="rect">
            <a:avLst/>
          </a:prstGeom>
          <a:noFill/>
        </p:spPr>
        <p:txBody>
          <a:bodyPr wrap="square" lIns="0" tIns="0" rIns="0" bIns="0" anchor="t">
            <a:spAutoFit/>
          </a:bodyPr>
          <a:lstStyle/>
          <a:p>
            <a:pPr algn="l">
              <a:spcAft>
                <a:spcPts val="400"/>
              </a:spcAft>
            </a:pPr>
            <a:r>
              <a:rPr sz="1800" b="1" i="0">
                <a:solidFill>
                  <a:srgbClr val="046A38"/>
                </a:solidFill>
                <a:latin typeface="Arial"/>
              </a:rPr>
              <a:t>Secure the agents</a:t>
            </a:r>
          </a:p>
        </p:txBody>
      </p:sp>
      <p:sp>
        <p:nvSpPr>
          <p:cNvPr id="8" name="TextBox 7"/>
          <p:cNvSpPr txBox="1"/>
          <p:nvPr/>
        </p:nvSpPr>
        <p:spPr>
          <a:xfrm>
            <a:off x="822959" y="2468880"/>
            <a:ext cx="3063240" cy="3474720"/>
          </a:xfrm>
          <a:prstGeom prst="rect">
            <a:avLst/>
          </a:prstGeom>
          <a:noFill/>
        </p:spPr>
        <p:txBody>
          <a:bodyPr wrap="square" lIns="0" tIns="0" rIns="0" bIns="0">
            <a:spAutoFit/>
          </a:bodyPr>
          <a:lstStyle/>
          <a:p>
            <a:pPr marL="201168" indent="-201168">
              <a:spcAft>
                <a:spcPts val="1000"/>
              </a:spcAft>
              <a:buChar char="•"/>
            </a:pPr>
            <a:r>
              <a:rPr sz="1400" b="0">
                <a:solidFill>
                  <a:srgbClr val="1A1A1A"/>
                </a:solidFill>
                <a:latin typeface="Calibri"/>
              </a:rPr>
              <a:t>Prompt injection (LLM01): ingested docs treated as data</a:t>
            </a:r>
          </a:p>
          <a:p>
            <a:pPr marL="201168" indent="-201168">
              <a:spcAft>
                <a:spcPts val="1000"/>
              </a:spcAft>
              <a:buChar char="•"/>
            </a:pPr>
            <a:r>
              <a:rPr sz="1400" b="0">
                <a:solidFill>
                  <a:srgbClr val="1A1A1A"/>
                </a:solidFill>
                <a:latin typeface="Calibri"/>
              </a:rPr>
              <a:t>Excessive agency (LLM06): read-only tools, no prod credentials</a:t>
            </a:r>
          </a:p>
          <a:p>
            <a:pPr marL="201168" indent="-201168">
              <a:spcAft>
                <a:spcPts val="1000"/>
              </a:spcAft>
              <a:buChar char="•"/>
            </a:pPr>
            <a:r>
              <a:rPr sz="1400" b="0">
                <a:solidFill>
                  <a:srgbClr val="1A1A1A"/>
                </a:solidFill>
                <a:latin typeface="Calibri"/>
              </a:rPr>
              <a:t>Sandbox accounts isolated from customer data</a:t>
            </a:r>
          </a:p>
          <a:p>
            <a:pPr marL="201168" indent="-201168">
              <a:spcAft>
                <a:spcPts val="1000"/>
              </a:spcAft>
              <a:buChar char="•"/>
            </a:pPr>
            <a:r>
              <a:rPr sz="1400" b="0">
                <a:solidFill>
                  <a:srgbClr val="1A1A1A"/>
                </a:solidFill>
                <a:latin typeface="Calibri"/>
              </a:rPr>
              <a:t>Red-team with poisoned doc pages</a:t>
            </a:r>
          </a:p>
        </p:txBody>
      </p:sp>
      <p:sp>
        <p:nvSpPr>
          <p:cNvPr id="9" name="Rounded Rectangle 8"/>
          <p:cNvSpPr/>
          <p:nvPr/>
        </p:nvSpPr>
        <p:spPr>
          <a:xfrm>
            <a:off x="4297679" y="1737360"/>
            <a:ext cx="3566160" cy="3566160"/>
          </a:xfrm>
          <a:prstGeom prst="roundRect">
            <a:avLst>
              <a:gd name="adj" fmla="val 6000"/>
            </a:avLst>
          </a:prstGeom>
          <a:solidFill>
            <a:srgbClr val="F4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4571999" y="1874519"/>
            <a:ext cx="3017520" cy="457200"/>
          </a:xfrm>
          <a:prstGeom prst="rect">
            <a:avLst/>
          </a:prstGeom>
          <a:noFill/>
        </p:spPr>
        <p:txBody>
          <a:bodyPr wrap="square" lIns="0" tIns="0" rIns="0" bIns="0" anchor="t">
            <a:spAutoFit/>
          </a:bodyPr>
          <a:lstStyle/>
          <a:p>
            <a:pPr algn="l">
              <a:spcAft>
                <a:spcPts val="400"/>
              </a:spcAft>
            </a:pPr>
            <a:r>
              <a:rPr sz="1800" b="1" i="0">
                <a:solidFill>
                  <a:srgbClr val="046A38"/>
                </a:solidFill>
                <a:latin typeface="Arial"/>
              </a:rPr>
              <a:t>Comply</a:t>
            </a:r>
          </a:p>
        </p:txBody>
      </p:sp>
      <p:sp>
        <p:nvSpPr>
          <p:cNvPr id="11" name="TextBox 10"/>
          <p:cNvSpPr txBox="1"/>
          <p:nvPr/>
        </p:nvSpPr>
        <p:spPr>
          <a:xfrm>
            <a:off x="4571999" y="2468880"/>
            <a:ext cx="3063240" cy="3474720"/>
          </a:xfrm>
          <a:prstGeom prst="rect">
            <a:avLst/>
          </a:prstGeom>
          <a:noFill/>
        </p:spPr>
        <p:txBody>
          <a:bodyPr wrap="square" lIns="0" tIns="0" rIns="0" bIns="0">
            <a:spAutoFit/>
          </a:bodyPr>
          <a:lstStyle/>
          <a:p>
            <a:pPr marL="201168" indent="-201168">
              <a:spcAft>
                <a:spcPts val="1000"/>
              </a:spcAft>
              <a:buChar char="•"/>
            </a:pPr>
            <a:r>
              <a:rPr sz="1400" b="0">
                <a:solidFill>
                  <a:srgbClr val="1A1A1A"/>
                </a:solidFill>
                <a:latin typeface="Calibri"/>
              </a:rPr>
              <a:t>NIST AI RMF: Govern · Map · Measure · Manage</a:t>
            </a:r>
          </a:p>
          <a:p>
            <a:pPr marL="201168" indent="-201168">
              <a:spcAft>
                <a:spcPts val="1000"/>
              </a:spcAft>
              <a:buChar char="•"/>
            </a:pPr>
            <a:r>
              <a:rPr sz="1400" b="0">
                <a:solidFill>
                  <a:srgbClr val="1A1A1A"/>
                </a:solidFill>
                <a:latin typeface="Calibri"/>
              </a:rPr>
              <a:t>ISO/IEC 42001: certifiable AI management system</a:t>
            </a:r>
          </a:p>
          <a:p>
            <a:pPr marL="201168" indent="-201168">
              <a:spcAft>
                <a:spcPts val="1000"/>
              </a:spcAft>
              <a:buChar char="•"/>
            </a:pPr>
            <a:r>
              <a:rPr sz="1400" b="0">
                <a:solidFill>
                  <a:srgbClr val="1A1A1A"/>
                </a:solidFill>
                <a:latin typeface="Calibri"/>
              </a:rPr>
              <a:t>EU AI Act: GPAI rules from 2 Aug 2025; most rules from 2 Aug 2026</a:t>
            </a:r>
          </a:p>
          <a:p>
            <a:pPr marL="201168" indent="-201168">
              <a:spcAft>
                <a:spcPts val="1000"/>
              </a:spcAft>
              <a:buChar char="•"/>
            </a:pPr>
            <a:r>
              <a:rPr sz="1400" b="0">
                <a:solidFill>
                  <a:srgbClr val="1A1A1A"/>
                </a:solidFill>
                <a:latin typeface="Calibri"/>
              </a:rPr>
              <a:t>CIS licence: confirm vendor terms for commercial use</a:t>
            </a:r>
          </a:p>
          <a:p>
            <a:pPr marL="201168" indent="-201168">
              <a:spcAft>
                <a:spcPts val="1000"/>
              </a:spcAft>
              <a:buChar char="•"/>
            </a:pPr>
            <a:r>
              <a:rPr sz="1400" b="0">
                <a:solidFill>
                  <a:srgbClr val="1A1A1A"/>
                </a:solidFill>
                <a:latin typeface="Calibri"/>
              </a:rPr>
              <a:t>Shadow mode uses config metadata only, opt-in</a:t>
            </a:r>
          </a:p>
        </p:txBody>
      </p:sp>
      <p:sp>
        <p:nvSpPr>
          <p:cNvPr id="12" name="Rounded Rectangle 11"/>
          <p:cNvSpPr/>
          <p:nvPr/>
        </p:nvSpPr>
        <p:spPr>
          <a:xfrm>
            <a:off x="8046719" y="1737360"/>
            <a:ext cx="3566160" cy="3566160"/>
          </a:xfrm>
          <a:prstGeom prst="roundRect">
            <a:avLst>
              <a:gd name="adj" fmla="val 6000"/>
            </a:avLst>
          </a:prstGeom>
          <a:solidFill>
            <a:srgbClr val="F4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8321040" y="1874519"/>
            <a:ext cx="3017520" cy="457200"/>
          </a:xfrm>
          <a:prstGeom prst="rect">
            <a:avLst/>
          </a:prstGeom>
          <a:noFill/>
        </p:spPr>
        <p:txBody>
          <a:bodyPr wrap="square" lIns="0" tIns="0" rIns="0" bIns="0" anchor="t">
            <a:spAutoFit/>
          </a:bodyPr>
          <a:lstStyle/>
          <a:p>
            <a:pPr algn="l">
              <a:spcAft>
                <a:spcPts val="400"/>
              </a:spcAft>
            </a:pPr>
            <a:r>
              <a:rPr sz="1800" b="1" i="0">
                <a:solidFill>
                  <a:srgbClr val="046A38"/>
                </a:solidFill>
                <a:latin typeface="Arial"/>
              </a:rPr>
              <a:t>Govern once live</a:t>
            </a:r>
          </a:p>
        </p:txBody>
      </p:sp>
      <p:sp>
        <p:nvSpPr>
          <p:cNvPr id="14" name="TextBox 13"/>
          <p:cNvSpPr txBox="1"/>
          <p:nvPr/>
        </p:nvSpPr>
        <p:spPr>
          <a:xfrm>
            <a:off x="8321040" y="2468880"/>
            <a:ext cx="3063240" cy="3474720"/>
          </a:xfrm>
          <a:prstGeom prst="rect">
            <a:avLst/>
          </a:prstGeom>
          <a:noFill/>
        </p:spPr>
        <p:txBody>
          <a:bodyPr wrap="square" lIns="0" tIns="0" rIns="0" bIns="0">
            <a:spAutoFit/>
          </a:bodyPr>
          <a:lstStyle/>
          <a:p>
            <a:pPr marL="201168" indent="-201168">
              <a:spcAft>
                <a:spcPts val="1000"/>
              </a:spcAft>
              <a:buChar char="•"/>
            </a:pPr>
            <a:r>
              <a:rPr sz="1400" b="0">
                <a:solidFill>
                  <a:srgbClr val="1A1A1A"/>
                </a:solidFill>
                <a:latin typeface="Calibri"/>
              </a:rPr>
              <a:t>Rule review board owns tier policy</a:t>
            </a:r>
          </a:p>
          <a:p>
            <a:pPr marL="201168" indent="-201168">
              <a:spcAft>
                <a:spcPts val="1000"/>
              </a:spcAft>
              <a:buChar char="•"/>
            </a:pPr>
            <a:r>
              <a:rPr sz="1400" b="0">
                <a:solidFill>
                  <a:srgbClr val="1A1A1A"/>
                </a:solidFill>
                <a:latin typeface="Calibri"/>
              </a:rPr>
              <a:t>Immutable audit trail of every decision</a:t>
            </a:r>
          </a:p>
          <a:p>
            <a:pPr marL="201168" indent="-201168">
              <a:spcAft>
                <a:spcPts val="1000"/>
              </a:spcAft>
              <a:buChar char="•"/>
            </a:pPr>
            <a:r>
              <a:rPr sz="1400" b="0">
                <a:solidFill>
                  <a:srgbClr val="1A1A1A"/>
                </a:solidFill>
                <a:latin typeface="Calibri"/>
              </a:rPr>
              <a:t>Monthly model and prompt review</a:t>
            </a:r>
          </a:p>
          <a:p>
            <a:pPr marL="201168" indent="-201168">
              <a:spcAft>
                <a:spcPts val="1000"/>
              </a:spcAft>
              <a:buChar char="•"/>
            </a:pPr>
            <a:r>
              <a:rPr sz="1400" b="0">
                <a:solidFill>
                  <a:srgbClr val="1A1A1A"/>
                </a:solidFill>
                <a:latin typeface="Calibri"/>
              </a:rPr>
              <a:t>"AI-drafted, SME-approved" disclosed on findings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ection"/>
          <p:cNvSpPr txBox="1"/>
          <p:nvPr/>
        </p:nvSpPr>
        <p:spPr>
          <a:xfrm>
            <a:off x="548640" y="292608"/>
            <a:ext cx="8229600" cy="274320"/>
          </a:xfrm>
          <a:prstGeom prst="rect">
            <a:avLst/>
          </a:prstGeom>
          <a:noFill/>
        </p:spPr>
        <p:txBody>
          <a:bodyPr wrap="square" lIns="0" tIns="0" rIns="0" bIns="0" anchor="t">
            <a:spAutoFit/>
          </a:bodyPr>
          <a:lstStyle/>
          <a:p>
            <a:pPr algn="l">
              <a:spcAft>
                <a:spcPts val="400"/>
              </a:spcAft>
            </a:pPr>
            <a:r>
              <a:rPr sz="1100" b="1" i="0">
                <a:solidFill>
                  <a:srgbClr val="046A38"/>
                </a:solidFill>
                <a:latin typeface="Arial"/>
              </a:rPr>
              <a:t>6 · PROTOTYPE</a:t>
            </a:r>
          </a:p>
        </p:txBody>
      </p:sp>
      <p:sp>
        <p:nvSpPr>
          <p:cNvPr id="3" name="Title"/>
          <p:cNvSpPr txBox="1"/>
          <p:nvPr/>
        </p:nvSpPr>
        <p:spPr>
          <a:xfrm>
            <a:off x="548640" y="548640"/>
            <a:ext cx="11064240" cy="868680"/>
          </a:xfrm>
          <a:prstGeom prst="rect">
            <a:avLst/>
          </a:prstGeom>
          <a:noFill/>
        </p:spPr>
        <p:txBody>
          <a:bodyPr wrap="square" lIns="0" tIns="0" rIns="0" bIns="0" anchor="t">
            <a:spAutoFit/>
          </a:bodyPr>
          <a:lstStyle/>
          <a:p>
            <a:pPr algn="l">
              <a:spcAft>
                <a:spcPts val="400"/>
              </a:spcAft>
            </a:pPr>
            <a:r>
              <a:rPr sz="2800" b="1" i="0">
                <a:solidFill>
                  <a:srgbClr val="1A1A1A"/>
                </a:solidFill>
                <a:latin typeface="Arial"/>
              </a:rPr>
              <a:t>One workbench shows all five agents and the human decision</a:t>
            </a:r>
          </a:p>
        </p:txBody>
      </p:sp>
      <p:sp>
        <p:nvSpPr>
          <p:cNvPr id="4" name="Source"/>
          <p:cNvSpPr txBox="1"/>
          <p:nvPr/>
        </p:nvSpPr>
        <p:spPr>
          <a:xfrm>
            <a:off x="548640" y="6355080"/>
            <a:ext cx="10241280" cy="320040"/>
          </a:xfrm>
          <a:prstGeom prst="rect">
            <a:avLst/>
          </a:prstGeom>
          <a:noFill/>
        </p:spPr>
        <p:txBody>
          <a:bodyPr wrap="square" lIns="0" tIns="0" rIns="0" bIns="0" anchor="t">
            <a:spAutoFit/>
          </a:bodyPr>
          <a:lstStyle/>
          <a:p>
            <a:pPr algn="l">
              <a:spcAft>
                <a:spcPts val="400"/>
              </a:spcAft>
            </a:pPr>
            <a:r>
              <a:rPr sz="1000" b="0" i="0">
                <a:solidFill>
                  <a:srgbClr val="53565A"/>
                </a:solidFill>
                <a:latin typeface="Calibri"/>
              </a:rPr>
              <a:t>Source: RuleForge clickable prototype (RuleForge_Wireframes_v3.html, step 2); data from golden dataset rows P-036, P-037, E-050</a:t>
            </a:r>
          </a:p>
        </p:txBody>
      </p:sp>
      <p:sp>
        <p:nvSpPr>
          <p:cNvPr id="5" name="SlideNo"/>
          <p:cNvSpPr txBox="1"/>
          <p:nvPr/>
        </p:nvSpPr>
        <p:spPr>
          <a:xfrm>
            <a:off x="11064240" y="6355080"/>
            <a:ext cx="576072" cy="320040"/>
          </a:xfrm>
          <a:prstGeom prst="rect">
            <a:avLst/>
          </a:prstGeom>
          <a:noFill/>
        </p:spPr>
        <p:txBody>
          <a:bodyPr wrap="square" lIns="0" tIns="0" rIns="0" bIns="0" anchor="t">
            <a:spAutoFit/>
          </a:bodyPr>
          <a:lstStyle/>
          <a:p>
            <a:pPr algn="r">
              <a:spcAft>
                <a:spcPts val="400"/>
              </a:spcAft>
            </a:pPr>
            <a:r>
              <a:rPr sz="1000" b="0" i="0">
                <a:solidFill>
                  <a:srgbClr val="53565A"/>
                </a:solidFill>
                <a:latin typeface="Calibri"/>
              </a:rPr>
              <a:t>18</a:t>
            </a:r>
          </a:p>
        </p:txBody>
      </p:sp>
      <p:sp>
        <p:nvSpPr>
          <p:cNvPr id="6" name="Rounded Rectangle 5"/>
          <p:cNvSpPr/>
          <p:nvPr/>
        </p:nvSpPr>
        <p:spPr>
          <a:xfrm>
            <a:off x="548640" y="1600200"/>
            <a:ext cx="1783080" cy="329184"/>
          </a:xfrm>
          <a:prstGeom prst="roundRect">
            <a:avLst>
              <a:gd name="adj" fmla="val 50000"/>
            </a:avLst>
          </a:prstGeom>
          <a:solidFill>
            <a:srgbClr val="F4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548640" y="1600200"/>
            <a:ext cx="1783080" cy="329184"/>
          </a:xfrm>
          <a:prstGeom prst="rect">
            <a:avLst/>
          </a:prstGeom>
          <a:noFill/>
        </p:spPr>
        <p:txBody>
          <a:bodyPr wrap="square" lIns="0" tIns="0" rIns="0" bIns="0" anchor="ctr">
            <a:spAutoFit/>
          </a:bodyPr>
          <a:lstStyle/>
          <a:p>
            <a:pPr algn="ctr">
              <a:spcAft>
                <a:spcPts val="400"/>
              </a:spcAft>
            </a:pPr>
            <a:r>
              <a:rPr sz="1200" b="1" i="0">
                <a:solidFill>
                  <a:srgbClr val="53565A"/>
                </a:solidFill>
                <a:latin typeface="Arial"/>
              </a:rPr>
              <a:t>1 Detect</a:t>
            </a:r>
          </a:p>
        </p:txBody>
      </p:sp>
      <p:sp>
        <p:nvSpPr>
          <p:cNvPr id="8" name="Rounded Rectangle 7"/>
          <p:cNvSpPr/>
          <p:nvPr/>
        </p:nvSpPr>
        <p:spPr>
          <a:xfrm>
            <a:off x="2468880" y="1600200"/>
            <a:ext cx="1783080" cy="329184"/>
          </a:xfrm>
          <a:prstGeom prst="roundRect">
            <a:avLst>
              <a:gd name="adj" fmla="val 50000"/>
            </a:avLst>
          </a:prstGeom>
          <a:solidFill>
            <a:srgbClr val="0D0D0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2468880" y="1600200"/>
            <a:ext cx="1783080" cy="329184"/>
          </a:xfrm>
          <a:prstGeom prst="rect">
            <a:avLst/>
          </a:prstGeom>
          <a:noFill/>
        </p:spPr>
        <p:txBody>
          <a:bodyPr wrap="square" lIns="0" tIns="0" rIns="0" bIns="0" anchor="ctr">
            <a:spAutoFit/>
          </a:bodyPr>
          <a:lstStyle/>
          <a:p>
            <a:pPr algn="ctr">
              <a:spcAft>
                <a:spcPts val="400"/>
              </a:spcAft>
            </a:pPr>
            <a:r>
              <a:rPr sz="1200" b="1" i="0">
                <a:solidFill>
                  <a:srgbClr val="86BC25"/>
                </a:solidFill>
                <a:latin typeface="Arial"/>
              </a:rPr>
              <a:t>2 Draft &amp; verify</a:t>
            </a:r>
          </a:p>
        </p:txBody>
      </p:sp>
      <p:sp>
        <p:nvSpPr>
          <p:cNvPr id="10" name="Rounded Rectangle 9"/>
          <p:cNvSpPr/>
          <p:nvPr/>
        </p:nvSpPr>
        <p:spPr>
          <a:xfrm>
            <a:off x="4389120" y="1600200"/>
            <a:ext cx="1783080" cy="329184"/>
          </a:xfrm>
          <a:prstGeom prst="roundRect">
            <a:avLst>
              <a:gd name="adj" fmla="val 50000"/>
            </a:avLst>
          </a:prstGeom>
          <a:solidFill>
            <a:srgbClr val="F4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4389120" y="1600200"/>
            <a:ext cx="1783080" cy="329184"/>
          </a:xfrm>
          <a:prstGeom prst="rect">
            <a:avLst/>
          </a:prstGeom>
          <a:noFill/>
        </p:spPr>
        <p:txBody>
          <a:bodyPr wrap="square" lIns="0" tIns="0" rIns="0" bIns="0" anchor="ctr">
            <a:spAutoFit/>
          </a:bodyPr>
          <a:lstStyle/>
          <a:p>
            <a:pPr algn="ctr">
              <a:spcAft>
                <a:spcPts val="400"/>
              </a:spcAft>
            </a:pPr>
            <a:r>
              <a:rPr sz="1200" b="1" i="0">
                <a:solidFill>
                  <a:srgbClr val="53565A"/>
                </a:solidFill>
                <a:latin typeface="Arial"/>
              </a:rPr>
              <a:t>3 Publish</a:t>
            </a:r>
          </a:p>
        </p:txBody>
      </p:sp>
      <p:sp>
        <p:nvSpPr>
          <p:cNvPr id="12" name="Rounded Rectangle 11"/>
          <p:cNvSpPr/>
          <p:nvPr/>
        </p:nvSpPr>
        <p:spPr>
          <a:xfrm>
            <a:off x="6309360" y="1600200"/>
            <a:ext cx="1783080" cy="329184"/>
          </a:xfrm>
          <a:prstGeom prst="roundRect">
            <a:avLst>
              <a:gd name="adj" fmla="val 50000"/>
            </a:avLst>
          </a:prstGeom>
          <a:solidFill>
            <a:srgbClr val="F4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6309360" y="1600200"/>
            <a:ext cx="1783080" cy="329184"/>
          </a:xfrm>
          <a:prstGeom prst="rect">
            <a:avLst/>
          </a:prstGeom>
          <a:noFill/>
        </p:spPr>
        <p:txBody>
          <a:bodyPr wrap="square" lIns="0" tIns="0" rIns="0" bIns="0" anchor="ctr">
            <a:spAutoFit/>
          </a:bodyPr>
          <a:lstStyle/>
          <a:p>
            <a:pPr algn="ctr">
              <a:spcAft>
                <a:spcPts val="400"/>
              </a:spcAft>
            </a:pPr>
            <a:r>
              <a:rPr sz="1200" b="1" i="0">
                <a:solidFill>
                  <a:srgbClr val="53565A"/>
                </a:solidFill>
                <a:latin typeface="Arial"/>
              </a:rPr>
              <a:t>4 Monitor</a:t>
            </a:r>
          </a:p>
        </p:txBody>
      </p:sp>
      <p:sp>
        <p:nvSpPr>
          <p:cNvPr id="14" name="Screenshot placeholder"/>
          <p:cNvSpPr/>
          <p:nvPr/>
        </p:nvSpPr>
        <p:spPr>
          <a:xfrm>
            <a:off x="548640" y="2057400"/>
            <a:ext cx="7680960" cy="4069080"/>
          </a:xfrm>
          <a:prstGeom prst="roundRect">
            <a:avLst>
              <a:gd name="adj" fmla="val 2000"/>
            </a:avLst>
          </a:prstGeom>
          <a:solidFill>
            <a:srgbClr val="FFFFFF"/>
          </a:solidFill>
          <a:ln w="12700">
            <a:solidFill>
              <a:srgbClr val="DDE1E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Oval 15"/>
          <p:cNvSpPr/>
          <p:nvPr/>
        </p:nvSpPr>
        <p:spPr>
          <a:xfrm>
            <a:off x="8503920" y="1737360"/>
            <a:ext cx="384048" cy="384048"/>
          </a:xfrm>
          <a:prstGeom prst="ellipse">
            <a:avLst/>
          </a:prstGeom>
          <a:solidFill>
            <a:srgbClr val="0D0D0D"/>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86BC25"/>
                </a:solidFill>
                <a:latin typeface="Arial"/>
              </a:rPr>
              <a:t>1</a:t>
            </a:r>
          </a:p>
        </p:txBody>
      </p:sp>
      <p:sp>
        <p:nvSpPr>
          <p:cNvPr id="17" name="TextBox 16"/>
          <p:cNvSpPr txBox="1"/>
          <p:nvPr/>
        </p:nvSpPr>
        <p:spPr>
          <a:xfrm>
            <a:off x="9006840" y="1691640"/>
            <a:ext cx="2606040" cy="320040"/>
          </a:xfrm>
          <a:prstGeom prst="rect">
            <a:avLst/>
          </a:prstGeom>
          <a:noFill/>
        </p:spPr>
        <p:txBody>
          <a:bodyPr wrap="square" lIns="0" tIns="0" rIns="0" bIns="0" anchor="t">
            <a:spAutoFit/>
          </a:bodyPr>
          <a:lstStyle/>
          <a:p>
            <a:pPr algn="l">
              <a:spcAft>
                <a:spcPts val="400"/>
              </a:spcAft>
            </a:pPr>
            <a:r>
              <a:rPr sz="1500" b="1" i="0">
                <a:solidFill>
                  <a:srgbClr val="1A1A1A"/>
                </a:solidFill>
                <a:latin typeface="Arial"/>
              </a:rPr>
              <a:t>Pipeline rail</a:t>
            </a:r>
          </a:p>
        </p:txBody>
      </p:sp>
      <p:sp>
        <p:nvSpPr>
          <p:cNvPr id="18" name="TextBox 17"/>
          <p:cNvSpPr txBox="1"/>
          <p:nvPr/>
        </p:nvSpPr>
        <p:spPr>
          <a:xfrm>
            <a:off x="9006840" y="2011680"/>
            <a:ext cx="2606040" cy="548640"/>
          </a:xfrm>
          <a:prstGeom prst="rect">
            <a:avLst/>
          </a:prstGeom>
          <a:noFill/>
        </p:spPr>
        <p:txBody>
          <a:bodyPr wrap="square" lIns="0" tIns="0" rIns="0" bIns="0" anchor="t">
            <a:spAutoFit/>
          </a:bodyPr>
          <a:lstStyle/>
          <a:p>
            <a:pPr algn="l">
              <a:spcAft>
                <a:spcPts val="400"/>
              </a:spcAft>
            </a:pPr>
            <a:r>
              <a:rPr sz="1300" b="0" i="0">
                <a:solidFill>
                  <a:srgbClr val="53565A"/>
                </a:solidFill>
                <a:latin typeface="Calibri"/>
              </a:rPr>
              <a:t>Watcher → Research → Author → Test harness → Critic → SME</a:t>
            </a:r>
          </a:p>
        </p:txBody>
      </p:sp>
      <p:sp>
        <p:nvSpPr>
          <p:cNvPr id="19" name="Oval 18"/>
          <p:cNvSpPr/>
          <p:nvPr/>
        </p:nvSpPr>
        <p:spPr>
          <a:xfrm>
            <a:off x="8503920" y="2633472"/>
            <a:ext cx="384048" cy="384048"/>
          </a:xfrm>
          <a:prstGeom prst="ellipse">
            <a:avLst/>
          </a:prstGeom>
          <a:solidFill>
            <a:srgbClr val="0D0D0D"/>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86BC25"/>
                </a:solidFill>
                <a:latin typeface="Arial"/>
              </a:rPr>
              <a:t>2</a:t>
            </a:r>
          </a:p>
        </p:txBody>
      </p:sp>
      <p:sp>
        <p:nvSpPr>
          <p:cNvPr id="20" name="TextBox 19"/>
          <p:cNvSpPr txBox="1"/>
          <p:nvPr/>
        </p:nvSpPr>
        <p:spPr>
          <a:xfrm>
            <a:off x="9006840" y="2587752"/>
            <a:ext cx="2606040" cy="320040"/>
          </a:xfrm>
          <a:prstGeom prst="rect">
            <a:avLst/>
          </a:prstGeom>
          <a:noFill/>
        </p:spPr>
        <p:txBody>
          <a:bodyPr wrap="square" lIns="0" tIns="0" rIns="0" bIns="0" anchor="t">
            <a:spAutoFit/>
          </a:bodyPr>
          <a:lstStyle/>
          <a:p>
            <a:pPr algn="l">
              <a:spcAft>
                <a:spcPts val="400"/>
              </a:spcAft>
            </a:pPr>
            <a:r>
              <a:rPr sz="1500" b="1" i="0">
                <a:solidFill>
                  <a:srgbClr val="1A1A1A"/>
                </a:solidFill>
                <a:latin typeface="Arial"/>
              </a:rPr>
              <a:t>Colour-coded steps</a:t>
            </a:r>
          </a:p>
        </p:txBody>
      </p:sp>
      <p:sp>
        <p:nvSpPr>
          <p:cNvPr id="21" name="TextBox 20"/>
          <p:cNvSpPr txBox="1"/>
          <p:nvPr/>
        </p:nvSpPr>
        <p:spPr>
          <a:xfrm>
            <a:off x="9006840" y="2907792"/>
            <a:ext cx="2606040" cy="548640"/>
          </a:xfrm>
          <a:prstGeom prst="rect">
            <a:avLst/>
          </a:prstGeom>
          <a:noFill/>
        </p:spPr>
        <p:txBody>
          <a:bodyPr wrap="square" lIns="0" tIns="0" rIns="0" bIns="0" anchor="t">
            <a:spAutoFit/>
          </a:bodyPr>
          <a:lstStyle/>
          <a:p>
            <a:pPr algn="l">
              <a:spcAft>
                <a:spcPts val="400"/>
              </a:spcAft>
            </a:pPr>
            <a:r>
              <a:rPr sz="1300" b="0" i="0">
                <a:solidFill>
                  <a:srgbClr val="53565A"/>
                </a:solidFill>
                <a:latin typeface="Calibri"/>
              </a:rPr>
              <a:t>LLM, deterministic or human: the LLM never grades itself</a:t>
            </a:r>
          </a:p>
        </p:txBody>
      </p:sp>
      <p:sp>
        <p:nvSpPr>
          <p:cNvPr id="22" name="Oval 21"/>
          <p:cNvSpPr/>
          <p:nvPr/>
        </p:nvSpPr>
        <p:spPr>
          <a:xfrm>
            <a:off x="8503920" y="3529584"/>
            <a:ext cx="384048" cy="384048"/>
          </a:xfrm>
          <a:prstGeom prst="ellipse">
            <a:avLst/>
          </a:prstGeom>
          <a:solidFill>
            <a:srgbClr val="0D0D0D"/>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86BC25"/>
                </a:solidFill>
                <a:latin typeface="Arial"/>
              </a:rPr>
              <a:t>3</a:t>
            </a:r>
          </a:p>
        </p:txBody>
      </p:sp>
      <p:sp>
        <p:nvSpPr>
          <p:cNvPr id="23" name="TextBox 22"/>
          <p:cNvSpPr txBox="1"/>
          <p:nvPr/>
        </p:nvSpPr>
        <p:spPr>
          <a:xfrm>
            <a:off x="9006840" y="3483864"/>
            <a:ext cx="2606040" cy="320040"/>
          </a:xfrm>
          <a:prstGeom prst="rect">
            <a:avLst/>
          </a:prstGeom>
          <a:noFill/>
        </p:spPr>
        <p:txBody>
          <a:bodyPr wrap="square" lIns="0" tIns="0" rIns="0" bIns="0" anchor="t">
            <a:spAutoFit/>
          </a:bodyPr>
          <a:lstStyle/>
          <a:p>
            <a:pPr algn="l">
              <a:spcAft>
                <a:spcPts val="400"/>
              </a:spcAft>
            </a:pPr>
            <a:r>
              <a:rPr sz="1500" b="1" i="0">
                <a:solidFill>
                  <a:srgbClr val="1A1A1A"/>
                </a:solidFill>
                <a:latin typeface="Arial"/>
              </a:rPr>
              <a:t>Critic flag</a:t>
            </a:r>
          </a:p>
        </p:txBody>
      </p:sp>
      <p:sp>
        <p:nvSpPr>
          <p:cNvPr id="24" name="TextBox 23"/>
          <p:cNvSpPr txBox="1"/>
          <p:nvPr/>
        </p:nvSpPr>
        <p:spPr>
          <a:xfrm>
            <a:off x="9006840" y="3803904"/>
            <a:ext cx="2606040" cy="548640"/>
          </a:xfrm>
          <a:prstGeom prst="rect">
            <a:avLst/>
          </a:prstGeom>
          <a:noFill/>
        </p:spPr>
        <p:txBody>
          <a:bodyPr wrap="square" lIns="0" tIns="0" rIns="0" bIns="0" anchor="t">
            <a:spAutoFit/>
          </a:bodyPr>
          <a:lstStyle/>
          <a:p>
            <a:pPr algn="l">
              <a:spcAft>
                <a:spcPts val="400"/>
              </a:spcAft>
            </a:pPr>
            <a:r>
              <a:rPr sz="1300" b="0" i="0">
                <a:solidFill>
                  <a:srgbClr val="53565A"/>
                </a:solidFill>
                <a:latin typeface="Calibri"/>
              </a:rPr>
              <a:t>Caught the account-level override edge case (E-050)</a:t>
            </a:r>
          </a:p>
        </p:txBody>
      </p:sp>
      <p:sp>
        <p:nvSpPr>
          <p:cNvPr id="25" name="Oval 24"/>
          <p:cNvSpPr/>
          <p:nvPr/>
        </p:nvSpPr>
        <p:spPr>
          <a:xfrm>
            <a:off x="8503920" y="4425696"/>
            <a:ext cx="384048" cy="384048"/>
          </a:xfrm>
          <a:prstGeom prst="ellipse">
            <a:avLst/>
          </a:prstGeom>
          <a:solidFill>
            <a:srgbClr val="0D0D0D"/>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86BC25"/>
                </a:solidFill>
                <a:latin typeface="Arial"/>
              </a:rPr>
              <a:t>4</a:t>
            </a:r>
          </a:p>
        </p:txBody>
      </p:sp>
      <p:sp>
        <p:nvSpPr>
          <p:cNvPr id="26" name="TextBox 25"/>
          <p:cNvSpPr txBox="1"/>
          <p:nvPr/>
        </p:nvSpPr>
        <p:spPr>
          <a:xfrm>
            <a:off x="9006840" y="4379976"/>
            <a:ext cx="2606040" cy="320040"/>
          </a:xfrm>
          <a:prstGeom prst="rect">
            <a:avLst/>
          </a:prstGeom>
          <a:noFill/>
        </p:spPr>
        <p:txBody>
          <a:bodyPr wrap="square" lIns="0" tIns="0" rIns="0" bIns="0" anchor="t">
            <a:spAutoFit/>
          </a:bodyPr>
          <a:lstStyle/>
          <a:p>
            <a:pPr algn="l">
              <a:spcAft>
                <a:spcPts val="400"/>
              </a:spcAft>
            </a:pPr>
            <a:r>
              <a:rPr sz="1500" b="1" i="0">
                <a:solidFill>
                  <a:srgbClr val="1A1A1A"/>
                </a:solidFill>
                <a:latin typeface="Arial"/>
              </a:rPr>
              <a:t>Evidence pack</a:t>
            </a:r>
          </a:p>
        </p:txBody>
      </p:sp>
      <p:sp>
        <p:nvSpPr>
          <p:cNvPr id="27" name="TextBox 26"/>
          <p:cNvSpPr txBox="1"/>
          <p:nvPr/>
        </p:nvSpPr>
        <p:spPr>
          <a:xfrm>
            <a:off x="9006840" y="4700016"/>
            <a:ext cx="2606040" cy="548640"/>
          </a:xfrm>
          <a:prstGeom prst="rect">
            <a:avLst/>
          </a:prstGeom>
          <a:noFill/>
        </p:spPr>
        <p:txBody>
          <a:bodyPr wrap="square" lIns="0" tIns="0" rIns="0" bIns="0" anchor="t">
            <a:spAutoFit/>
          </a:bodyPr>
          <a:lstStyle/>
          <a:p>
            <a:pPr algn="l">
              <a:spcAft>
                <a:spcPts val="400"/>
              </a:spcAft>
            </a:pPr>
            <a:r>
              <a:rPr sz="1300" b="0" i="0">
                <a:solidFill>
                  <a:srgbClr val="53565A"/>
                </a:solidFill>
                <a:latin typeface="Calibri"/>
              </a:rPr>
              <a:t>Citations, rule, 4 sandbox tests in one list</a:t>
            </a:r>
          </a:p>
        </p:txBody>
      </p:sp>
      <p:sp>
        <p:nvSpPr>
          <p:cNvPr id="28" name="Oval 27"/>
          <p:cNvSpPr/>
          <p:nvPr/>
        </p:nvSpPr>
        <p:spPr>
          <a:xfrm>
            <a:off x="8503920" y="5321807"/>
            <a:ext cx="384048" cy="384048"/>
          </a:xfrm>
          <a:prstGeom prst="ellipse">
            <a:avLst/>
          </a:prstGeom>
          <a:solidFill>
            <a:srgbClr val="0D0D0D"/>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86BC25"/>
                </a:solidFill>
                <a:latin typeface="Arial"/>
              </a:rPr>
              <a:t>5</a:t>
            </a:r>
          </a:p>
        </p:txBody>
      </p:sp>
      <p:sp>
        <p:nvSpPr>
          <p:cNvPr id="29" name="TextBox 28"/>
          <p:cNvSpPr txBox="1"/>
          <p:nvPr/>
        </p:nvSpPr>
        <p:spPr>
          <a:xfrm>
            <a:off x="9006840" y="5276088"/>
            <a:ext cx="2606040" cy="320040"/>
          </a:xfrm>
          <a:prstGeom prst="rect">
            <a:avLst/>
          </a:prstGeom>
          <a:noFill/>
        </p:spPr>
        <p:txBody>
          <a:bodyPr wrap="square" lIns="0" tIns="0" rIns="0" bIns="0" anchor="t">
            <a:spAutoFit/>
          </a:bodyPr>
          <a:lstStyle/>
          <a:p>
            <a:pPr algn="l">
              <a:spcAft>
                <a:spcPts val="400"/>
              </a:spcAft>
            </a:pPr>
            <a:r>
              <a:rPr sz="1500" b="1" i="0">
                <a:solidFill>
                  <a:srgbClr val="1A1A1A"/>
                </a:solidFill>
                <a:latin typeface="Arial"/>
              </a:rPr>
              <a:t>SME decision</a:t>
            </a:r>
          </a:p>
        </p:txBody>
      </p:sp>
      <p:sp>
        <p:nvSpPr>
          <p:cNvPr id="30" name="TextBox 29"/>
          <p:cNvSpPr txBox="1"/>
          <p:nvPr/>
        </p:nvSpPr>
        <p:spPr>
          <a:xfrm>
            <a:off x="9006840" y="5596127"/>
            <a:ext cx="2606040" cy="548640"/>
          </a:xfrm>
          <a:prstGeom prst="rect">
            <a:avLst/>
          </a:prstGeom>
          <a:noFill/>
        </p:spPr>
        <p:txBody>
          <a:bodyPr wrap="square" lIns="0" tIns="0" rIns="0" bIns="0" anchor="t">
            <a:spAutoFit/>
          </a:bodyPr>
          <a:lstStyle/>
          <a:p>
            <a:pPr algn="l">
              <a:spcAft>
                <a:spcPts val="400"/>
              </a:spcAft>
            </a:pPr>
            <a:r>
              <a:rPr sz="1300" b="0" i="0">
                <a:solidFill>
                  <a:srgbClr val="53565A"/>
                </a:solidFill>
                <a:latin typeface="Calibri"/>
              </a:rPr>
              <a:t>Approve / edit / reject; reject needs a reason code</a:t>
            </a:r>
          </a:p>
        </p:txBody>
      </p:sp>
      <p:pic>
        <p:nvPicPr>
          <p:cNvPr id="31" name="Picture 30" descr="c2.png"/>
          <p:cNvPicPr>
            <a:picLocks noChangeAspect="1"/>
          </p:cNvPicPr>
          <p:nvPr/>
        </p:nvPicPr>
        <p:blipFill>
          <a:blip r:embed="rId3"/>
          <a:stretch>
            <a:fillRect/>
          </a:stretch>
        </p:blipFill>
        <p:spPr>
          <a:xfrm>
            <a:off x="594360" y="2103120"/>
            <a:ext cx="7589520" cy="397764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ection"/>
          <p:cNvSpPr txBox="1"/>
          <p:nvPr/>
        </p:nvSpPr>
        <p:spPr>
          <a:xfrm>
            <a:off x="548640" y="292608"/>
            <a:ext cx="8229600" cy="274320"/>
          </a:xfrm>
          <a:prstGeom prst="rect">
            <a:avLst/>
          </a:prstGeom>
          <a:noFill/>
        </p:spPr>
        <p:txBody>
          <a:bodyPr wrap="square" lIns="0" tIns="0" rIns="0" bIns="0" anchor="t">
            <a:spAutoFit/>
          </a:bodyPr>
          <a:lstStyle/>
          <a:p>
            <a:pPr algn="l">
              <a:spcAft>
                <a:spcPts val="400"/>
              </a:spcAft>
            </a:pPr>
            <a:r>
              <a:rPr sz="1100" b="1" i="0">
                <a:solidFill>
                  <a:srgbClr val="046A38"/>
                </a:solidFill>
                <a:latin typeface="Arial"/>
              </a:rPr>
              <a:t>6 · PROTOTYPE</a:t>
            </a:r>
          </a:p>
        </p:txBody>
      </p:sp>
      <p:sp>
        <p:nvSpPr>
          <p:cNvPr id="3" name="Title"/>
          <p:cNvSpPr txBox="1"/>
          <p:nvPr/>
        </p:nvSpPr>
        <p:spPr>
          <a:xfrm>
            <a:off x="548640" y="548640"/>
            <a:ext cx="11064240" cy="868680"/>
          </a:xfrm>
          <a:prstGeom prst="rect">
            <a:avLst/>
          </a:prstGeom>
          <a:noFill/>
        </p:spPr>
        <p:txBody>
          <a:bodyPr wrap="square" lIns="0" tIns="0" rIns="0" bIns="0" anchor="t">
            <a:spAutoFit/>
          </a:bodyPr>
          <a:lstStyle/>
          <a:p>
            <a:pPr algn="l">
              <a:spcAft>
                <a:spcPts val="400"/>
              </a:spcAft>
            </a:pPr>
            <a:r>
              <a:rPr sz="2800" b="1" i="0">
                <a:solidFill>
                  <a:srgbClr val="1A1A1A"/>
                </a:solidFill>
                <a:latin typeface="Arial"/>
              </a:rPr>
              <a:t>Detect, publish and monitor complete one linear journey</a:t>
            </a:r>
          </a:p>
        </p:txBody>
      </p:sp>
      <p:sp>
        <p:nvSpPr>
          <p:cNvPr id="5" name="SlideNo"/>
          <p:cNvSpPr txBox="1"/>
          <p:nvPr/>
        </p:nvSpPr>
        <p:spPr>
          <a:xfrm>
            <a:off x="11064240" y="6355080"/>
            <a:ext cx="576072" cy="320040"/>
          </a:xfrm>
          <a:prstGeom prst="rect">
            <a:avLst/>
          </a:prstGeom>
          <a:noFill/>
        </p:spPr>
        <p:txBody>
          <a:bodyPr wrap="square" lIns="0" tIns="0" rIns="0" bIns="0" anchor="t">
            <a:spAutoFit/>
          </a:bodyPr>
          <a:lstStyle/>
          <a:p>
            <a:pPr algn="r">
              <a:spcAft>
                <a:spcPts val="400"/>
              </a:spcAft>
            </a:pPr>
            <a:r>
              <a:rPr sz="1000" b="0" i="0">
                <a:solidFill>
                  <a:srgbClr val="53565A"/>
                </a:solidFill>
                <a:latin typeface="Calibri"/>
              </a:rPr>
              <a:t>19</a:t>
            </a:r>
          </a:p>
        </p:txBody>
      </p:sp>
      <p:sp>
        <p:nvSpPr>
          <p:cNvPr id="6" name="Rounded Rectangle 5"/>
          <p:cNvSpPr/>
          <p:nvPr/>
        </p:nvSpPr>
        <p:spPr>
          <a:xfrm>
            <a:off x="548640" y="1874519"/>
            <a:ext cx="3566160" cy="2135392"/>
          </a:xfrm>
          <a:prstGeom prst="roundRect">
            <a:avLst>
              <a:gd name="adj" fmla="val 3000"/>
            </a:avLst>
          </a:prstGeom>
          <a:solidFill>
            <a:srgbClr val="FFFFFF"/>
          </a:solidFill>
          <a:ln w="12700">
            <a:solidFill>
              <a:srgbClr val="DDE1E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548640" y="4192791"/>
            <a:ext cx="3566160" cy="365760"/>
          </a:xfrm>
          <a:prstGeom prst="rect">
            <a:avLst/>
          </a:prstGeom>
          <a:noFill/>
        </p:spPr>
        <p:txBody>
          <a:bodyPr wrap="square" lIns="0" tIns="0" rIns="0" bIns="0" anchor="t">
            <a:spAutoFit/>
          </a:bodyPr>
          <a:lstStyle/>
          <a:p>
            <a:pPr algn="l">
              <a:spcAft>
                <a:spcPts val="400"/>
              </a:spcAft>
            </a:pPr>
            <a:r>
              <a:rPr sz="1600" b="1" i="0">
                <a:solidFill>
                  <a:srgbClr val="1A1A1A"/>
                </a:solidFill>
                <a:latin typeface="Arial"/>
              </a:rPr>
              <a:t>Step 1 · Detect</a:t>
            </a:r>
          </a:p>
        </p:txBody>
      </p:sp>
      <p:sp>
        <p:nvSpPr>
          <p:cNvPr id="9" name="TextBox 8"/>
          <p:cNvSpPr txBox="1"/>
          <p:nvPr/>
        </p:nvSpPr>
        <p:spPr>
          <a:xfrm>
            <a:off x="548640" y="4576839"/>
            <a:ext cx="3566160" cy="822960"/>
          </a:xfrm>
          <a:prstGeom prst="rect">
            <a:avLst/>
          </a:prstGeom>
          <a:noFill/>
        </p:spPr>
        <p:txBody>
          <a:bodyPr wrap="square" lIns="0" tIns="0" rIns="0" bIns="0" anchor="t">
            <a:spAutoFit/>
          </a:bodyPr>
          <a:lstStyle/>
          <a:p>
            <a:pPr algn="l">
              <a:spcAft>
                <a:spcPts val="400"/>
              </a:spcAft>
            </a:pPr>
            <a:r>
              <a:rPr sz="1300" b="0" i="0">
                <a:solidFill>
                  <a:srgbClr val="53565A"/>
                </a:solidFill>
                <a:latin typeface="Calibri"/>
              </a:rPr>
              <a:t>Watcher inbox: 100 real AWS announcements; 11 need a rule, the rest are filtered as noise</a:t>
            </a:r>
          </a:p>
        </p:txBody>
      </p:sp>
      <p:sp>
        <p:nvSpPr>
          <p:cNvPr id="10" name="Rounded Rectangle 9"/>
          <p:cNvSpPr/>
          <p:nvPr/>
        </p:nvSpPr>
        <p:spPr>
          <a:xfrm>
            <a:off x="4297679" y="1874519"/>
            <a:ext cx="3566160" cy="2135392"/>
          </a:xfrm>
          <a:prstGeom prst="roundRect">
            <a:avLst>
              <a:gd name="adj" fmla="val 3000"/>
            </a:avLst>
          </a:prstGeom>
          <a:solidFill>
            <a:srgbClr val="FFFFFF"/>
          </a:solidFill>
          <a:ln w="12700">
            <a:solidFill>
              <a:srgbClr val="DDE1E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4297679" y="4192791"/>
            <a:ext cx="3566160" cy="365760"/>
          </a:xfrm>
          <a:prstGeom prst="rect">
            <a:avLst/>
          </a:prstGeom>
          <a:noFill/>
        </p:spPr>
        <p:txBody>
          <a:bodyPr wrap="square" lIns="0" tIns="0" rIns="0" bIns="0" anchor="t">
            <a:spAutoFit/>
          </a:bodyPr>
          <a:lstStyle/>
          <a:p>
            <a:pPr algn="l">
              <a:spcAft>
                <a:spcPts val="400"/>
              </a:spcAft>
            </a:pPr>
            <a:r>
              <a:rPr sz="1600" b="1" i="0">
                <a:solidFill>
                  <a:srgbClr val="1A1A1A"/>
                </a:solidFill>
                <a:latin typeface="Arial"/>
              </a:rPr>
              <a:t>Step 3 · Publish</a:t>
            </a:r>
          </a:p>
        </p:txBody>
      </p:sp>
      <p:sp>
        <p:nvSpPr>
          <p:cNvPr id="13" name="TextBox 12"/>
          <p:cNvSpPr txBox="1"/>
          <p:nvPr/>
        </p:nvSpPr>
        <p:spPr>
          <a:xfrm>
            <a:off x="4297679" y="4576839"/>
            <a:ext cx="3566160" cy="822960"/>
          </a:xfrm>
          <a:prstGeom prst="rect">
            <a:avLst/>
          </a:prstGeom>
          <a:noFill/>
        </p:spPr>
        <p:txBody>
          <a:bodyPr wrap="square" lIns="0" tIns="0" rIns="0" bIns="0" anchor="t">
            <a:spAutoFit/>
          </a:bodyPr>
          <a:lstStyle/>
          <a:p>
            <a:pPr algn="l">
              <a:spcAft>
                <a:spcPts val="400"/>
              </a:spcAft>
            </a:pPr>
            <a:r>
              <a:rPr sz="1300" b="0" i="0">
                <a:solidFill>
                  <a:srgbClr val="53565A"/>
                </a:solidFill>
                <a:latin typeface="Calibri"/>
              </a:rPr>
              <a:t>Customer finding with CLI/Terraform fix; provenance timeline mirrors the six pipeline steps</a:t>
            </a:r>
          </a:p>
        </p:txBody>
      </p:sp>
      <p:sp>
        <p:nvSpPr>
          <p:cNvPr id="14" name="Rounded Rectangle 13"/>
          <p:cNvSpPr/>
          <p:nvPr/>
        </p:nvSpPr>
        <p:spPr>
          <a:xfrm>
            <a:off x="8046719" y="1874519"/>
            <a:ext cx="3566160" cy="2135392"/>
          </a:xfrm>
          <a:prstGeom prst="roundRect">
            <a:avLst>
              <a:gd name="adj" fmla="val 3000"/>
            </a:avLst>
          </a:prstGeom>
          <a:solidFill>
            <a:srgbClr val="FFFFFF"/>
          </a:solidFill>
          <a:ln w="12700">
            <a:solidFill>
              <a:srgbClr val="DDE1E4"/>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8046719" y="4192791"/>
            <a:ext cx="3566160" cy="365760"/>
          </a:xfrm>
          <a:prstGeom prst="rect">
            <a:avLst/>
          </a:prstGeom>
          <a:noFill/>
        </p:spPr>
        <p:txBody>
          <a:bodyPr wrap="square" lIns="0" tIns="0" rIns="0" bIns="0" anchor="t">
            <a:spAutoFit/>
          </a:bodyPr>
          <a:lstStyle/>
          <a:p>
            <a:pPr algn="l">
              <a:spcAft>
                <a:spcPts val="400"/>
              </a:spcAft>
            </a:pPr>
            <a:r>
              <a:rPr sz="1600" b="1" i="0">
                <a:solidFill>
                  <a:srgbClr val="1A1A1A"/>
                </a:solidFill>
                <a:latin typeface="Arial"/>
              </a:rPr>
              <a:t>Step 4 · Monitor</a:t>
            </a:r>
          </a:p>
        </p:txBody>
      </p:sp>
      <p:sp>
        <p:nvSpPr>
          <p:cNvPr id="17" name="TextBox 16"/>
          <p:cNvSpPr txBox="1"/>
          <p:nvPr/>
        </p:nvSpPr>
        <p:spPr>
          <a:xfrm>
            <a:off x="8046719" y="4576839"/>
            <a:ext cx="3566160" cy="822960"/>
          </a:xfrm>
          <a:prstGeom prst="rect">
            <a:avLst/>
          </a:prstGeom>
          <a:noFill/>
        </p:spPr>
        <p:txBody>
          <a:bodyPr wrap="square" lIns="0" tIns="0" rIns="0" bIns="0" anchor="t">
            <a:spAutoFit/>
          </a:bodyPr>
          <a:lstStyle/>
          <a:p>
            <a:pPr algn="l">
              <a:spcAft>
                <a:spcPts val="400"/>
              </a:spcAft>
            </a:pPr>
            <a:r>
              <a:rPr sz="1300" b="0" i="0">
                <a:solidFill>
                  <a:srgbClr val="53565A"/>
                </a:solidFill>
                <a:latin typeface="Calibri"/>
              </a:rPr>
              <a:t>Golden-set release gate, per-agent health, kill switch</a:t>
            </a:r>
          </a:p>
        </p:txBody>
      </p:sp>
      <p:pic>
        <p:nvPicPr>
          <p:cNvPr id="18" name="Picture 17" descr="c1.png"/>
          <p:cNvPicPr>
            <a:picLocks noChangeAspect="1"/>
          </p:cNvPicPr>
          <p:nvPr/>
        </p:nvPicPr>
        <p:blipFill>
          <a:blip r:embed="rId3"/>
          <a:stretch>
            <a:fillRect/>
          </a:stretch>
        </p:blipFill>
        <p:spPr>
          <a:xfrm>
            <a:off x="594360" y="1920239"/>
            <a:ext cx="3474720" cy="2043403"/>
          </a:xfrm>
          <a:prstGeom prst="rect">
            <a:avLst/>
          </a:prstGeom>
        </p:spPr>
      </p:pic>
      <p:pic>
        <p:nvPicPr>
          <p:cNvPr id="19" name="Picture 18" descr="c3.png"/>
          <p:cNvPicPr>
            <a:picLocks noChangeAspect="1"/>
          </p:cNvPicPr>
          <p:nvPr/>
        </p:nvPicPr>
        <p:blipFill>
          <a:blip r:embed="rId4"/>
          <a:stretch>
            <a:fillRect/>
          </a:stretch>
        </p:blipFill>
        <p:spPr>
          <a:xfrm>
            <a:off x="4343399" y="1920239"/>
            <a:ext cx="3474720" cy="2043403"/>
          </a:xfrm>
          <a:prstGeom prst="rect">
            <a:avLst/>
          </a:prstGeom>
        </p:spPr>
      </p:pic>
      <p:pic>
        <p:nvPicPr>
          <p:cNvPr id="20" name="Picture 19" descr="c4.png"/>
          <p:cNvPicPr>
            <a:picLocks noChangeAspect="1"/>
          </p:cNvPicPr>
          <p:nvPr/>
        </p:nvPicPr>
        <p:blipFill>
          <a:blip r:embed="rId5"/>
          <a:stretch>
            <a:fillRect/>
          </a:stretch>
        </p:blipFill>
        <p:spPr>
          <a:xfrm>
            <a:off x="8092439" y="1920239"/>
            <a:ext cx="3474720" cy="2043403"/>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ection"/>
          <p:cNvSpPr txBox="1"/>
          <p:nvPr/>
        </p:nvSpPr>
        <p:spPr>
          <a:xfrm>
            <a:off x="548640" y="292608"/>
            <a:ext cx="8229600" cy="274320"/>
          </a:xfrm>
          <a:prstGeom prst="rect">
            <a:avLst/>
          </a:prstGeom>
          <a:noFill/>
        </p:spPr>
        <p:txBody>
          <a:bodyPr wrap="square" lIns="0" tIns="0" rIns="0" bIns="0" anchor="t">
            <a:spAutoFit/>
          </a:bodyPr>
          <a:lstStyle/>
          <a:p>
            <a:pPr algn="l">
              <a:spcAft>
                <a:spcPts val="400"/>
              </a:spcAft>
            </a:pPr>
            <a:r>
              <a:rPr sz="1100" b="1" i="0">
                <a:solidFill>
                  <a:srgbClr val="046A38"/>
                </a:solidFill>
                <a:latin typeface="Arial"/>
              </a:rPr>
              <a:t>7 · GOLDEN DATASET</a:t>
            </a:r>
          </a:p>
        </p:txBody>
      </p:sp>
      <p:sp>
        <p:nvSpPr>
          <p:cNvPr id="3" name="Title"/>
          <p:cNvSpPr txBox="1"/>
          <p:nvPr/>
        </p:nvSpPr>
        <p:spPr>
          <a:xfrm>
            <a:off x="548640" y="548640"/>
            <a:ext cx="11064240" cy="868680"/>
          </a:xfrm>
          <a:prstGeom prst="rect">
            <a:avLst/>
          </a:prstGeom>
          <a:noFill/>
        </p:spPr>
        <p:txBody>
          <a:bodyPr wrap="square" lIns="0" tIns="0" rIns="0" bIns="0" anchor="t">
            <a:spAutoFit/>
          </a:bodyPr>
          <a:lstStyle/>
          <a:p>
            <a:pPr algn="l">
              <a:spcAft>
                <a:spcPts val="400"/>
              </a:spcAft>
            </a:pPr>
            <a:r>
              <a:rPr sz="2800" b="1" i="0">
                <a:solidFill>
                  <a:srgbClr val="1A1A1A"/>
                </a:solidFill>
                <a:latin typeface="Arial"/>
              </a:rPr>
              <a:t>The golden dataset is real public data, built to test every agent</a:t>
            </a:r>
          </a:p>
        </p:txBody>
      </p:sp>
      <p:sp>
        <p:nvSpPr>
          <p:cNvPr id="5" name="SlideNo"/>
          <p:cNvSpPr txBox="1"/>
          <p:nvPr/>
        </p:nvSpPr>
        <p:spPr>
          <a:xfrm>
            <a:off x="11064240" y="6355080"/>
            <a:ext cx="576072" cy="320040"/>
          </a:xfrm>
          <a:prstGeom prst="rect">
            <a:avLst/>
          </a:prstGeom>
          <a:noFill/>
        </p:spPr>
        <p:txBody>
          <a:bodyPr wrap="square" lIns="0" tIns="0" rIns="0" bIns="0" anchor="t">
            <a:spAutoFit/>
          </a:bodyPr>
          <a:lstStyle/>
          <a:p>
            <a:pPr algn="r">
              <a:spcAft>
                <a:spcPts val="400"/>
              </a:spcAft>
            </a:pPr>
            <a:r>
              <a:rPr sz="1000" b="0" i="0">
                <a:solidFill>
                  <a:srgbClr val="53565A"/>
                </a:solidFill>
                <a:latin typeface="Calibri"/>
              </a:rPr>
              <a:t>20</a:t>
            </a:r>
          </a:p>
        </p:txBody>
      </p:sp>
      <p:sp>
        <p:nvSpPr>
          <p:cNvPr id="6" name="Rounded Rectangle 5"/>
          <p:cNvSpPr/>
          <p:nvPr/>
        </p:nvSpPr>
        <p:spPr>
          <a:xfrm>
            <a:off x="548640" y="1691640"/>
            <a:ext cx="3931920" cy="960120"/>
          </a:xfrm>
          <a:prstGeom prst="roundRect">
            <a:avLst>
              <a:gd name="adj" fmla="val 6000"/>
            </a:avLst>
          </a:prstGeom>
          <a:solidFill>
            <a:srgbClr val="F1F8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731520" y="1783080"/>
            <a:ext cx="1188720" cy="777240"/>
          </a:xfrm>
          <a:prstGeom prst="rect">
            <a:avLst/>
          </a:prstGeom>
          <a:noFill/>
        </p:spPr>
        <p:txBody>
          <a:bodyPr wrap="square" lIns="0" tIns="0" rIns="0" bIns="0" anchor="ctr">
            <a:spAutoFit/>
          </a:bodyPr>
          <a:lstStyle/>
          <a:p>
            <a:pPr algn="l">
              <a:spcAft>
                <a:spcPts val="400"/>
              </a:spcAft>
            </a:pPr>
            <a:r>
              <a:rPr sz="3000" b="1" i="0">
                <a:solidFill>
                  <a:srgbClr val="046A38"/>
                </a:solidFill>
                <a:latin typeface="Arial"/>
              </a:rPr>
              <a:t>86</a:t>
            </a:r>
          </a:p>
        </p:txBody>
      </p:sp>
      <p:sp>
        <p:nvSpPr>
          <p:cNvPr id="8" name="TextBox 7"/>
          <p:cNvSpPr txBox="1"/>
          <p:nvPr/>
        </p:nvSpPr>
        <p:spPr>
          <a:xfrm>
            <a:off x="1920240" y="1801368"/>
            <a:ext cx="2468880" cy="320040"/>
          </a:xfrm>
          <a:prstGeom prst="rect">
            <a:avLst/>
          </a:prstGeom>
          <a:noFill/>
        </p:spPr>
        <p:txBody>
          <a:bodyPr wrap="square" lIns="0" tIns="0" rIns="0" bIns="0" anchor="t">
            <a:spAutoFit/>
          </a:bodyPr>
          <a:lstStyle/>
          <a:p>
            <a:pPr algn="l">
              <a:spcAft>
                <a:spcPts val="400"/>
              </a:spcAft>
            </a:pPr>
            <a:r>
              <a:rPr sz="1500" b="1" i="0">
                <a:solidFill>
                  <a:srgbClr val="1A1A1A"/>
                </a:solidFill>
                <a:latin typeface="Arial"/>
              </a:rPr>
              <a:t>Positive_Set</a:t>
            </a:r>
          </a:p>
        </p:txBody>
      </p:sp>
      <p:sp>
        <p:nvSpPr>
          <p:cNvPr id="9" name="TextBox 8"/>
          <p:cNvSpPr txBox="1"/>
          <p:nvPr/>
        </p:nvSpPr>
        <p:spPr>
          <a:xfrm>
            <a:off x="1920240" y="2148840"/>
            <a:ext cx="2468880" cy="457200"/>
          </a:xfrm>
          <a:prstGeom prst="rect">
            <a:avLst/>
          </a:prstGeom>
          <a:noFill/>
        </p:spPr>
        <p:txBody>
          <a:bodyPr wrap="square" lIns="0" tIns="0" rIns="0" bIns="0" anchor="t">
            <a:spAutoFit/>
          </a:bodyPr>
          <a:lstStyle/>
          <a:p>
            <a:pPr algn="l">
              <a:spcAft>
                <a:spcPts val="400"/>
              </a:spcAft>
            </a:pPr>
            <a:r>
              <a:rPr sz="1200" b="0" i="0">
                <a:solidFill>
                  <a:srgbClr val="53565A"/>
                </a:solidFill>
                <a:latin typeface="Calibri"/>
              </a:rPr>
              <a:t>Rule generation vs Prowler reference</a:t>
            </a:r>
          </a:p>
        </p:txBody>
      </p:sp>
      <p:sp>
        <p:nvSpPr>
          <p:cNvPr id="10" name="Rounded Rectangle 9"/>
          <p:cNvSpPr/>
          <p:nvPr/>
        </p:nvSpPr>
        <p:spPr>
          <a:xfrm>
            <a:off x="548640" y="2788920"/>
            <a:ext cx="3931920" cy="960120"/>
          </a:xfrm>
          <a:prstGeom prst="roundRect">
            <a:avLst>
              <a:gd name="adj" fmla="val 6000"/>
            </a:avLst>
          </a:prstGeom>
          <a:solidFill>
            <a:srgbClr val="F1F8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731520" y="2880360"/>
            <a:ext cx="1188720" cy="777240"/>
          </a:xfrm>
          <a:prstGeom prst="rect">
            <a:avLst/>
          </a:prstGeom>
          <a:noFill/>
        </p:spPr>
        <p:txBody>
          <a:bodyPr wrap="square" lIns="0" tIns="0" rIns="0" bIns="0" anchor="ctr">
            <a:spAutoFit/>
          </a:bodyPr>
          <a:lstStyle/>
          <a:p>
            <a:pPr algn="l">
              <a:spcAft>
                <a:spcPts val="400"/>
              </a:spcAft>
            </a:pPr>
            <a:r>
              <a:rPr sz="3000" b="1" i="0">
                <a:solidFill>
                  <a:srgbClr val="046A38"/>
                </a:solidFill>
                <a:latin typeface="Arial"/>
              </a:rPr>
              <a:t>51</a:t>
            </a:r>
          </a:p>
        </p:txBody>
      </p:sp>
      <p:sp>
        <p:nvSpPr>
          <p:cNvPr id="12" name="TextBox 11"/>
          <p:cNvSpPr txBox="1"/>
          <p:nvPr/>
        </p:nvSpPr>
        <p:spPr>
          <a:xfrm>
            <a:off x="1920240" y="2898648"/>
            <a:ext cx="2468880" cy="320040"/>
          </a:xfrm>
          <a:prstGeom prst="rect">
            <a:avLst/>
          </a:prstGeom>
          <a:noFill/>
        </p:spPr>
        <p:txBody>
          <a:bodyPr wrap="square" lIns="0" tIns="0" rIns="0" bIns="0" anchor="t">
            <a:spAutoFit/>
          </a:bodyPr>
          <a:lstStyle/>
          <a:p>
            <a:pPr algn="l">
              <a:spcAft>
                <a:spcPts val="400"/>
              </a:spcAft>
            </a:pPr>
            <a:r>
              <a:rPr sz="1500" b="1" i="0">
                <a:solidFill>
                  <a:srgbClr val="1A1A1A"/>
                </a:solidFill>
                <a:latin typeface="Arial"/>
              </a:rPr>
              <a:t>Edge_Cases</a:t>
            </a:r>
          </a:p>
        </p:txBody>
      </p:sp>
      <p:sp>
        <p:nvSpPr>
          <p:cNvPr id="13" name="TextBox 12"/>
          <p:cNvSpPr txBox="1"/>
          <p:nvPr/>
        </p:nvSpPr>
        <p:spPr>
          <a:xfrm>
            <a:off x="1920240" y="3246120"/>
            <a:ext cx="2468880" cy="457200"/>
          </a:xfrm>
          <a:prstGeom prst="rect">
            <a:avLst/>
          </a:prstGeom>
          <a:noFill/>
        </p:spPr>
        <p:txBody>
          <a:bodyPr wrap="square" lIns="0" tIns="0" rIns="0" bIns="0" anchor="t">
            <a:spAutoFit/>
          </a:bodyPr>
          <a:lstStyle/>
          <a:p>
            <a:pPr algn="l">
              <a:spcAft>
                <a:spcPts val="400"/>
              </a:spcAft>
            </a:pPr>
            <a:r>
              <a:rPr sz="1200" b="0" i="0">
                <a:solidFill>
                  <a:srgbClr val="53565A"/>
                </a:solidFill>
                <a:latin typeface="Calibri"/>
              </a:rPr>
              <a:t>Traps a naive generator falls into</a:t>
            </a:r>
          </a:p>
        </p:txBody>
      </p:sp>
      <p:sp>
        <p:nvSpPr>
          <p:cNvPr id="14" name="Rounded Rectangle 13"/>
          <p:cNvSpPr/>
          <p:nvPr/>
        </p:nvSpPr>
        <p:spPr>
          <a:xfrm>
            <a:off x="548640" y="3886200"/>
            <a:ext cx="3931920" cy="960120"/>
          </a:xfrm>
          <a:prstGeom prst="roundRect">
            <a:avLst>
              <a:gd name="adj" fmla="val 6000"/>
            </a:avLst>
          </a:prstGeom>
          <a:solidFill>
            <a:srgbClr val="F1F8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731520" y="3977639"/>
            <a:ext cx="1188720" cy="777240"/>
          </a:xfrm>
          <a:prstGeom prst="rect">
            <a:avLst/>
          </a:prstGeom>
          <a:noFill/>
        </p:spPr>
        <p:txBody>
          <a:bodyPr wrap="square" lIns="0" tIns="0" rIns="0" bIns="0" anchor="ctr">
            <a:spAutoFit/>
          </a:bodyPr>
          <a:lstStyle/>
          <a:p>
            <a:pPr algn="l">
              <a:spcAft>
                <a:spcPts val="400"/>
              </a:spcAft>
            </a:pPr>
            <a:r>
              <a:rPr sz="3000" b="1" i="0">
                <a:solidFill>
                  <a:srgbClr val="046A38"/>
                </a:solidFill>
                <a:latin typeface="Arial"/>
              </a:rPr>
              <a:t>100</a:t>
            </a:r>
          </a:p>
        </p:txBody>
      </p:sp>
      <p:sp>
        <p:nvSpPr>
          <p:cNvPr id="16" name="TextBox 15"/>
          <p:cNvSpPr txBox="1"/>
          <p:nvPr/>
        </p:nvSpPr>
        <p:spPr>
          <a:xfrm>
            <a:off x="1920240" y="3995928"/>
            <a:ext cx="2468880" cy="320040"/>
          </a:xfrm>
          <a:prstGeom prst="rect">
            <a:avLst/>
          </a:prstGeom>
          <a:noFill/>
        </p:spPr>
        <p:txBody>
          <a:bodyPr wrap="square" lIns="0" tIns="0" rIns="0" bIns="0" anchor="t">
            <a:spAutoFit/>
          </a:bodyPr>
          <a:lstStyle/>
          <a:p>
            <a:pPr algn="l">
              <a:spcAft>
                <a:spcPts val="400"/>
              </a:spcAft>
            </a:pPr>
            <a:r>
              <a:rPr sz="1500" b="1" i="0">
                <a:solidFill>
                  <a:srgbClr val="1A1A1A"/>
                </a:solidFill>
                <a:latin typeface="Arial"/>
              </a:rPr>
              <a:t>Triage_Set</a:t>
            </a:r>
          </a:p>
        </p:txBody>
      </p:sp>
      <p:sp>
        <p:nvSpPr>
          <p:cNvPr id="17" name="TextBox 16"/>
          <p:cNvSpPr txBox="1"/>
          <p:nvPr/>
        </p:nvSpPr>
        <p:spPr>
          <a:xfrm>
            <a:off x="1920240" y="4343400"/>
            <a:ext cx="2468880" cy="457200"/>
          </a:xfrm>
          <a:prstGeom prst="rect">
            <a:avLst/>
          </a:prstGeom>
          <a:noFill/>
        </p:spPr>
        <p:txBody>
          <a:bodyPr wrap="square" lIns="0" tIns="0" rIns="0" bIns="0" anchor="t">
            <a:spAutoFit/>
          </a:bodyPr>
          <a:lstStyle/>
          <a:p>
            <a:pPr algn="l">
              <a:spcAft>
                <a:spcPts val="400"/>
              </a:spcAft>
            </a:pPr>
            <a:r>
              <a:rPr sz="1200" b="0" i="0">
                <a:solidFill>
                  <a:srgbClr val="53565A"/>
                </a:solidFill>
                <a:latin typeface="Calibri"/>
              </a:rPr>
              <a:t>Signal vs noise: 11 need a rule</a:t>
            </a:r>
          </a:p>
        </p:txBody>
      </p:sp>
      <p:sp>
        <p:nvSpPr>
          <p:cNvPr id="18" name="Rounded Rectangle 17"/>
          <p:cNvSpPr/>
          <p:nvPr/>
        </p:nvSpPr>
        <p:spPr>
          <a:xfrm>
            <a:off x="548640" y="4983479"/>
            <a:ext cx="3931920" cy="960120"/>
          </a:xfrm>
          <a:prstGeom prst="roundRect">
            <a:avLst>
              <a:gd name="adj" fmla="val 6000"/>
            </a:avLst>
          </a:prstGeom>
          <a:solidFill>
            <a:srgbClr val="F1F8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731520" y="5074919"/>
            <a:ext cx="1188720" cy="777240"/>
          </a:xfrm>
          <a:prstGeom prst="rect">
            <a:avLst/>
          </a:prstGeom>
          <a:noFill/>
        </p:spPr>
        <p:txBody>
          <a:bodyPr wrap="square" lIns="0" tIns="0" rIns="0" bIns="0" anchor="ctr">
            <a:spAutoFit/>
          </a:bodyPr>
          <a:lstStyle/>
          <a:p>
            <a:pPr algn="l">
              <a:spcAft>
                <a:spcPts val="400"/>
              </a:spcAft>
            </a:pPr>
            <a:r>
              <a:rPr sz="3000" b="1" i="0">
                <a:solidFill>
                  <a:srgbClr val="046A38"/>
                </a:solidFill>
                <a:latin typeface="Arial"/>
              </a:rPr>
              <a:t>31</a:t>
            </a:r>
          </a:p>
        </p:txBody>
      </p:sp>
      <p:sp>
        <p:nvSpPr>
          <p:cNvPr id="20" name="TextBox 19"/>
          <p:cNvSpPr txBox="1"/>
          <p:nvPr/>
        </p:nvSpPr>
        <p:spPr>
          <a:xfrm>
            <a:off x="1920240" y="5093207"/>
            <a:ext cx="2468880" cy="320040"/>
          </a:xfrm>
          <a:prstGeom prst="rect">
            <a:avLst/>
          </a:prstGeom>
          <a:noFill/>
        </p:spPr>
        <p:txBody>
          <a:bodyPr wrap="square" lIns="0" tIns="0" rIns="0" bIns="0" anchor="t">
            <a:spAutoFit/>
          </a:bodyPr>
          <a:lstStyle/>
          <a:p>
            <a:pPr algn="l">
              <a:spcAft>
                <a:spcPts val="400"/>
              </a:spcAft>
            </a:pPr>
            <a:r>
              <a:rPr sz="1500" b="1" i="0">
                <a:solidFill>
                  <a:srgbClr val="1A1A1A"/>
                </a:solidFill>
                <a:latin typeface="Arial"/>
              </a:rPr>
              <a:t>Version_Drift</a:t>
            </a:r>
          </a:p>
        </p:txBody>
      </p:sp>
      <p:sp>
        <p:nvSpPr>
          <p:cNvPr id="21" name="TextBox 20"/>
          <p:cNvSpPr txBox="1"/>
          <p:nvPr/>
        </p:nvSpPr>
        <p:spPr>
          <a:xfrm>
            <a:off x="1920240" y="5440679"/>
            <a:ext cx="2468880" cy="457200"/>
          </a:xfrm>
          <a:prstGeom prst="rect">
            <a:avLst/>
          </a:prstGeom>
          <a:noFill/>
        </p:spPr>
        <p:txBody>
          <a:bodyPr wrap="square" lIns="0" tIns="0" rIns="0" bIns="0" anchor="t">
            <a:spAutoFit/>
          </a:bodyPr>
          <a:lstStyle/>
          <a:p>
            <a:pPr algn="l">
              <a:spcAft>
                <a:spcPts val="400"/>
              </a:spcAft>
            </a:pPr>
            <a:r>
              <a:rPr sz="1200" b="0" i="0">
                <a:solidFill>
                  <a:srgbClr val="53565A"/>
                </a:solidFill>
                <a:latin typeface="Calibri"/>
              </a:rPr>
              <a:t>CIS v6.0 → v7.0 maintenance</a:t>
            </a:r>
          </a:p>
        </p:txBody>
      </p:sp>
      <p:graphicFrame>
        <p:nvGraphicFramePr>
          <p:cNvPr id="22" name="Table 21"/>
          <p:cNvGraphicFramePr>
            <a:graphicFrameLocks noGrp="1"/>
          </p:cNvGraphicFramePr>
          <p:nvPr/>
        </p:nvGraphicFramePr>
        <p:xfrm>
          <a:off x="4754880" y="1691640"/>
          <a:ext cx="6858000" cy="1920240"/>
        </p:xfrm>
        <a:graphic>
          <a:graphicData uri="http://schemas.openxmlformats.org/drawingml/2006/table">
            <a:tbl>
              <a:tblPr firstRow="1" bandRow="1">
                <a:tableStyleId>{5940675A-B579-460E-94D1-54222C63F5DA}</a:tableStyleId>
              </a:tblPr>
              <a:tblGrid>
                <a:gridCol w="594360">
                  <a:extLst>
                    <a:ext uri="{9D8B030D-6E8A-4147-A177-3AD203B41FA5}">
                      <a16:colId xmlns:a16="http://schemas.microsoft.com/office/drawing/2014/main" val="20000"/>
                    </a:ext>
                  </a:extLst>
                </a:gridCol>
                <a:gridCol w="502920">
                  <a:extLst>
                    <a:ext uri="{9D8B030D-6E8A-4147-A177-3AD203B41FA5}">
                      <a16:colId xmlns:a16="http://schemas.microsoft.com/office/drawing/2014/main" val="20001"/>
                    </a:ext>
                  </a:extLst>
                </a:gridCol>
                <a:gridCol w="4206240">
                  <a:extLst>
                    <a:ext uri="{9D8B030D-6E8A-4147-A177-3AD203B41FA5}">
                      <a16:colId xmlns:a16="http://schemas.microsoft.com/office/drawing/2014/main" val="20002"/>
                    </a:ext>
                  </a:extLst>
                </a:gridCol>
                <a:gridCol w="777240">
                  <a:extLst>
                    <a:ext uri="{9D8B030D-6E8A-4147-A177-3AD203B41FA5}">
                      <a16:colId xmlns:a16="http://schemas.microsoft.com/office/drawing/2014/main" val="20003"/>
                    </a:ext>
                  </a:extLst>
                </a:gridCol>
                <a:gridCol w="777240">
                  <a:extLst>
                    <a:ext uri="{9D8B030D-6E8A-4147-A177-3AD203B41FA5}">
                      <a16:colId xmlns:a16="http://schemas.microsoft.com/office/drawing/2014/main" val="20004"/>
                    </a:ext>
                  </a:extLst>
                </a:gridCol>
              </a:tblGrid>
              <a:tr h="384048">
                <a:tc>
                  <a:txBody>
                    <a:bodyPr/>
                    <a:lstStyle/>
                    <a:p>
                      <a:r>
                        <a:rPr sz="1100" b="1">
                          <a:solidFill>
                            <a:srgbClr val="FFFFFF"/>
                          </a:solidFill>
                          <a:latin typeface="Calibri"/>
                        </a:rPr>
                        <a:t>ID</a:t>
                      </a:r>
                    </a:p>
                  </a:txBody>
                  <a:tcPr marL="73152" marR="73152" marT="36576" marB="36576" anchor="ctr">
                    <a:solidFill>
                      <a:srgbClr val="0D0D0D"/>
                    </a:solidFill>
                  </a:tcPr>
                </a:tc>
                <a:tc>
                  <a:txBody>
                    <a:bodyPr/>
                    <a:lstStyle/>
                    <a:p>
                      <a:r>
                        <a:rPr sz="1100" b="1">
                          <a:solidFill>
                            <a:srgbClr val="FFFFFF"/>
                          </a:solidFill>
                          <a:latin typeface="Calibri"/>
                        </a:rPr>
                        <a:t>CIS</a:t>
                      </a:r>
                    </a:p>
                  </a:txBody>
                  <a:tcPr marL="73152" marR="73152" marT="36576" marB="36576" anchor="ctr">
                    <a:solidFill>
                      <a:srgbClr val="0D0D0D"/>
                    </a:solidFill>
                  </a:tcPr>
                </a:tc>
                <a:tc>
                  <a:txBody>
                    <a:bodyPr/>
                    <a:lstStyle/>
                    <a:p>
                      <a:r>
                        <a:rPr sz="1100" b="1">
                          <a:solidFill>
                            <a:srgbClr val="FFFFFF"/>
                          </a:solidFill>
                          <a:latin typeface="Calibri"/>
                        </a:rPr>
                        <a:t>Expected check</a:t>
                      </a:r>
                    </a:p>
                  </a:txBody>
                  <a:tcPr marL="73152" marR="73152" marT="36576" marB="36576" anchor="ctr">
                    <a:solidFill>
                      <a:srgbClr val="0D0D0D"/>
                    </a:solidFill>
                  </a:tcPr>
                </a:tc>
                <a:tc>
                  <a:txBody>
                    <a:bodyPr/>
                    <a:lstStyle/>
                    <a:p>
                      <a:r>
                        <a:rPr sz="1100" b="1">
                          <a:solidFill>
                            <a:srgbClr val="FFFFFF"/>
                          </a:solidFill>
                          <a:latin typeface="Calibri"/>
                        </a:rPr>
                        <a:t>Severity</a:t>
                      </a:r>
                    </a:p>
                  </a:txBody>
                  <a:tcPr marL="73152" marR="73152" marT="36576" marB="36576" anchor="ctr">
                    <a:solidFill>
                      <a:srgbClr val="0D0D0D"/>
                    </a:solidFill>
                  </a:tcPr>
                </a:tc>
                <a:tc>
                  <a:txBody>
                    <a:bodyPr/>
                    <a:lstStyle/>
                    <a:p>
                      <a:r>
                        <a:rPr sz="1100" b="1">
                          <a:solidFill>
                            <a:srgbClr val="FFFFFF"/>
                          </a:solidFill>
                          <a:latin typeface="Calibri"/>
                        </a:rPr>
                        <a:t>Tier</a:t>
                      </a:r>
                    </a:p>
                  </a:txBody>
                  <a:tcPr marL="73152" marR="73152" marT="36576" marB="36576" anchor="ctr">
                    <a:solidFill>
                      <a:srgbClr val="0D0D0D"/>
                    </a:solidFill>
                  </a:tcPr>
                </a:tc>
                <a:extLst>
                  <a:ext uri="{0D108BD9-81ED-4DB2-BD59-A6C34878D82A}">
                    <a16:rowId xmlns:a16="http://schemas.microsoft.com/office/drawing/2014/main" val="10000"/>
                  </a:ext>
                </a:extLst>
              </a:tr>
              <a:tr h="384048">
                <a:tc>
                  <a:txBody>
                    <a:bodyPr/>
                    <a:lstStyle/>
                    <a:p>
                      <a:r>
                        <a:rPr sz="1100">
                          <a:solidFill>
                            <a:srgbClr val="1A1A1A"/>
                          </a:solidFill>
                          <a:latin typeface="Calibri"/>
                        </a:rPr>
                        <a:t>P-007</a:t>
                      </a:r>
                    </a:p>
                  </a:txBody>
                  <a:tcPr marL="73152" marR="73152" marT="36576" marB="36576" anchor="ctr">
                    <a:solidFill>
                      <a:srgbClr val="FFFFFF"/>
                    </a:solidFill>
                  </a:tcPr>
                </a:tc>
                <a:tc>
                  <a:txBody>
                    <a:bodyPr/>
                    <a:lstStyle/>
                    <a:p>
                      <a:r>
                        <a:rPr sz="1100">
                          <a:solidFill>
                            <a:srgbClr val="1A1A1A"/>
                          </a:solidFill>
                          <a:latin typeface="Calibri"/>
                        </a:rPr>
                        <a:t>2.5</a:t>
                      </a:r>
                    </a:p>
                  </a:txBody>
                  <a:tcPr marL="73152" marR="73152" marT="36576" marB="36576" anchor="ctr">
                    <a:solidFill>
                      <a:srgbClr val="FFFFFF"/>
                    </a:solidFill>
                  </a:tcPr>
                </a:tc>
                <a:tc>
                  <a:txBody>
                    <a:bodyPr/>
                    <a:lstStyle/>
                    <a:p>
                      <a:r>
                        <a:rPr sz="1100">
                          <a:solidFill>
                            <a:srgbClr val="1A1A1A"/>
                          </a:solidFill>
                          <a:latin typeface="Calibri"/>
                        </a:rPr>
                        <a:t>iam_root_mfa_enabled</a:t>
                      </a:r>
                    </a:p>
                  </a:txBody>
                  <a:tcPr marL="73152" marR="73152" marT="36576" marB="36576" anchor="ctr">
                    <a:solidFill>
                      <a:srgbClr val="FFFFFF"/>
                    </a:solidFill>
                  </a:tcPr>
                </a:tc>
                <a:tc>
                  <a:txBody>
                    <a:bodyPr/>
                    <a:lstStyle/>
                    <a:p>
                      <a:r>
                        <a:rPr sz="1100">
                          <a:solidFill>
                            <a:srgbClr val="1A1A1A"/>
                          </a:solidFill>
                          <a:latin typeface="Calibri"/>
                        </a:rPr>
                        <a:t>critical</a:t>
                      </a:r>
                    </a:p>
                  </a:txBody>
                  <a:tcPr marL="73152" marR="73152" marT="36576" marB="36576" anchor="ctr">
                    <a:solidFill>
                      <a:srgbClr val="FFFFFF"/>
                    </a:solidFill>
                  </a:tcPr>
                </a:tc>
                <a:tc>
                  <a:txBody>
                    <a:bodyPr/>
                    <a:lstStyle/>
                    <a:p>
                      <a:r>
                        <a:rPr sz="1100">
                          <a:solidFill>
                            <a:srgbClr val="1A1A1A"/>
                          </a:solidFill>
                          <a:latin typeface="Calibri"/>
                        </a:rPr>
                        <a:t>T3</a:t>
                      </a:r>
                    </a:p>
                  </a:txBody>
                  <a:tcPr marL="73152" marR="73152" marT="36576" marB="36576" anchor="ctr">
                    <a:solidFill>
                      <a:srgbClr val="FFFFFF"/>
                    </a:solidFill>
                  </a:tcPr>
                </a:tc>
                <a:extLst>
                  <a:ext uri="{0D108BD9-81ED-4DB2-BD59-A6C34878D82A}">
                    <a16:rowId xmlns:a16="http://schemas.microsoft.com/office/drawing/2014/main" val="10001"/>
                  </a:ext>
                </a:extLst>
              </a:tr>
              <a:tr h="384048">
                <a:tc>
                  <a:txBody>
                    <a:bodyPr/>
                    <a:lstStyle/>
                    <a:p>
                      <a:r>
                        <a:rPr sz="1100">
                          <a:solidFill>
                            <a:srgbClr val="1A1A1A"/>
                          </a:solidFill>
                          <a:latin typeface="Calibri"/>
                        </a:rPr>
                        <a:t>P-036</a:t>
                      </a:r>
                    </a:p>
                  </a:txBody>
                  <a:tcPr marL="73152" marR="73152" marT="36576" marB="36576" anchor="ctr">
                    <a:solidFill>
                      <a:srgbClr val="F4F5F2"/>
                    </a:solidFill>
                  </a:tcPr>
                </a:tc>
                <a:tc>
                  <a:txBody>
                    <a:bodyPr/>
                    <a:lstStyle/>
                    <a:p>
                      <a:r>
                        <a:rPr sz="1100">
                          <a:solidFill>
                            <a:srgbClr val="1A1A1A"/>
                          </a:solidFill>
                          <a:latin typeface="Calibri"/>
                        </a:rPr>
                        <a:t>3.1.4</a:t>
                      </a:r>
                    </a:p>
                  </a:txBody>
                  <a:tcPr marL="73152" marR="73152" marT="36576" marB="36576" anchor="ctr">
                    <a:solidFill>
                      <a:srgbClr val="F4F5F2"/>
                    </a:solidFill>
                  </a:tcPr>
                </a:tc>
                <a:tc>
                  <a:txBody>
                    <a:bodyPr/>
                    <a:lstStyle/>
                    <a:p>
                      <a:r>
                        <a:rPr sz="1100">
                          <a:solidFill>
                            <a:srgbClr val="1A1A1A"/>
                          </a:solidFill>
                          <a:latin typeface="Calibri"/>
                        </a:rPr>
                        <a:t>s3_bucket_level_public_access_block</a:t>
                      </a:r>
                    </a:p>
                  </a:txBody>
                  <a:tcPr marL="73152" marR="73152" marT="36576" marB="36576" anchor="ctr">
                    <a:solidFill>
                      <a:srgbClr val="F4F5F2"/>
                    </a:solidFill>
                  </a:tcPr>
                </a:tc>
                <a:tc>
                  <a:txBody>
                    <a:bodyPr/>
                    <a:lstStyle/>
                    <a:p>
                      <a:r>
                        <a:rPr sz="1100">
                          <a:solidFill>
                            <a:srgbClr val="1A1A1A"/>
                          </a:solidFill>
                          <a:latin typeface="Calibri"/>
                        </a:rPr>
                        <a:t>high</a:t>
                      </a:r>
                    </a:p>
                  </a:txBody>
                  <a:tcPr marL="73152" marR="73152" marT="36576" marB="36576" anchor="ctr">
                    <a:solidFill>
                      <a:srgbClr val="F4F5F2"/>
                    </a:solidFill>
                  </a:tcPr>
                </a:tc>
                <a:tc>
                  <a:txBody>
                    <a:bodyPr/>
                    <a:lstStyle/>
                    <a:p>
                      <a:r>
                        <a:rPr sz="1100">
                          <a:solidFill>
                            <a:srgbClr val="1A1A1A"/>
                          </a:solidFill>
                          <a:latin typeface="Calibri"/>
                        </a:rPr>
                        <a:t>T2</a:t>
                      </a:r>
                    </a:p>
                  </a:txBody>
                  <a:tcPr marL="73152" marR="73152" marT="36576" marB="36576" anchor="ctr">
                    <a:solidFill>
                      <a:srgbClr val="F4F5F2"/>
                    </a:solidFill>
                  </a:tcPr>
                </a:tc>
                <a:extLst>
                  <a:ext uri="{0D108BD9-81ED-4DB2-BD59-A6C34878D82A}">
                    <a16:rowId xmlns:a16="http://schemas.microsoft.com/office/drawing/2014/main" val="10002"/>
                  </a:ext>
                </a:extLst>
              </a:tr>
              <a:tr h="384048">
                <a:tc>
                  <a:txBody>
                    <a:bodyPr/>
                    <a:lstStyle/>
                    <a:p>
                      <a:r>
                        <a:rPr sz="1100">
                          <a:solidFill>
                            <a:srgbClr val="1A1A1A"/>
                          </a:solidFill>
                          <a:latin typeface="Calibri"/>
                        </a:rPr>
                        <a:t>P-076</a:t>
                      </a:r>
                    </a:p>
                  </a:txBody>
                  <a:tcPr marL="73152" marR="73152" marT="36576" marB="36576" anchor="ctr">
                    <a:solidFill>
                      <a:srgbClr val="FFFFFF"/>
                    </a:solidFill>
                  </a:tcPr>
                </a:tc>
                <a:tc>
                  <a:txBody>
                    <a:bodyPr/>
                    <a:lstStyle/>
                    <a:p>
                      <a:r>
                        <a:rPr sz="1100">
                          <a:solidFill>
                            <a:srgbClr val="1A1A1A"/>
                          </a:solidFill>
                          <a:latin typeface="Calibri"/>
                        </a:rPr>
                        <a:t>6.2</a:t>
                      </a:r>
                    </a:p>
                  </a:txBody>
                  <a:tcPr marL="73152" marR="73152" marT="36576" marB="36576" anchor="ctr">
                    <a:solidFill>
                      <a:srgbClr val="FFFFFF"/>
                    </a:solidFill>
                  </a:tcPr>
                </a:tc>
                <a:tc>
                  <a:txBody>
                    <a:bodyPr/>
                    <a:lstStyle/>
                    <a:p>
                      <a:r>
                        <a:rPr sz="1100">
                          <a:solidFill>
                            <a:srgbClr val="1A1A1A"/>
                          </a:solidFill>
                          <a:latin typeface="Calibri"/>
                        </a:rPr>
                        <a:t>ec2_networkacl_allow_ingress_tcp_port_22</a:t>
                      </a:r>
                    </a:p>
                  </a:txBody>
                  <a:tcPr marL="73152" marR="73152" marT="36576" marB="36576" anchor="ctr">
                    <a:solidFill>
                      <a:srgbClr val="FFFFFF"/>
                    </a:solidFill>
                  </a:tcPr>
                </a:tc>
                <a:tc>
                  <a:txBody>
                    <a:bodyPr/>
                    <a:lstStyle/>
                    <a:p>
                      <a:r>
                        <a:rPr sz="1100">
                          <a:solidFill>
                            <a:srgbClr val="1A1A1A"/>
                          </a:solidFill>
                          <a:latin typeface="Calibri"/>
                        </a:rPr>
                        <a:t>medium</a:t>
                      </a:r>
                    </a:p>
                  </a:txBody>
                  <a:tcPr marL="73152" marR="73152" marT="36576" marB="36576" anchor="ctr">
                    <a:solidFill>
                      <a:srgbClr val="FFFFFF"/>
                    </a:solidFill>
                  </a:tcPr>
                </a:tc>
                <a:tc>
                  <a:txBody>
                    <a:bodyPr/>
                    <a:lstStyle/>
                    <a:p>
                      <a:r>
                        <a:rPr sz="1100">
                          <a:solidFill>
                            <a:srgbClr val="1A1A1A"/>
                          </a:solidFill>
                          <a:latin typeface="Calibri"/>
                        </a:rPr>
                        <a:t>T2</a:t>
                      </a:r>
                    </a:p>
                  </a:txBody>
                  <a:tcPr marL="73152" marR="73152" marT="36576" marB="36576" anchor="ctr">
                    <a:solidFill>
                      <a:srgbClr val="FFFFFF"/>
                    </a:solidFill>
                  </a:tcPr>
                </a:tc>
                <a:extLst>
                  <a:ext uri="{0D108BD9-81ED-4DB2-BD59-A6C34878D82A}">
                    <a16:rowId xmlns:a16="http://schemas.microsoft.com/office/drawing/2014/main" val="10003"/>
                  </a:ext>
                </a:extLst>
              </a:tr>
              <a:tr h="384048">
                <a:tc>
                  <a:txBody>
                    <a:bodyPr/>
                    <a:lstStyle/>
                    <a:p>
                      <a:r>
                        <a:rPr sz="1100">
                          <a:solidFill>
                            <a:srgbClr val="1A1A1A"/>
                          </a:solidFill>
                          <a:latin typeface="Calibri"/>
                        </a:rPr>
                        <a:t>P-079</a:t>
                      </a:r>
                    </a:p>
                  </a:txBody>
                  <a:tcPr marL="73152" marR="73152" marT="36576" marB="36576" anchor="ctr">
                    <a:solidFill>
                      <a:srgbClr val="F4F5F2"/>
                    </a:solidFill>
                  </a:tcPr>
                </a:tc>
                <a:tc>
                  <a:txBody>
                    <a:bodyPr/>
                    <a:lstStyle/>
                    <a:p>
                      <a:r>
                        <a:rPr sz="1100">
                          <a:solidFill>
                            <a:srgbClr val="1A1A1A"/>
                          </a:solidFill>
                          <a:latin typeface="Calibri"/>
                        </a:rPr>
                        <a:t>6.3</a:t>
                      </a:r>
                    </a:p>
                  </a:txBody>
                  <a:tcPr marL="73152" marR="73152" marT="36576" marB="36576" anchor="ctr">
                    <a:solidFill>
                      <a:srgbClr val="F4F5F2"/>
                    </a:solidFill>
                  </a:tcPr>
                </a:tc>
                <a:tc>
                  <a:txBody>
                    <a:bodyPr/>
                    <a:lstStyle/>
                    <a:p>
                      <a:r>
                        <a:rPr sz="1100">
                          <a:solidFill>
                            <a:srgbClr val="1A1A1A"/>
                          </a:solidFill>
                          <a:latin typeface="Calibri"/>
                        </a:rPr>
                        <a:t>ec2_securitygroup_allow_ingress_from_internet_to_tcp_port_22</a:t>
                      </a:r>
                    </a:p>
                  </a:txBody>
                  <a:tcPr marL="73152" marR="73152" marT="36576" marB="36576" anchor="ctr">
                    <a:solidFill>
                      <a:srgbClr val="F4F5F2"/>
                    </a:solidFill>
                  </a:tcPr>
                </a:tc>
                <a:tc>
                  <a:txBody>
                    <a:bodyPr/>
                    <a:lstStyle/>
                    <a:p>
                      <a:r>
                        <a:rPr sz="1100">
                          <a:solidFill>
                            <a:srgbClr val="1A1A1A"/>
                          </a:solidFill>
                          <a:latin typeface="Calibri"/>
                        </a:rPr>
                        <a:t>high</a:t>
                      </a:r>
                    </a:p>
                  </a:txBody>
                  <a:tcPr marL="73152" marR="73152" marT="36576" marB="36576" anchor="ctr">
                    <a:solidFill>
                      <a:srgbClr val="F4F5F2"/>
                    </a:solidFill>
                  </a:tcPr>
                </a:tc>
                <a:tc>
                  <a:txBody>
                    <a:bodyPr/>
                    <a:lstStyle/>
                    <a:p>
                      <a:r>
                        <a:rPr sz="1100">
                          <a:solidFill>
                            <a:srgbClr val="1A1A1A"/>
                          </a:solidFill>
                          <a:latin typeface="Calibri"/>
                        </a:rPr>
                        <a:t>T3</a:t>
                      </a:r>
                    </a:p>
                  </a:txBody>
                  <a:tcPr marL="73152" marR="73152" marT="36576" marB="36576" anchor="ctr">
                    <a:solidFill>
                      <a:srgbClr val="F4F5F2"/>
                    </a:solidFill>
                  </a:tcPr>
                </a:tc>
                <a:extLst>
                  <a:ext uri="{0D108BD9-81ED-4DB2-BD59-A6C34878D82A}">
                    <a16:rowId xmlns:a16="http://schemas.microsoft.com/office/drawing/2014/main" val="10004"/>
                  </a:ext>
                </a:extLst>
              </a:tr>
            </a:tbl>
          </a:graphicData>
        </a:graphic>
      </p:graphicFrame>
      <p:sp>
        <p:nvSpPr>
          <p:cNvPr id="23" name="Rounded Rectangle 22"/>
          <p:cNvSpPr/>
          <p:nvPr/>
        </p:nvSpPr>
        <p:spPr>
          <a:xfrm>
            <a:off x="4754880" y="3794760"/>
            <a:ext cx="6858000" cy="2423160"/>
          </a:xfrm>
          <a:prstGeom prst="roundRect">
            <a:avLst>
              <a:gd name="adj" fmla="val 6000"/>
            </a:avLst>
          </a:prstGeom>
          <a:solidFill>
            <a:srgbClr val="F4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TextBox 23"/>
          <p:cNvSpPr txBox="1"/>
          <p:nvPr/>
        </p:nvSpPr>
        <p:spPr>
          <a:xfrm>
            <a:off x="4983480" y="3886200"/>
            <a:ext cx="6492240" cy="365760"/>
          </a:xfrm>
          <a:prstGeom prst="rect">
            <a:avLst/>
          </a:prstGeom>
          <a:noFill/>
        </p:spPr>
        <p:txBody>
          <a:bodyPr wrap="square" lIns="0" tIns="0" rIns="0" bIns="0" anchor="t">
            <a:spAutoFit/>
          </a:bodyPr>
          <a:lstStyle/>
          <a:p>
            <a:pPr algn="l">
              <a:spcAft>
                <a:spcPts val="400"/>
              </a:spcAft>
            </a:pPr>
            <a:r>
              <a:rPr sz="1600" b="1" i="0">
                <a:solidFill>
                  <a:srgbClr val="1A1A1A"/>
                </a:solidFill>
                <a:latin typeface="Arial"/>
              </a:rPr>
              <a:t>Used three ways</a:t>
            </a:r>
          </a:p>
        </p:txBody>
      </p:sp>
      <p:sp>
        <p:nvSpPr>
          <p:cNvPr id="25" name="TextBox 24"/>
          <p:cNvSpPr txBox="1"/>
          <p:nvPr/>
        </p:nvSpPr>
        <p:spPr>
          <a:xfrm>
            <a:off x="4983480" y="4279392"/>
            <a:ext cx="6400800" cy="1874519"/>
          </a:xfrm>
          <a:prstGeom prst="rect">
            <a:avLst/>
          </a:prstGeom>
          <a:noFill/>
        </p:spPr>
        <p:txBody>
          <a:bodyPr wrap="square" lIns="0" tIns="0" rIns="0" bIns="0">
            <a:spAutoFit/>
          </a:bodyPr>
          <a:lstStyle/>
          <a:p>
            <a:pPr marL="201168" indent="-201168">
              <a:spcAft>
                <a:spcPts val="600"/>
              </a:spcAft>
              <a:buChar char="•"/>
            </a:pPr>
            <a:r>
              <a:rPr sz="1400" b="1">
                <a:solidFill>
                  <a:srgbClr val="1A1A1A"/>
                </a:solidFill>
                <a:latin typeface="Calibri"/>
              </a:rPr>
              <a:t>Before launch: </a:t>
            </a:r>
            <a:r>
              <a:rPr sz="1400" b="0">
                <a:solidFill>
                  <a:srgbClr val="1A1A1A"/>
                </a:solidFill>
                <a:latin typeface="Calibri"/>
              </a:rPr>
              <a:t>backtest. Hide the reference rules and regenerate them.</a:t>
            </a:r>
          </a:p>
          <a:p>
            <a:pPr marL="201168" indent="-201168">
              <a:spcAft>
                <a:spcPts val="600"/>
              </a:spcAft>
              <a:buChar char="•"/>
            </a:pPr>
            <a:r>
              <a:rPr sz="1400" b="1">
                <a:solidFill>
                  <a:srgbClr val="1A1A1A"/>
                </a:solidFill>
                <a:latin typeface="Calibri"/>
              </a:rPr>
              <a:t>In CI: </a:t>
            </a:r>
            <a:r>
              <a:rPr sz="1400" b="0">
                <a:solidFill>
                  <a:srgbClr val="1A1A1A"/>
                </a:solidFill>
                <a:latin typeface="Calibri"/>
              </a:rPr>
              <a:t>regression gate on every model or prompt change.</a:t>
            </a:r>
          </a:p>
          <a:p>
            <a:pPr marL="201168" indent="-201168">
              <a:spcAft>
                <a:spcPts val="600"/>
              </a:spcAft>
              <a:buChar char="•"/>
            </a:pPr>
            <a:r>
              <a:rPr sz="1400" b="1">
                <a:solidFill>
                  <a:srgbClr val="1A1A1A"/>
                </a:solidFill>
                <a:latin typeface="Calibri"/>
              </a:rPr>
              <a:t>Go/no-go: </a:t>
            </a:r>
            <a:r>
              <a:rPr sz="1400" b="0">
                <a:solidFill>
                  <a:srgbClr val="1A1A1A"/>
                </a:solidFill>
                <a:latin typeface="Calibri"/>
              </a:rPr>
              <a:t>the Eval_Scorecard sheet computes rule, severity and citation accuracy, plus triage precision and recall. 26 of 86 rows are tier T3.</a:t>
            </a:r>
          </a:p>
          <a:p>
            <a:pPr marL="201168" indent="-201168">
              <a:spcAft>
                <a:spcPts val="600"/>
              </a:spcAft>
              <a:buChar char="•"/>
            </a:pPr>
            <a:r>
              <a:rPr sz="1400" b="1">
                <a:solidFill>
                  <a:srgbClr val="1A1A1A"/>
                </a:solidFill>
                <a:latin typeface="Calibri"/>
              </a:rPr>
              <a:t>Known limits: </a:t>
            </a:r>
            <a:r>
              <a:rPr sz="1400" b="0">
                <a:solidFill>
                  <a:srgbClr val="1A1A1A"/>
                </a:solidFill>
                <a:latin typeface="Calibri"/>
              </a:rPr>
              <a:t>ground truth is Prowler's reading of CIS (3.1.4 checks 2 of 4 BPA settings); triage labels are draft until SME review.</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ection"/>
          <p:cNvSpPr txBox="1"/>
          <p:nvPr/>
        </p:nvSpPr>
        <p:spPr>
          <a:xfrm>
            <a:off x="548640" y="292608"/>
            <a:ext cx="8229600" cy="274320"/>
          </a:xfrm>
          <a:prstGeom prst="rect">
            <a:avLst/>
          </a:prstGeom>
          <a:noFill/>
        </p:spPr>
        <p:txBody>
          <a:bodyPr wrap="square" lIns="0" tIns="0" rIns="0" bIns="0" anchor="t">
            <a:spAutoFit/>
          </a:bodyPr>
          <a:lstStyle/>
          <a:p>
            <a:pPr algn="l">
              <a:spcAft>
                <a:spcPts val="400"/>
              </a:spcAft>
            </a:pPr>
            <a:r>
              <a:rPr sz="1100" b="1" i="0">
                <a:solidFill>
                  <a:srgbClr val="046A38"/>
                </a:solidFill>
                <a:latin typeface="Arial"/>
              </a:rPr>
              <a:t>8 · RISKS</a:t>
            </a:r>
          </a:p>
        </p:txBody>
      </p:sp>
      <p:sp>
        <p:nvSpPr>
          <p:cNvPr id="3" name="Title"/>
          <p:cNvSpPr txBox="1"/>
          <p:nvPr/>
        </p:nvSpPr>
        <p:spPr>
          <a:xfrm>
            <a:off x="548640" y="548640"/>
            <a:ext cx="11064240" cy="868680"/>
          </a:xfrm>
          <a:prstGeom prst="rect">
            <a:avLst/>
          </a:prstGeom>
          <a:noFill/>
        </p:spPr>
        <p:txBody>
          <a:bodyPr wrap="square" lIns="0" tIns="0" rIns="0" bIns="0" anchor="t">
            <a:spAutoFit/>
          </a:bodyPr>
          <a:lstStyle/>
          <a:p>
            <a:pPr algn="l">
              <a:spcAft>
                <a:spcPts val="400"/>
              </a:spcAft>
            </a:pPr>
            <a:r>
              <a:rPr sz="2800" b="1" i="0">
                <a:solidFill>
                  <a:srgbClr val="1A1A1A"/>
                </a:solidFill>
                <a:latin typeface="Arial"/>
              </a:rPr>
              <a:t>The main risks have specific, testable mitigations</a:t>
            </a:r>
          </a:p>
        </p:txBody>
      </p:sp>
      <p:sp>
        <p:nvSpPr>
          <p:cNvPr id="5" name="SlideNo"/>
          <p:cNvSpPr txBox="1"/>
          <p:nvPr/>
        </p:nvSpPr>
        <p:spPr>
          <a:xfrm>
            <a:off x="11064240" y="6355080"/>
            <a:ext cx="576072" cy="320040"/>
          </a:xfrm>
          <a:prstGeom prst="rect">
            <a:avLst/>
          </a:prstGeom>
          <a:noFill/>
        </p:spPr>
        <p:txBody>
          <a:bodyPr wrap="square" lIns="0" tIns="0" rIns="0" bIns="0" anchor="t">
            <a:spAutoFit/>
          </a:bodyPr>
          <a:lstStyle/>
          <a:p>
            <a:pPr algn="r">
              <a:spcAft>
                <a:spcPts val="400"/>
              </a:spcAft>
            </a:pPr>
            <a:r>
              <a:rPr sz="1000" b="0" i="0">
                <a:solidFill>
                  <a:srgbClr val="53565A"/>
                </a:solidFill>
                <a:latin typeface="Calibri"/>
              </a:rPr>
              <a:t>21</a:t>
            </a:r>
          </a:p>
        </p:txBody>
      </p:sp>
      <p:graphicFrame>
        <p:nvGraphicFramePr>
          <p:cNvPr id="6" name="Table 5"/>
          <p:cNvGraphicFramePr>
            <a:graphicFrameLocks noGrp="1"/>
          </p:cNvGraphicFramePr>
          <p:nvPr/>
        </p:nvGraphicFramePr>
        <p:xfrm>
          <a:off x="548640" y="1691640"/>
          <a:ext cx="11064240" cy="4279392"/>
        </p:xfrm>
        <a:graphic>
          <a:graphicData uri="http://schemas.openxmlformats.org/drawingml/2006/table">
            <a:tbl>
              <a:tblPr firstRow="1" bandRow="1">
                <a:tableStyleId>{5940675A-B579-460E-94D1-54222C63F5DA}</a:tableStyleId>
              </a:tblPr>
              <a:tblGrid>
                <a:gridCol w="2468880">
                  <a:extLst>
                    <a:ext uri="{9D8B030D-6E8A-4147-A177-3AD203B41FA5}">
                      <a16:colId xmlns:a16="http://schemas.microsoft.com/office/drawing/2014/main" val="20000"/>
                    </a:ext>
                  </a:extLst>
                </a:gridCol>
                <a:gridCol w="2194560">
                  <a:extLst>
                    <a:ext uri="{9D8B030D-6E8A-4147-A177-3AD203B41FA5}">
                      <a16:colId xmlns:a16="http://schemas.microsoft.com/office/drawing/2014/main" val="20001"/>
                    </a:ext>
                  </a:extLst>
                </a:gridCol>
                <a:gridCol w="3657600">
                  <a:extLst>
                    <a:ext uri="{9D8B030D-6E8A-4147-A177-3AD203B41FA5}">
                      <a16:colId xmlns:a16="http://schemas.microsoft.com/office/drawing/2014/main" val="20002"/>
                    </a:ext>
                  </a:extLst>
                </a:gridCol>
                <a:gridCol w="2743200">
                  <a:extLst>
                    <a:ext uri="{9D8B030D-6E8A-4147-A177-3AD203B41FA5}">
                      <a16:colId xmlns:a16="http://schemas.microsoft.com/office/drawing/2014/main" val="20003"/>
                    </a:ext>
                  </a:extLst>
                </a:gridCol>
              </a:tblGrid>
              <a:tr h="475488">
                <a:tc>
                  <a:txBody>
                    <a:bodyPr/>
                    <a:lstStyle/>
                    <a:p>
                      <a:r>
                        <a:rPr sz="1200" b="1">
                          <a:solidFill>
                            <a:srgbClr val="FFFFFF"/>
                          </a:solidFill>
                          <a:latin typeface="Calibri"/>
                        </a:rPr>
                        <a:t>Risk</a:t>
                      </a:r>
                    </a:p>
                  </a:txBody>
                  <a:tcPr marL="73152" marR="73152" marT="36576" marB="36576" anchor="ctr">
                    <a:solidFill>
                      <a:srgbClr val="0D0D0D"/>
                    </a:solidFill>
                  </a:tcPr>
                </a:tc>
                <a:tc>
                  <a:txBody>
                    <a:bodyPr/>
                    <a:lstStyle/>
                    <a:p>
                      <a:r>
                        <a:rPr sz="1200" b="1">
                          <a:solidFill>
                            <a:srgbClr val="FFFFFF"/>
                          </a:solidFill>
                          <a:latin typeface="Calibri"/>
                        </a:rPr>
                        <a:t>Impact</a:t>
                      </a:r>
                    </a:p>
                  </a:txBody>
                  <a:tcPr marL="73152" marR="73152" marT="36576" marB="36576" anchor="ctr">
                    <a:solidFill>
                      <a:srgbClr val="0D0D0D"/>
                    </a:solidFill>
                  </a:tcPr>
                </a:tc>
                <a:tc>
                  <a:txBody>
                    <a:bodyPr/>
                    <a:lstStyle/>
                    <a:p>
                      <a:r>
                        <a:rPr sz="1200" b="1">
                          <a:solidFill>
                            <a:srgbClr val="FFFFFF"/>
                          </a:solidFill>
                          <a:latin typeface="Calibri"/>
                        </a:rPr>
                        <a:t>Mitigation</a:t>
                      </a:r>
                    </a:p>
                  </a:txBody>
                  <a:tcPr marL="73152" marR="73152" marT="36576" marB="36576" anchor="ctr">
                    <a:solidFill>
                      <a:srgbClr val="0D0D0D"/>
                    </a:solidFill>
                  </a:tcPr>
                </a:tc>
                <a:tc>
                  <a:txBody>
                    <a:bodyPr/>
                    <a:lstStyle/>
                    <a:p>
                      <a:r>
                        <a:rPr sz="1200" b="1">
                          <a:solidFill>
                            <a:srgbClr val="FFFFFF"/>
                          </a:solidFill>
                          <a:latin typeface="Calibri"/>
                        </a:rPr>
                        <a:t>How we know it works</a:t>
                      </a:r>
                    </a:p>
                  </a:txBody>
                  <a:tcPr marL="73152" marR="73152" marT="36576" marB="36576" anchor="ctr">
                    <a:solidFill>
                      <a:srgbClr val="0D0D0D"/>
                    </a:solidFill>
                  </a:tcPr>
                </a:tc>
                <a:extLst>
                  <a:ext uri="{0D108BD9-81ED-4DB2-BD59-A6C34878D82A}">
                    <a16:rowId xmlns:a16="http://schemas.microsoft.com/office/drawing/2014/main" val="10000"/>
                  </a:ext>
                </a:extLst>
              </a:tr>
              <a:tr h="475488">
                <a:tc>
                  <a:txBody>
                    <a:bodyPr/>
                    <a:lstStyle/>
                    <a:p>
                      <a:r>
                        <a:rPr sz="1200" b="1">
                          <a:solidFill>
                            <a:srgbClr val="1A1A1A"/>
                          </a:solidFill>
                          <a:latin typeface="Calibri"/>
                        </a:rPr>
                        <a:t>Hallucinated or wrong rule</a:t>
                      </a:r>
                    </a:p>
                  </a:txBody>
                  <a:tcPr marL="73152" marR="73152" marT="36576" marB="36576" anchor="ctr">
                    <a:solidFill>
                      <a:srgbClr val="FFFFFF"/>
                    </a:solidFill>
                  </a:tcPr>
                </a:tc>
                <a:tc>
                  <a:txBody>
                    <a:bodyPr/>
                    <a:lstStyle/>
                    <a:p>
                      <a:r>
                        <a:rPr sz="1200">
                          <a:solidFill>
                            <a:srgbClr val="1A1A1A"/>
                          </a:solidFill>
                          <a:latin typeface="Calibri"/>
                        </a:rPr>
                        <a:t>False positives or misses; trust loss</a:t>
                      </a:r>
                    </a:p>
                  </a:txBody>
                  <a:tcPr marL="73152" marR="73152" marT="36576" marB="36576" anchor="ctr">
                    <a:solidFill>
                      <a:srgbClr val="FFFFFF"/>
                    </a:solidFill>
                  </a:tcPr>
                </a:tc>
                <a:tc>
                  <a:txBody>
                    <a:bodyPr/>
                    <a:lstStyle/>
                    <a:p>
                      <a:r>
                        <a:rPr sz="1200">
                          <a:solidFill>
                            <a:srgbClr val="1A1A1A"/>
                          </a:solidFill>
                          <a:latin typeface="Calibri"/>
                        </a:rPr>
                        <a:t>Citation gate, sandbox tests, critic, shadow mode</a:t>
                      </a:r>
                    </a:p>
                  </a:txBody>
                  <a:tcPr marL="73152" marR="73152" marT="36576" marB="36576" anchor="ctr">
                    <a:solidFill>
                      <a:srgbClr val="FFFFFF"/>
                    </a:solidFill>
                  </a:tcPr>
                </a:tc>
                <a:tc>
                  <a:txBody>
                    <a:bodyPr/>
                    <a:lstStyle/>
                    <a:p>
                      <a:r>
                        <a:rPr sz="1200">
                          <a:solidFill>
                            <a:srgbClr val="1A1A1A"/>
                          </a:solidFill>
                          <a:latin typeface="Calibri"/>
                        </a:rPr>
                        <a:t>Golden-set rule accuracy; FP reports</a:t>
                      </a:r>
                    </a:p>
                  </a:txBody>
                  <a:tcPr marL="73152" marR="73152" marT="36576" marB="36576" anchor="ctr">
                    <a:solidFill>
                      <a:srgbClr val="FFFFFF"/>
                    </a:solidFill>
                  </a:tcPr>
                </a:tc>
                <a:extLst>
                  <a:ext uri="{0D108BD9-81ED-4DB2-BD59-A6C34878D82A}">
                    <a16:rowId xmlns:a16="http://schemas.microsoft.com/office/drawing/2014/main" val="10001"/>
                  </a:ext>
                </a:extLst>
              </a:tr>
              <a:tr h="475488">
                <a:tc>
                  <a:txBody>
                    <a:bodyPr/>
                    <a:lstStyle/>
                    <a:p>
                      <a:r>
                        <a:rPr sz="1200" b="1">
                          <a:solidFill>
                            <a:srgbClr val="1A1A1A"/>
                          </a:solidFill>
                          <a:latin typeface="Calibri"/>
                        </a:rPr>
                        <a:t>Prompt injection via ingested docs</a:t>
                      </a:r>
                    </a:p>
                  </a:txBody>
                  <a:tcPr marL="73152" marR="73152" marT="36576" marB="36576" anchor="ctr">
                    <a:solidFill>
                      <a:srgbClr val="F4F5F2"/>
                    </a:solidFill>
                  </a:tcPr>
                </a:tc>
                <a:tc>
                  <a:txBody>
                    <a:bodyPr/>
                    <a:lstStyle/>
                    <a:p>
                      <a:r>
                        <a:rPr sz="1200">
                          <a:solidFill>
                            <a:srgbClr val="1A1A1A"/>
                          </a:solidFill>
                          <a:latin typeface="Calibri"/>
                        </a:rPr>
                        <a:t>Agent manipulated</a:t>
                      </a:r>
                    </a:p>
                  </a:txBody>
                  <a:tcPr marL="73152" marR="73152" marT="36576" marB="36576" anchor="ctr">
                    <a:solidFill>
                      <a:srgbClr val="F4F5F2"/>
                    </a:solidFill>
                  </a:tcPr>
                </a:tc>
                <a:tc>
                  <a:txBody>
                    <a:bodyPr/>
                    <a:lstStyle/>
                    <a:p>
                      <a:r>
                        <a:rPr sz="1200">
                          <a:solidFill>
                            <a:srgbClr val="1A1A1A"/>
                          </a:solidFill>
                          <a:latin typeface="Calibri"/>
                        </a:rPr>
                        <a:t>Docs as untrusted data; no prod credentials</a:t>
                      </a:r>
                    </a:p>
                  </a:txBody>
                  <a:tcPr marL="73152" marR="73152" marT="36576" marB="36576" anchor="ctr">
                    <a:solidFill>
                      <a:srgbClr val="F4F5F2"/>
                    </a:solidFill>
                  </a:tcPr>
                </a:tc>
                <a:tc>
                  <a:txBody>
                    <a:bodyPr/>
                    <a:lstStyle/>
                    <a:p>
                      <a:r>
                        <a:rPr sz="1200">
                          <a:solidFill>
                            <a:srgbClr val="1A1A1A"/>
                          </a:solidFill>
                          <a:latin typeface="Calibri"/>
                        </a:rPr>
                        <a:t>Red-team suite with poisoned pages</a:t>
                      </a:r>
                    </a:p>
                  </a:txBody>
                  <a:tcPr marL="73152" marR="73152" marT="36576" marB="36576" anchor="ctr">
                    <a:solidFill>
                      <a:srgbClr val="F4F5F2"/>
                    </a:solidFill>
                  </a:tcPr>
                </a:tc>
                <a:extLst>
                  <a:ext uri="{0D108BD9-81ED-4DB2-BD59-A6C34878D82A}">
                    <a16:rowId xmlns:a16="http://schemas.microsoft.com/office/drawing/2014/main" val="10002"/>
                  </a:ext>
                </a:extLst>
              </a:tr>
              <a:tr h="475488">
                <a:tc>
                  <a:txBody>
                    <a:bodyPr/>
                    <a:lstStyle/>
                    <a:p>
                      <a:r>
                        <a:rPr sz="1200" b="1">
                          <a:solidFill>
                            <a:srgbClr val="1A1A1A"/>
                          </a:solidFill>
                          <a:latin typeface="Calibri"/>
                        </a:rPr>
                        <a:t>SMEs rubber-stamp AI drafts</a:t>
                      </a:r>
                    </a:p>
                  </a:txBody>
                  <a:tcPr marL="73152" marR="73152" marT="36576" marB="36576" anchor="ctr">
                    <a:solidFill>
                      <a:srgbClr val="FFFFFF"/>
                    </a:solidFill>
                  </a:tcPr>
                </a:tc>
                <a:tc>
                  <a:txBody>
                    <a:bodyPr/>
                    <a:lstStyle/>
                    <a:p>
                      <a:r>
                        <a:rPr sz="1200">
                          <a:solidFill>
                            <a:srgbClr val="1A1A1A"/>
                          </a:solidFill>
                          <a:latin typeface="Calibri"/>
                        </a:rPr>
                        <a:t>Errors slip through review</a:t>
                      </a:r>
                    </a:p>
                  </a:txBody>
                  <a:tcPr marL="73152" marR="73152" marT="36576" marB="36576" anchor="ctr">
                    <a:solidFill>
                      <a:srgbClr val="FFFFFF"/>
                    </a:solidFill>
                  </a:tcPr>
                </a:tc>
                <a:tc>
                  <a:txBody>
                    <a:bodyPr/>
                    <a:lstStyle/>
                    <a:p>
                      <a:r>
                        <a:rPr sz="1200">
                          <a:solidFill>
                            <a:srgbClr val="1A1A1A"/>
                          </a:solidFill>
                          <a:latin typeface="Calibri"/>
                        </a:rPr>
                        <a:t>Seed known-flawed 'canary' drafts in the queue</a:t>
                      </a:r>
                    </a:p>
                  </a:txBody>
                  <a:tcPr marL="73152" marR="73152" marT="36576" marB="36576" anchor="ctr">
                    <a:solidFill>
                      <a:srgbClr val="FFFFFF"/>
                    </a:solidFill>
                  </a:tcPr>
                </a:tc>
                <a:tc>
                  <a:txBody>
                    <a:bodyPr/>
                    <a:lstStyle/>
                    <a:p>
                      <a:r>
                        <a:rPr sz="1200">
                          <a:solidFill>
                            <a:srgbClr val="1A1A1A"/>
                          </a:solidFill>
                          <a:latin typeface="Calibri"/>
                        </a:rPr>
                        <a:t>Canary catch rate</a:t>
                      </a:r>
                    </a:p>
                  </a:txBody>
                  <a:tcPr marL="73152" marR="73152" marT="36576" marB="36576" anchor="ctr">
                    <a:solidFill>
                      <a:srgbClr val="FFFFFF"/>
                    </a:solidFill>
                  </a:tcPr>
                </a:tc>
                <a:extLst>
                  <a:ext uri="{0D108BD9-81ED-4DB2-BD59-A6C34878D82A}">
                    <a16:rowId xmlns:a16="http://schemas.microsoft.com/office/drawing/2014/main" val="10003"/>
                  </a:ext>
                </a:extLst>
              </a:tr>
              <a:tr h="475488">
                <a:tc>
                  <a:txBody>
                    <a:bodyPr/>
                    <a:lstStyle/>
                    <a:p>
                      <a:r>
                        <a:rPr sz="1200" b="1">
                          <a:solidFill>
                            <a:srgbClr val="1A1A1A"/>
                          </a:solidFill>
                          <a:latin typeface="Calibri"/>
                        </a:rPr>
                        <a:t>SME resistance</a:t>
                      </a:r>
                    </a:p>
                  </a:txBody>
                  <a:tcPr marL="73152" marR="73152" marT="36576" marB="36576" anchor="ctr">
                    <a:solidFill>
                      <a:srgbClr val="F4F5F2"/>
                    </a:solidFill>
                  </a:tcPr>
                </a:tc>
                <a:tc>
                  <a:txBody>
                    <a:bodyPr/>
                    <a:lstStyle/>
                    <a:p>
                      <a:r>
                        <a:rPr sz="1200">
                          <a:solidFill>
                            <a:srgbClr val="1A1A1A"/>
                          </a:solidFill>
                          <a:latin typeface="Calibri"/>
                        </a:rPr>
                        <a:t>Low adoption</a:t>
                      </a:r>
                    </a:p>
                  </a:txBody>
                  <a:tcPr marL="73152" marR="73152" marT="36576" marB="36576" anchor="ctr">
                    <a:solidFill>
                      <a:srgbClr val="F4F5F2"/>
                    </a:solidFill>
                  </a:tcPr>
                </a:tc>
                <a:tc>
                  <a:txBody>
                    <a:bodyPr/>
                    <a:lstStyle/>
                    <a:p>
                      <a:r>
                        <a:rPr sz="1200">
                          <a:solidFill>
                            <a:srgbClr val="1A1A1A"/>
                          </a:solidFill>
                          <a:latin typeface="Calibri"/>
                        </a:rPr>
                        <a:t>SMEs own approvals and credit; time freed for research</a:t>
                      </a:r>
                    </a:p>
                  </a:txBody>
                  <a:tcPr marL="73152" marR="73152" marT="36576" marB="36576" anchor="ctr">
                    <a:solidFill>
                      <a:srgbClr val="F4F5F2"/>
                    </a:solidFill>
                  </a:tcPr>
                </a:tc>
                <a:tc>
                  <a:txBody>
                    <a:bodyPr/>
                    <a:lstStyle/>
                    <a:p>
                      <a:r>
                        <a:rPr sz="1200">
                          <a:solidFill>
                            <a:srgbClr val="1A1A1A"/>
                          </a:solidFill>
                          <a:latin typeface="Calibri"/>
                        </a:rPr>
                        <a:t>Review throughput; SME feedback</a:t>
                      </a:r>
                    </a:p>
                  </a:txBody>
                  <a:tcPr marL="73152" marR="73152" marT="36576" marB="36576" anchor="ctr">
                    <a:solidFill>
                      <a:srgbClr val="F4F5F2"/>
                    </a:solidFill>
                  </a:tcPr>
                </a:tc>
                <a:extLst>
                  <a:ext uri="{0D108BD9-81ED-4DB2-BD59-A6C34878D82A}">
                    <a16:rowId xmlns:a16="http://schemas.microsoft.com/office/drawing/2014/main" val="10004"/>
                  </a:ext>
                </a:extLst>
              </a:tr>
              <a:tr h="475488">
                <a:tc>
                  <a:txBody>
                    <a:bodyPr/>
                    <a:lstStyle/>
                    <a:p>
                      <a:r>
                        <a:rPr sz="1200" b="1">
                          <a:solidFill>
                            <a:srgbClr val="1A1A1A"/>
                          </a:solidFill>
                          <a:latin typeface="Calibri"/>
                        </a:rPr>
                        <a:t>Model or prompt drift</a:t>
                      </a:r>
                    </a:p>
                  </a:txBody>
                  <a:tcPr marL="73152" marR="73152" marT="36576" marB="36576" anchor="ctr">
                    <a:solidFill>
                      <a:srgbClr val="FFFFFF"/>
                    </a:solidFill>
                  </a:tcPr>
                </a:tc>
                <a:tc>
                  <a:txBody>
                    <a:bodyPr/>
                    <a:lstStyle/>
                    <a:p>
                      <a:r>
                        <a:rPr sz="1200">
                          <a:solidFill>
                            <a:srgbClr val="1A1A1A"/>
                          </a:solidFill>
                          <a:latin typeface="Calibri"/>
                        </a:rPr>
                        <a:t>Silent quality drop</a:t>
                      </a:r>
                    </a:p>
                  </a:txBody>
                  <a:tcPr marL="73152" marR="73152" marT="36576" marB="36576" anchor="ctr">
                    <a:solidFill>
                      <a:srgbClr val="FFFFFF"/>
                    </a:solidFill>
                  </a:tcPr>
                </a:tc>
                <a:tc>
                  <a:txBody>
                    <a:bodyPr/>
                    <a:lstStyle/>
                    <a:p>
                      <a:r>
                        <a:rPr sz="1200">
                          <a:solidFill>
                            <a:srgbClr val="1A1A1A"/>
                          </a:solidFill>
                          <a:latin typeface="Calibri"/>
                        </a:rPr>
                        <a:t>Pinned versions; weekly golden-set regression</a:t>
                      </a:r>
                    </a:p>
                  </a:txBody>
                  <a:tcPr marL="73152" marR="73152" marT="36576" marB="36576" anchor="ctr">
                    <a:solidFill>
                      <a:srgbClr val="FFFFFF"/>
                    </a:solidFill>
                  </a:tcPr>
                </a:tc>
                <a:tc>
                  <a:txBody>
                    <a:bodyPr/>
                    <a:lstStyle/>
                    <a:p>
                      <a:r>
                        <a:rPr sz="1200">
                          <a:solidFill>
                            <a:srgbClr val="1A1A1A"/>
                          </a:solidFill>
                          <a:latin typeface="Calibri"/>
                        </a:rPr>
                        <a:t>Regression delta</a:t>
                      </a:r>
                    </a:p>
                  </a:txBody>
                  <a:tcPr marL="73152" marR="73152" marT="36576" marB="36576" anchor="ctr">
                    <a:solidFill>
                      <a:srgbClr val="FFFFFF"/>
                    </a:solidFill>
                  </a:tcPr>
                </a:tc>
                <a:extLst>
                  <a:ext uri="{0D108BD9-81ED-4DB2-BD59-A6C34878D82A}">
                    <a16:rowId xmlns:a16="http://schemas.microsoft.com/office/drawing/2014/main" val="10005"/>
                  </a:ext>
                </a:extLst>
              </a:tr>
              <a:tr h="475488">
                <a:tc>
                  <a:txBody>
                    <a:bodyPr/>
                    <a:lstStyle/>
                    <a:p>
                      <a:r>
                        <a:rPr sz="1200" b="1">
                          <a:solidFill>
                            <a:srgbClr val="1A1A1A"/>
                          </a:solidFill>
                          <a:latin typeface="Calibri"/>
                        </a:rPr>
                        <a:t>Customer data exposure in shadow mode</a:t>
                      </a:r>
                    </a:p>
                  </a:txBody>
                  <a:tcPr marL="73152" marR="73152" marT="36576" marB="36576" anchor="ctr">
                    <a:solidFill>
                      <a:srgbClr val="F4F5F2"/>
                    </a:solidFill>
                  </a:tcPr>
                </a:tc>
                <a:tc>
                  <a:txBody>
                    <a:bodyPr/>
                    <a:lstStyle/>
                    <a:p>
                      <a:r>
                        <a:rPr sz="1200">
                          <a:solidFill>
                            <a:srgbClr val="1A1A1A"/>
                          </a:solidFill>
                          <a:latin typeface="Calibri"/>
                        </a:rPr>
                        <a:t>Privacy breach</a:t>
                      </a:r>
                    </a:p>
                  </a:txBody>
                  <a:tcPr marL="73152" marR="73152" marT="36576" marB="36576" anchor="ctr">
                    <a:solidFill>
                      <a:srgbClr val="F4F5F2"/>
                    </a:solidFill>
                  </a:tcPr>
                </a:tc>
                <a:tc>
                  <a:txBody>
                    <a:bodyPr/>
                    <a:lstStyle/>
                    <a:p>
                      <a:r>
                        <a:rPr sz="1200">
                          <a:solidFill>
                            <a:srgbClr val="1A1A1A"/>
                          </a:solidFill>
                          <a:latin typeface="Calibri"/>
                        </a:rPr>
                        <a:t>Config metadata only, opt-in tenants</a:t>
                      </a:r>
                    </a:p>
                  </a:txBody>
                  <a:tcPr marL="73152" marR="73152" marT="36576" marB="36576" anchor="ctr">
                    <a:solidFill>
                      <a:srgbClr val="F4F5F2"/>
                    </a:solidFill>
                  </a:tcPr>
                </a:tc>
                <a:tc>
                  <a:txBody>
                    <a:bodyPr/>
                    <a:lstStyle/>
                    <a:p>
                      <a:r>
                        <a:rPr sz="1200">
                          <a:solidFill>
                            <a:srgbClr val="1A1A1A"/>
                          </a:solidFill>
                          <a:latin typeface="Calibri"/>
                        </a:rPr>
                        <a:t>Data-access audit</a:t>
                      </a:r>
                    </a:p>
                  </a:txBody>
                  <a:tcPr marL="73152" marR="73152" marT="36576" marB="36576" anchor="ctr">
                    <a:solidFill>
                      <a:srgbClr val="F4F5F2"/>
                    </a:solidFill>
                  </a:tcPr>
                </a:tc>
                <a:extLst>
                  <a:ext uri="{0D108BD9-81ED-4DB2-BD59-A6C34878D82A}">
                    <a16:rowId xmlns:a16="http://schemas.microsoft.com/office/drawing/2014/main" val="10006"/>
                  </a:ext>
                </a:extLst>
              </a:tr>
              <a:tr h="475488">
                <a:tc>
                  <a:txBody>
                    <a:bodyPr/>
                    <a:lstStyle/>
                    <a:p>
                      <a:r>
                        <a:rPr sz="1200" b="1">
                          <a:solidFill>
                            <a:srgbClr val="1A1A1A"/>
                          </a:solidFill>
                          <a:latin typeface="Calibri"/>
                        </a:rPr>
                        <a:t>Triage auto-closes a real change</a:t>
                      </a:r>
                    </a:p>
                  </a:txBody>
                  <a:tcPr marL="73152" marR="73152" marT="36576" marB="36576" anchor="ctr">
                    <a:solidFill>
                      <a:srgbClr val="F4F5F2"/>
                    </a:solidFill>
                  </a:tcPr>
                </a:tc>
                <a:tc>
                  <a:txBody>
                    <a:bodyPr/>
                    <a:lstStyle/>
                    <a:p>
                      <a:r>
                        <a:rPr sz="1200">
                          <a:solidFill>
                            <a:srgbClr val="1A1A1A"/>
                          </a:solidFill>
                          <a:latin typeface="Calibri"/>
                        </a:rPr>
                        <a:t>Coverage gap stays open</a:t>
                      </a:r>
                    </a:p>
                  </a:txBody>
                  <a:tcPr marL="73152" marR="73152" marT="36576" marB="36576" anchor="ctr">
                    <a:solidFill>
                      <a:srgbClr val="F4F5F2"/>
                    </a:solidFill>
                  </a:tcPr>
                </a:tc>
                <a:tc>
                  <a:txBody>
                    <a:bodyPr/>
                    <a:lstStyle/>
                    <a:p>
                      <a:r>
                        <a:rPr sz="1200">
                          <a:solidFill>
                            <a:srgbClr val="1A1A1A"/>
                          </a:solidFill>
                          <a:latin typeface="Calibri"/>
                        </a:rPr>
                        <a:t>Weekly random audit of auto-closed items; SME override</a:t>
                      </a:r>
                    </a:p>
                  </a:txBody>
                  <a:tcPr marL="73152" marR="73152" marT="36576" marB="36576" anchor="ctr">
                    <a:solidFill>
                      <a:srgbClr val="F4F5F2"/>
                    </a:solidFill>
                  </a:tcPr>
                </a:tc>
                <a:tc>
                  <a:txBody>
                    <a:bodyPr/>
                    <a:lstStyle/>
                    <a:p>
                      <a:r>
                        <a:rPr sz="1200">
                          <a:solidFill>
                            <a:srgbClr val="1A1A1A"/>
                          </a:solidFill>
                          <a:latin typeface="Calibri"/>
                        </a:rPr>
                        <a:t>Triage recall on audited sample</a:t>
                      </a:r>
                    </a:p>
                  </a:txBody>
                  <a:tcPr marL="73152" marR="73152" marT="36576" marB="36576" anchor="ctr">
                    <a:solidFill>
                      <a:srgbClr val="F4F5F2"/>
                    </a:solidFill>
                  </a:tcPr>
                </a:tc>
                <a:extLst>
                  <a:ext uri="{0D108BD9-81ED-4DB2-BD59-A6C34878D82A}">
                    <a16:rowId xmlns:a16="http://schemas.microsoft.com/office/drawing/2014/main" val="10007"/>
                  </a:ext>
                </a:extLst>
              </a:tr>
              <a:tr h="475488">
                <a:tc>
                  <a:txBody>
                    <a:bodyPr/>
                    <a:lstStyle/>
                    <a:p>
                      <a:r>
                        <a:rPr sz="1200" b="1">
                          <a:solidFill>
                            <a:srgbClr val="1A1A1A"/>
                          </a:solidFill>
                          <a:latin typeface="Calibri"/>
                        </a:rPr>
                        <a:t>Sandbox cost runaway</a:t>
                      </a:r>
                    </a:p>
                  </a:txBody>
                  <a:tcPr marL="73152" marR="73152" marT="36576" marB="36576" anchor="ctr">
                    <a:solidFill>
                      <a:srgbClr val="F4F5F2"/>
                    </a:solidFill>
                  </a:tcPr>
                </a:tc>
                <a:tc>
                  <a:txBody>
                    <a:bodyPr/>
                    <a:lstStyle/>
                    <a:p>
                      <a:r>
                        <a:rPr sz="1200">
                          <a:solidFill>
                            <a:srgbClr val="1A1A1A"/>
                          </a:solidFill>
                          <a:latin typeface="Calibri"/>
                        </a:rPr>
                        <a:t>Cloud bill spike</a:t>
                      </a:r>
                    </a:p>
                  </a:txBody>
                  <a:tcPr marL="73152" marR="73152" marT="36576" marB="36576" anchor="ctr">
                    <a:solidFill>
                      <a:srgbClr val="F4F5F2"/>
                    </a:solidFill>
                  </a:tcPr>
                </a:tc>
                <a:tc>
                  <a:txBody>
                    <a:bodyPr/>
                    <a:lstStyle/>
                    <a:p>
                      <a:r>
                        <a:rPr sz="1200">
                          <a:solidFill>
                            <a:srgbClr val="1A1A1A"/>
                          </a:solidFill>
                          <a:latin typeface="Calibri"/>
                        </a:rPr>
                        <a:t>Per-run budget, resource tags, nightly sweeper</a:t>
                      </a:r>
                    </a:p>
                  </a:txBody>
                  <a:tcPr marL="73152" marR="73152" marT="36576" marB="36576" anchor="ctr">
                    <a:solidFill>
                      <a:srgbClr val="F4F5F2"/>
                    </a:solidFill>
                  </a:tcPr>
                </a:tc>
                <a:tc>
                  <a:txBody>
                    <a:bodyPr/>
                    <a:lstStyle/>
                    <a:p>
                      <a:r>
                        <a:rPr sz="1200">
                          <a:solidFill>
                            <a:srgbClr val="1A1A1A"/>
                          </a:solidFill>
                          <a:latin typeface="Calibri"/>
                        </a:rPr>
                        <a:t>Sandbox spend per rule</a:t>
                      </a:r>
                    </a:p>
                  </a:txBody>
                  <a:tcPr marL="73152" marR="73152" marT="36576" marB="36576" anchor="ctr">
                    <a:solidFill>
                      <a:srgbClr val="F4F5F2"/>
                    </a:solidFill>
                  </a:tcPr>
                </a:tc>
                <a:extLst>
                  <a:ext uri="{0D108BD9-81ED-4DB2-BD59-A6C34878D82A}">
                    <a16:rowId xmlns:a16="http://schemas.microsoft.com/office/drawing/2014/main" val="10008"/>
                  </a:ext>
                </a:extLst>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0D0D0D"/>
        </a:solidFill>
        <a:effectLst/>
      </p:bgPr>
    </p:bg>
    <p:spTree>
      <p:nvGrpSpPr>
        <p:cNvPr id="1" name=""/>
        <p:cNvGrpSpPr/>
        <p:nvPr/>
      </p:nvGrpSpPr>
      <p:grpSpPr>
        <a:xfrm>
          <a:off x="0" y="0"/>
          <a:ext cx="0" cy="0"/>
          <a:chOff x="0" y="0"/>
          <a:chExt cx="0" cy="0"/>
        </a:xfrm>
      </p:grpSpPr>
      <p:sp>
        <p:nvSpPr>
          <p:cNvPr id="2" name="Section"/>
          <p:cNvSpPr txBox="1"/>
          <p:nvPr/>
        </p:nvSpPr>
        <p:spPr>
          <a:xfrm>
            <a:off x="548640" y="292608"/>
            <a:ext cx="8229600" cy="274320"/>
          </a:xfrm>
          <a:prstGeom prst="rect">
            <a:avLst/>
          </a:prstGeom>
          <a:noFill/>
        </p:spPr>
        <p:txBody>
          <a:bodyPr wrap="square" lIns="0" tIns="0" rIns="0" bIns="0" anchor="t">
            <a:spAutoFit/>
          </a:bodyPr>
          <a:lstStyle/>
          <a:p>
            <a:pPr algn="l">
              <a:spcAft>
                <a:spcPts val="400"/>
              </a:spcAft>
            </a:pPr>
            <a:r>
              <a:rPr sz="1100" b="1" i="0">
                <a:solidFill>
                  <a:srgbClr val="C9CDD1"/>
                </a:solidFill>
                <a:latin typeface="Arial"/>
              </a:rPr>
              <a:t>NEXT STEPS</a:t>
            </a:r>
          </a:p>
        </p:txBody>
      </p:sp>
      <p:sp>
        <p:nvSpPr>
          <p:cNvPr id="3" name="Title"/>
          <p:cNvSpPr txBox="1"/>
          <p:nvPr/>
        </p:nvSpPr>
        <p:spPr>
          <a:xfrm>
            <a:off x="548640" y="548640"/>
            <a:ext cx="11064240" cy="868680"/>
          </a:xfrm>
          <a:prstGeom prst="rect">
            <a:avLst/>
          </a:prstGeom>
          <a:noFill/>
        </p:spPr>
        <p:txBody>
          <a:bodyPr wrap="square" lIns="0" tIns="0" rIns="0" bIns="0" anchor="t">
            <a:spAutoFit/>
          </a:bodyPr>
          <a:lstStyle/>
          <a:p>
            <a:pPr algn="l">
              <a:spcAft>
                <a:spcPts val="400"/>
              </a:spcAft>
            </a:pPr>
            <a:r>
              <a:rPr sz="2800" b="1" i="0">
                <a:solidFill>
                  <a:srgbClr val="FFFFFF"/>
                </a:solidFill>
                <a:latin typeface="Arial"/>
              </a:rPr>
              <a:t>The ask: fund the 12-week AWS pilot with a clear go/no-go</a:t>
            </a:r>
          </a:p>
        </p:txBody>
      </p:sp>
      <p:sp>
        <p:nvSpPr>
          <p:cNvPr id="4" name="SlideNo"/>
          <p:cNvSpPr txBox="1"/>
          <p:nvPr/>
        </p:nvSpPr>
        <p:spPr>
          <a:xfrm>
            <a:off x="11064240" y="6355080"/>
            <a:ext cx="576072" cy="320040"/>
          </a:xfrm>
          <a:prstGeom prst="rect">
            <a:avLst/>
          </a:prstGeom>
          <a:noFill/>
        </p:spPr>
        <p:txBody>
          <a:bodyPr wrap="square" lIns="0" tIns="0" rIns="0" bIns="0" anchor="t">
            <a:spAutoFit/>
          </a:bodyPr>
          <a:lstStyle/>
          <a:p>
            <a:pPr algn="r">
              <a:spcAft>
                <a:spcPts val="400"/>
              </a:spcAft>
            </a:pPr>
            <a:r>
              <a:rPr sz="1000" b="0" i="0">
                <a:solidFill>
                  <a:srgbClr val="C9CDD1"/>
                </a:solidFill>
                <a:latin typeface="Calibri"/>
              </a:rPr>
              <a:t>22</a:t>
            </a:r>
          </a:p>
        </p:txBody>
      </p:sp>
      <p:sp>
        <p:nvSpPr>
          <p:cNvPr id="5" name="Rounded Rectangle 4"/>
          <p:cNvSpPr/>
          <p:nvPr/>
        </p:nvSpPr>
        <p:spPr>
          <a:xfrm>
            <a:off x="548640" y="2011680"/>
            <a:ext cx="3566160" cy="2743200"/>
          </a:xfrm>
          <a:prstGeom prst="roundRect">
            <a:avLst>
              <a:gd name="adj" fmla="val 6000"/>
            </a:avLst>
          </a:prstGeom>
          <a:solidFill>
            <a:srgbClr val="1F23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Oval 5"/>
          <p:cNvSpPr/>
          <p:nvPr/>
        </p:nvSpPr>
        <p:spPr>
          <a:xfrm>
            <a:off x="822959" y="2240280"/>
            <a:ext cx="548640" cy="548640"/>
          </a:xfrm>
          <a:prstGeom prst="ellipse">
            <a:avLst/>
          </a:prstGeom>
          <a:solidFill>
            <a:srgbClr val="86BC25"/>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a:solidFill>
                  <a:srgbClr val="0D0D0D"/>
                </a:solidFill>
                <a:latin typeface="Arial"/>
              </a:rPr>
              <a:t>1</a:t>
            </a:r>
          </a:p>
        </p:txBody>
      </p:sp>
      <p:sp>
        <p:nvSpPr>
          <p:cNvPr id="7" name="TextBox 6"/>
          <p:cNvSpPr txBox="1"/>
          <p:nvPr/>
        </p:nvSpPr>
        <p:spPr>
          <a:xfrm>
            <a:off x="822959" y="2971800"/>
            <a:ext cx="3017520" cy="457200"/>
          </a:xfrm>
          <a:prstGeom prst="rect">
            <a:avLst/>
          </a:prstGeom>
          <a:noFill/>
        </p:spPr>
        <p:txBody>
          <a:bodyPr wrap="square" lIns="0" tIns="0" rIns="0" bIns="0" anchor="t">
            <a:spAutoFit/>
          </a:bodyPr>
          <a:lstStyle/>
          <a:p>
            <a:pPr algn="l">
              <a:spcAft>
                <a:spcPts val="400"/>
              </a:spcAft>
            </a:pPr>
            <a:r>
              <a:rPr sz="2000" b="1" i="0">
                <a:solidFill>
                  <a:srgbClr val="FFFFFF"/>
                </a:solidFill>
                <a:latin typeface="Arial"/>
              </a:rPr>
              <a:t>Approve the pilot</a:t>
            </a:r>
          </a:p>
        </p:txBody>
      </p:sp>
      <p:sp>
        <p:nvSpPr>
          <p:cNvPr id="8" name="TextBox 7"/>
          <p:cNvSpPr txBox="1"/>
          <p:nvPr/>
        </p:nvSpPr>
        <p:spPr>
          <a:xfrm>
            <a:off x="822959" y="3520440"/>
            <a:ext cx="3017520" cy="1097280"/>
          </a:xfrm>
          <a:prstGeom prst="rect">
            <a:avLst/>
          </a:prstGeom>
          <a:noFill/>
        </p:spPr>
        <p:txBody>
          <a:bodyPr wrap="square" lIns="0" tIns="0" rIns="0" bIns="0" anchor="t">
            <a:spAutoFit/>
          </a:bodyPr>
          <a:lstStyle/>
          <a:p>
            <a:pPr algn="l">
              <a:spcAft>
                <a:spcPts val="400"/>
              </a:spcAft>
            </a:pPr>
            <a:r>
              <a:rPr sz="1500" b="0" i="0">
                <a:solidFill>
                  <a:srgbClr val="C9CDD1"/>
                </a:solidFill>
                <a:latin typeface="Calibri"/>
              </a:rPr>
              <a:t>2–3 engineer pod + SME reviewer time, AWS only</a:t>
            </a:r>
          </a:p>
        </p:txBody>
      </p:sp>
      <p:sp>
        <p:nvSpPr>
          <p:cNvPr id="9" name="Rounded Rectangle 8"/>
          <p:cNvSpPr/>
          <p:nvPr/>
        </p:nvSpPr>
        <p:spPr>
          <a:xfrm>
            <a:off x="4297679" y="2011680"/>
            <a:ext cx="3566160" cy="2743200"/>
          </a:xfrm>
          <a:prstGeom prst="roundRect">
            <a:avLst>
              <a:gd name="adj" fmla="val 6000"/>
            </a:avLst>
          </a:prstGeom>
          <a:solidFill>
            <a:srgbClr val="1F23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Oval 9"/>
          <p:cNvSpPr/>
          <p:nvPr/>
        </p:nvSpPr>
        <p:spPr>
          <a:xfrm>
            <a:off x="4571999" y="2240280"/>
            <a:ext cx="548640" cy="548640"/>
          </a:xfrm>
          <a:prstGeom prst="ellipse">
            <a:avLst/>
          </a:prstGeom>
          <a:solidFill>
            <a:srgbClr val="86BC25"/>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a:solidFill>
                  <a:srgbClr val="0D0D0D"/>
                </a:solidFill>
                <a:latin typeface="Arial"/>
              </a:rPr>
              <a:t>2</a:t>
            </a:r>
          </a:p>
        </p:txBody>
      </p:sp>
      <p:sp>
        <p:nvSpPr>
          <p:cNvPr id="11" name="TextBox 10"/>
          <p:cNvSpPr txBox="1"/>
          <p:nvPr/>
        </p:nvSpPr>
        <p:spPr>
          <a:xfrm>
            <a:off x="4571999" y="2971800"/>
            <a:ext cx="3017520" cy="457200"/>
          </a:xfrm>
          <a:prstGeom prst="rect">
            <a:avLst/>
          </a:prstGeom>
          <a:noFill/>
        </p:spPr>
        <p:txBody>
          <a:bodyPr wrap="square" lIns="0" tIns="0" rIns="0" bIns="0" anchor="t">
            <a:spAutoFit/>
          </a:bodyPr>
          <a:lstStyle/>
          <a:p>
            <a:pPr algn="l">
              <a:spcAft>
                <a:spcPts val="400"/>
              </a:spcAft>
            </a:pPr>
            <a:r>
              <a:rPr sz="2000" b="1" i="0">
                <a:solidFill>
                  <a:srgbClr val="FFFFFF"/>
                </a:solidFill>
                <a:latin typeface="Arial"/>
              </a:rPr>
              <a:t>Agree the gates</a:t>
            </a:r>
          </a:p>
        </p:txBody>
      </p:sp>
      <p:sp>
        <p:nvSpPr>
          <p:cNvPr id="12" name="TextBox 11"/>
          <p:cNvSpPr txBox="1"/>
          <p:nvPr/>
        </p:nvSpPr>
        <p:spPr>
          <a:xfrm>
            <a:off x="4571999" y="3520440"/>
            <a:ext cx="3017520" cy="1097280"/>
          </a:xfrm>
          <a:prstGeom prst="rect">
            <a:avLst/>
          </a:prstGeom>
          <a:noFill/>
        </p:spPr>
        <p:txBody>
          <a:bodyPr wrap="square" lIns="0" tIns="0" rIns="0" bIns="0" anchor="t">
            <a:spAutoFit/>
          </a:bodyPr>
          <a:lstStyle/>
          <a:p>
            <a:pPr algn="l">
              <a:spcAft>
                <a:spcPts val="400"/>
              </a:spcAft>
            </a:pPr>
            <a:r>
              <a:rPr sz="1500" b="0" i="0">
                <a:solidFill>
                  <a:srgbClr val="C9CDD1"/>
                </a:solidFill>
                <a:latin typeface="Calibri"/>
              </a:rPr>
              <a:t>Citation accuracy 100%; floors of ≥80% rule accuracy and ≥95% triage recall, recalibrated after the week-3 backtest</a:t>
            </a:r>
          </a:p>
        </p:txBody>
      </p:sp>
      <p:sp>
        <p:nvSpPr>
          <p:cNvPr id="13" name="Rounded Rectangle 12"/>
          <p:cNvSpPr/>
          <p:nvPr/>
        </p:nvSpPr>
        <p:spPr>
          <a:xfrm>
            <a:off x="8046719" y="2011680"/>
            <a:ext cx="3566160" cy="2743200"/>
          </a:xfrm>
          <a:prstGeom prst="roundRect">
            <a:avLst>
              <a:gd name="adj" fmla="val 6000"/>
            </a:avLst>
          </a:prstGeom>
          <a:solidFill>
            <a:srgbClr val="1F23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Oval 13"/>
          <p:cNvSpPr/>
          <p:nvPr/>
        </p:nvSpPr>
        <p:spPr>
          <a:xfrm>
            <a:off x="8321040" y="2240280"/>
            <a:ext cx="548640" cy="548640"/>
          </a:xfrm>
          <a:prstGeom prst="ellipse">
            <a:avLst/>
          </a:prstGeom>
          <a:solidFill>
            <a:srgbClr val="86BC25"/>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a:solidFill>
                  <a:srgbClr val="0D0D0D"/>
                </a:solidFill>
                <a:latin typeface="Arial"/>
              </a:rPr>
              <a:t>3</a:t>
            </a:r>
          </a:p>
        </p:txBody>
      </p:sp>
      <p:sp>
        <p:nvSpPr>
          <p:cNvPr id="15" name="TextBox 14"/>
          <p:cNvSpPr txBox="1"/>
          <p:nvPr/>
        </p:nvSpPr>
        <p:spPr>
          <a:xfrm>
            <a:off x="8321040" y="2971800"/>
            <a:ext cx="3017520" cy="457200"/>
          </a:xfrm>
          <a:prstGeom prst="rect">
            <a:avLst/>
          </a:prstGeom>
          <a:noFill/>
        </p:spPr>
        <p:txBody>
          <a:bodyPr wrap="square" lIns="0" tIns="0" rIns="0" bIns="0" anchor="t">
            <a:spAutoFit/>
          </a:bodyPr>
          <a:lstStyle/>
          <a:p>
            <a:pPr algn="l">
              <a:spcAft>
                <a:spcPts val="400"/>
              </a:spcAft>
            </a:pPr>
            <a:r>
              <a:rPr sz="2000" b="1" i="0">
                <a:solidFill>
                  <a:srgbClr val="FFFFFF"/>
                </a:solidFill>
                <a:latin typeface="Arial"/>
              </a:rPr>
              <a:t>Validate with SMEs</a:t>
            </a:r>
          </a:p>
        </p:txBody>
      </p:sp>
      <p:sp>
        <p:nvSpPr>
          <p:cNvPr id="16" name="TextBox 15"/>
          <p:cNvSpPr txBox="1"/>
          <p:nvPr/>
        </p:nvSpPr>
        <p:spPr>
          <a:xfrm>
            <a:off x="8321040" y="3520440"/>
            <a:ext cx="3017520" cy="1097280"/>
          </a:xfrm>
          <a:prstGeom prst="rect">
            <a:avLst/>
          </a:prstGeom>
          <a:noFill/>
        </p:spPr>
        <p:txBody>
          <a:bodyPr wrap="square" lIns="0" tIns="0" rIns="0" bIns="0" anchor="t">
            <a:spAutoFit/>
          </a:bodyPr>
          <a:lstStyle/>
          <a:p>
            <a:pPr algn="l">
              <a:spcAft>
                <a:spcPts val="400"/>
              </a:spcAft>
            </a:pPr>
            <a:r>
              <a:rPr sz="1500" b="0" i="0">
                <a:solidFill>
                  <a:srgbClr val="C9CDD1"/>
                </a:solidFill>
                <a:latin typeface="Calibri"/>
              </a:rPr>
              <a:t>Interview 2–3 SMEs to confirm where the 3–5 days really go</a:t>
            </a:r>
          </a:p>
        </p:txBody>
      </p:sp>
      <p:sp>
        <p:nvSpPr>
          <p:cNvPr id="17" name="TextBox 16"/>
          <p:cNvSpPr txBox="1"/>
          <p:nvPr/>
        </p:nvSpPr>
        <p:spPr>
          <a:xfrm>
            <a:off x="548640" y="5212080"/>
            <a:ext cx="10972800" cy="548640"/>
          </a:xfrm>
          <a:prstGeom prst="rect">
            <a:avLst/>
          </a:prstGeom>
          <a:noFill/>
        </p:spPr>
        <p:txBody>
          <a:bodyPr wrap="square" lIns="0" tIns="0" rIns="0" bIns="0" anchor="t">
            <a:spAutoFit/>
          </a:bodyPr>
          <a:lstStyle/>
          <a:p>
            <a:pPr algn="l">
              <a:spcAft>
                <a:spcPts val="400"/>
              </a:spcAft>
            </a:pPr>
            <a:r>
              <a:rPr sz="2200" b="0" i="1">
                <a:solidFill>
                  <a:srgbClr val="FFFFFF"/>
                </a:solidFill>
                <a:latin typeface="Calibri"/>
              </a:rPr>
              <a:t>Don't automate the SME. Automate everything around the SME.</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ection"/>
          <p:cNvSpPr txBox="1"/>
          <p:nvPr/>
        </p:nvSpPr>
        <p:spPr>
          <a:xfrm>
            <a:off x="548640" y="292608"/>
            <a:ext cx="8229600" cy="274320"/>
          </a:xfrm>
          <a:prstGeom prst="rect">
            <a:avLst/>
          </a:prstGeom>
          <a:noFill/>
        </p:spPr>
        <p:txBody>
          <a:bodyPr wrap="square" lIns="0" tIns="0" rIns="0" bIns="0" anchor="t">
            <a:spAutoFit/>
          </a:bodyPr>
          <a:lstStyle/>
          <a:p>
            <a:pPr algn="l">
              <a:spcAft>
                <a:spcPts val="400"/>
              </a:spcAft>
            </a:pPr>
            <a:r>
              <a:rPr sz="1100" b="1" i="0">
                <a:solidFill>
                  <a:srgbClr val="046A38"/>
                </a:solidFill>
                <a:latin typeface="Arial"/>
              </a:rPr>
              <a:t>APPENDIX</a:t>
            </a:r>
          </a:p>
        </p:txBody>
      </p:sp>
      <p:sp>
        <p:nvSpPr>
          <p:cNvPr id="3" name="Title"/>
          <p:cNvSpPr txBox="1"/>
          <p:nvPr/>
        </p:nvSpPr>
        <p:spPr>
          <a:xfrm>
            <a:off x="548640" y="548640"/>
            <a:ext cx="11064240" cy="868680"/>
          </a:xfrm>
          <a:prstGeom prst="rect">
            <a:avLst/>
          </a:prstGeom>
          <a:noFill/>
        </p:spPr>
        <p:txBody>
          <a:bodyPr wrap="square" lIns="0" tIns="0" rIns="0" bIns="0" anchor="t">
            <a:spAutoFit/>
          </a:bodyPr>
          <a:lstStyle/>
          <a:p>
            <a:pPr algn="l">
              <a:spcAft>
                <a:spcPts val="400"/>
              </a:spcAft>
            </a:pPr>
            <a:r>
              <a:rPr sz="2800" b="1" i="0">
                <a:solidFill>
                  <a:srgbClr val="1A1A1A"/>
                </a:solidFill>
                <a:latin typeface="Arial"/>
              </a:rPr>
              <a:t>Sources</a:t>
            </a:r>
          </a:p>
        </p:txBody>
      </p:sp>
      <p:sp>
        <p:nvSpPr>
          <p:cNvPr id="4" name="SlideNo"/>
          <p:cNvSpPr txBox="1"/>
          <p:nvPr/>
        </p:nvSpPr>
        <p:spPr>
          <a:xfrm>
            <a:off x="11064240" y="6355080"/>
            <a:ext cx="576072" cy="320040"/>
          </a:xfrm>
          <a:prstGeom prst="rect">
            <a:avLst/>
          </a:prstGeom>
          <a:noFill/>
        </p:spPr>
        <p:txBody>
          <a:bodyPr wrap="square" lIns="0" tIns="0" rIns="0" bIns="0" anchor="t">
            <a:spAutoFit/>
          </a:bodyPr>
          <a:lstStyle/>
          <a:p>
            <a:pPr algn="r">
              <a:spcAft>
                <a:spcPts val="400"/>
              </a:spcAft>
            </a:pPr>
            <a:r>
              <a:rPr sz="1000" b="0" i="0">
                <a:solidFill>
                  <a:srgbClr val="53565A"/>
                </a:solidFill>
                <a:latin typeface="Calibri"/>
              </a:rPr>
              <a:t>23</a:t>
            </a:r>
          </a:p>
        </p:txBody>
      </p:sp>
      <p:sp>
        <p:nvSpPr>
          <p:cNvPr id="5" name="TextBox 4"/>
          <p:cNvSpPr txBox="1"/>
          <p:nvPr/>
        </p:nvSpPr>
        <p:spPr>
          <a:xfrm>
            <a:off x="548640" y="1645920"/>
            <a:ext cx="11064240" cy="4480560"/>
          </a:xfrm>
          <a:prstGeom prst="rect">
            <a:avLst/>
          </a:prstGeom>
          <a:noFill/>
        </p:spPr>
        <p:txBody>
          <a:bodyPr wrap="square" lIns="0" tIns="0" rIns="0" bIns="0">
            <a:spAutoFit/>
          </a:bodyPr>
          <a:lstStyle/>
          <a:p>
            <a:pPr marL="201168" indent="-201168">
              <a:spcAft>
                <a:spcPts val="500"/>
              </a:spcAft>
              <a:buChar char="•"/>
            </a:pPr>
            <a:r>
              <a:rPr sz="1400" b="0">
                <a:solidFill>
                  <a:srgbClr val="1A1A1A"/>
                </a:solidFill>
                <a:latin typeface="Calibri"/>
              </a:rPr>
              <a:t>IBM Cost of a Data Breach Report 2025 (via CyberScoop, ASIS) and 2024 (via 10guards; IBM India newsroom)</a:t>
            </a:r>
          </a:p>
          <a:p>
            <a:pPr marL="201168" indent="-201168">
              <a:spcAft>
                <a:spcPts val="500"/>
              </a:spcAft>
              <a:buChar char="•"/>
            </a:pPr>
            <a:r>
              <a:rPr sz="1400" b="0">
                <a:solidFill>
                  <a:srgbClr val="1A1A1A"/>
                </a:solidFill>
                <a:latin typeface="Calibri"/>
              </a:rPr>
              <a:t>botocore release cadence: releasealert.dev/github/boto/botocore</a:t>
            </a:r>
          </a:p>
          <a:p>
            <a:pPr marL="201168" indent="-201168">
              <a:spcAft>
                <a:spcPts val="500"/>
              </a:spcAft>
              <a:buChar char="•"/>
            </a:pPr>
            <a:r>
              <a:rPr sz="1400" b="0">
                <a:solidFill>
                  <a:srgbClr val="1A1A1A"/>
                </a:solidFill>
                <a:latin typeface="Calibri"/>
              </a:rPr>
              <a:t>Prowler check counts: pypi.org/project/prowler-cloud/5.9.2 · Prowler repo and compliance mappings (Apache-2.0)</a:t>
            </a:r>
          </a:p>
          <a:p>
            <a:pPr marL="201168" indent="-201168">
              <a:spcAft>
                <a:spcPts val="500"/>
              </a:spcAft>
              <a:buChar char="•"/>
            </a:pPr>
            <a:r>
              <a:rPr sz="1400" b="0">
                <a:solidFill>
                  <a:srgbClr val="1A1A1A"/>
                </a:solidFill>
                <a:latin typeface="Calibri"/>
              </a:rPr>
              <a:t>Wiz rule count: Contrary Research (2024) · Google–Wiz acquisition close: TechCrunch, 11 Mar 2026</a:t>
            </a:r>
          </a:p>
          <a:p>
            <a:pPr marL="201168" indent="-201168">
              <a:spcAft>
                <a:spcPts val="500"/>
              </a:spcAft>
              <a:buChar char="•"/>
            </a:pPr>
            <a:r>
              <a:rPr sz="1400" b="0">
                <a:solidFill>
                  <a:srgbClr val="1A1A1A"/>
                </a:solidFill>
                <a:latin typeface="Calibri"/>
              </a:rPr>
              <a:t>SANS 2025 Detection &amp; Response Survey (via Stamus Networks, sponsor)</a:t>
            </a:r>
          </a:p>
          <a:p>
            <a:pPr marL="201168" indent="-201168">
              <a:spcAft>
                <a:spcPts val="500"/>
              </a:spcAft>
              <a:buChar char="•"/>
            </a:pPr>
            <a:r>
              <a:rPr sz="1400" b="0">
                <a:solidFill>
                  <a:srgbClr val="1A1A1A"/>
                </a:solidFill>
                <a:latin typeface="Calibri"/>
              </a:rPr>
              <a:t>ISC2 Cybersecurity Workforce Study 2024</a:t>
            </a:r>
          </a:p>
          <a:p>
            <a:pPr marL="201168" indent="-201168">
              <a:spcAft>
                <a:spcPts val="500"/>
              </a:spcAft>
              <a:buChar char="•"/>
            </a:pPr>
            <a:r>
              <a:rPr sz="1400" b="0">
                <a:solidFill>
                  <a:srgbClr val="1A1A1A"/>
                </a:solidFill>
                <a:latin typeface="Calibri"/>
              </a:rPr>
              <a:t>CIS AWS Foundations Benchmark v7.0.0: CIS Benchmarks April 2026 update</a:t>
            </a:r>
          </a:p>
          <a:p>
            <a:pPr marL="201168" indent="-201168">
              <a:spcAft>
                <a:spcPts val="500"/>
              </a:spcAft>
              <a:buChar char="•"/>
            </a:pPr>
            <a:r>
              <a:rPr sz="1400" b="0">
                <a:solidFill>
                  <a:srgbClr val="1A1A1A"/>
                </a:solidFill>
                <a:latin typeface="Calibri"/>
              </a:rPr>
              <a:t>Checkov 750+ policies: Qburst (2024) · Cloud Custodian: CNCF project</a:t>
            </a:r>
          </a:p>
          <a:p>
            <a:pPr marL="201168" indent="-201168">
              <a:spcAft>
                <a:spcPts val="500"/>
              </a:spcAft>
              <a:buChar char="•"/>
            </a:pPr>
            <a:r>
              <a:rPr sz="1400" b="0">
                <a:solidFill>
                  <a:srgbClr val="1A1A1A"/>
                </a:solidFill>
                <a:latin typeface="Calibri"/>
              </a:rPr>
              <a:t>OWASP Top 10 for LLM Applications 2025 · NIST AI RMF · ISO/IEC 42001</a:t>
            </a:r>
          </a:p>
          <a:p>
            <a:pPr marL="201168" indent="-201168">
              <a:spcAft>
                <a:spcPts val="500"/>
              </a:spcAft>
              <a:buChar char="•"/>
            </a:pPr>
            <a:r>
              <a:rPr sz="1400" b="0">
                <a:solidFill>
                  <a:srgbClr val="1A1A1A"/>
                </a:solidFill>
                <a:latin typeface="Calibri"/>
              </a:rPr>
              <a:t>EU AI Act timeline: European Commission AI Act Service Desk</a:t>
            </a:r>
          </a:p>
          <a:p>
            <a:pPr marL="201168" indent="-201168">
              <a:spcAft>
                <a:spcPts val="500"/>
              </a:spcAft>
              <a:buChar char="•"/>
            </a:pPr>
            <a:r>
              <a:rPr sz="1400" b="0">
                <a:solidFill>
                  <a:srgbClr val="1A1A1A"/>
                </a:solidFill>
                <a:latin typeface="Calibri"/>
              </a:rPr>
              <a:t>Anthropic Claude API pricing (Oct 2026)</a:t>
            </a:r>
          </a:p>
          <a:p>
            <a:pPr marL="201168" indent="-201168">
              <a:spcAft>
                <a:spcPts val="500"/>
              </a:spcAft>
              <a:buChar char="•"/>
            </a:pPr>
            <a:r>
              <a:rPr sz="1400" b="0">
                <a:solidFill>
                  <a:srgbClr val="1A1A1A"/>
                </a:solidFill>
                <a:latin typeface="Calibri"/>
              </a:rPr>
              <a:t>AWS What's New RSS feed, retrieved 27 Oct 2026 (triage set)</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0D0D0D"/>
        </a:solidFill>
        <a:effectLst/>
      </p:bgPr>
    </p:bg>
    <p:spTree>
      <p:nvGrpSpPr>
        <p:cNvPr id="1" name=""/>
        <p:cNvGrpSpPr/>
        <p:nvPr/>
      </p:nvGrpSpPr>
      <p:grpSpPr>
        <a:xfrm>
          <a:off x="0" y="0"/>
          <a:ext cx="0" cy="0"/>
          <a:chOff x="0" y="0"/>
          <a:chExt cx="0" cy="0"/>
        </a:xfrm>
      </p:grpSpPr>
      <p:sp>
        <p:nvSpPr>
          <p:cNvPr id="2" name="Section"/>
          <p:cNvSpPr txBox="1"/>
          <p:nvPr/>
        </p:nvSpPr>
        <p:spPr>
          <a:xfrm>
            <a:off x="548640" y="292608"/>
            <a:ext cx="8229600" cy="274320"/>
          </a:xfrm>
          <a:prstGeom prst="rect">
            <a:avLst/>
          </a:prstGeom>
          <a:noFill/>
        </p:spPr>
        <p:txBody>
          <a:bodyPr wrap="square" lIns="0" tIns="0" rIns="0" bIns="0" anchor="t">
            <a:spAutoFit/>
          </a:bodyPr>
          <a:lstStyle/>
          <a:p>
            <a:pPr algn="l">
              <a:spcAft>
                <a:spcPts val="400"/>
              </a:spcAft>
            </a:pPr>
            <a:r>
              <a:rPr sz="1100" b="1" i="0">
                <a:solidFill>
                  <a:srgbClr val="C9CDD1"/>
                </a:solidFill>
                <a:latin typeface="Arial"/>
              </a:rPr>
              <a:t>LINKS</a:t>
            </a:r>
          </a:p>
        </p:txBody>
      </p:sp>
      <p:sp>
        <p:nvSpPr>
          <p:cNvPr id="3" name="Title"/>
          <p:cNvSpPr txBox="1"/>
          <p:nvPr/>
        </p:nvSpPr>
        <p:spPr>
          <a:xfrm>
            <a:off x="548640" y="548640"/>
            <a:ext cx="11064240" cy="868680"/>
          </a:xfrm>
          <a:prstGeom prst="rect">
            <a:avLst/>
          </a:prstGeom>
          <a:noFill/>
        </p:spPr>
        <p:txBody>
          <a:bodyPr wrap="square" lIns="0" tIns="0" rIns="0" bIns="0" anchor="t">
            <a:spAutoFit/>
          </a:bodyPr>
          <a:lstStyle/>
          <a:p>
            <a:pPr algn="l">
              <a:spcAft>
                <a:spcPts val="400"/>
              </a:spcAft>
            </a:pPr>
            <a:r>
              <a:rPr sz="2800" b="1" i="0">
                <a:solidFill>
                  <a:srgbClr val="FFFFFF"/>
                </a:solidFill>
                <a:latin typeface="Arial"/>
              </a:rPr>
              <a:t>See the work: design, prototype and code</a:t>
            </a:r>
          </a:p>
        </p:txBody>
      </p:sp>
      <p:sp>
        <p:nvSpPr>
          <p:cNvPr id="4" name="SlideNo"/>
          <p:cNvSpPr txBox="1"/>
          <p:nvPr/>
        </p:nvSpPr>
        <p:spPr>
          <a:xfrm>
            <a:off x="11064240" y="6355080"/>
            <a:ext cx="576072" cy="320040"/>
          </a:xfrm>
          <a:prstGeom prst="rect">
            <a:avLst/>
          </a:prstGeom>
          <a:noFill/>
        </p:spPr>
        <p:txBody>
          <a:bodyPr wrap="square" lIns="0" tIns="0" rIns="0" bIns="0" anchor="t">
            <a:spAutoFit/>
          </a:bodyPr>
          <a:lstStyle/>
          <a:p>
            <a:pPr algn="r">
              <a:spcAft>
                <a:spcPts val="400"/>
              </a:spcAft>
            </a:pPr>
            <a:r>
              <a:rPr sz="1000" b="0" i="0">
                <a:solidFill>
                  <a:srgbClr val="C9CDD1"/>
                </a:solidFill>
                <a:latin typeface="Calibri"/>
              </a:rPr>
              <a:t>24</a:t>
            </a:r>
          </a:p>
        </p:txBody>
      </p:sp>
      <p:sp>
        <p:nvSpPr>
          <p:cNvPr id="5" name="Rounded Rectangle 4"/>
          <p:cNvSpPr/>
          <p:nvPr/>
        </p:nvSpPr>
        <p:spPr>
          <a:xfrm>
            <a:off x="548640" y="2011680"/>
            <a:ext cx="3566160" cy="2743200"/>
          </a:xfrm>
          <a:prstGeom prst="roundRect">
            <a:avLst>
              <a:gd name="adj" fmla="val 6000"/>
            </a:avLst>
          </a:prstGeom>
          <a:solidFill>
            <a:srgbClr val="1F23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Oval 5"/>
          <p:cNvSpPr/>
          <p:nvPr/>
        </p:nvSpPr>
        <p:spPr>
          <a:xfrm>
            <a:off x="822959" y="2240280"/>
            <a:ext cx="548640" cy="548640"/>
          </a:xfrm>
          <a:prstGeom prst="ellipse">
            <a:avLst/>
          </a:prstGeom>
          <a:solidFill>
            <a:srgbClr val="86BC25"/>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a:solidFill>
                  <a:srgbClr val="0D0D0D"/>
                </a:solidFill>
                <a:latin typeface="Arial"/>
              </a:rPr>
              <a:t>1</a:t>
            </a:r>
          </a:p>
        </p:txBody>
      </p:sp>
      <p:sp>
        <p:nvSpPr>
          <p:cNvPr id="7" name="TextBox 6"/>
          <p:cNvSpPr txBox="1"/>
          <p:nvPr/>
        </p:nvSpPr>
        <p:spPr>
          <a:xfrm>
            <a:off x="822959" y="2971800"/>
            <a:ext cx="3017520" cy="457200"/>
          </a:xfrm>
          <a:prstGeom prst="rect">
            <a:avLst/>
          </a:prstGeom>
          <a:noFill/>
        </p:spPr>
        <p:txBody>
          <a:bodyPr wrap="square" lIns="0" tIns="0" rIns="0" bIns="0" anchor="t">
            <a:spAutoFit/>
          </a:bodyPr>
          <a:lstStyle/>
          <a:p>
            <a:pPr algn="l">
              <a:spcAft>
                <a:spcPts val="400"/>
              </a:spcAft>
            </a:pPr>
            <a:r>
              <a:rPr sz="2000" b="1" i="0">
                <a:solidFill>
                  <a:srgbClr val="FFFFFF"/>
                </a:solidFill>
                <a:latin typeface="Arial"/>
              </a:rPr>
              <a:t>Figma design</a:t>
            </a:r>
          </a:p>
        </p:txBody>
      </p:sp>
      <p:sp>
        <p:nvSpPr>
          <p:cNvPr id="8" name="TextBox 7"/>
          <p:cNvSpPr txBox="1"/>
          <p:nvPr/>
        </p:nvSpPr>
        <p:spPr>
          <a:xfrm>
            <a:off x="822959" y="3520440"/>
            <a:ext cx="3017520" cy="1097280"/>
          </a:xfrm>
          <a:prstGeom prst="rect">
            <a:avLst/>
          </a:prstGeom>
          <a:noFill/>
        </p:spPr>
        <p:txBody>
          <a:bodyPr wrap="square" lIns="0" tIns="0" rIns="0" bIns="0" anchor="t">
            <a:spAutoFit/>
          </a:bodyPr>
          <a:lstStyle/>
          <a:p>
            <a:pPr algn="l">
              <a:spcAft>
                <a:spcPts val="400"/>
              </a:spcAft>
            </a:pPr>
            <a:r>
              <a:rPr sz="1500" b="0" i="0">
                <a:solidFill>
                  <a:srgbClr val="C9CDD1"/>
                </a:solidFill>
                <a:latin typeface="Calibri"/>
              </a:rPr>
              <a:t>All 12 screens: the MVP journey plus proposed V1 and V2 features</a:t>
            </a:r>
          </a:p>
          <a:p>
            <a:pPr marL="0" algn="l">
              <a:spcBef>
                <a:spcPts val="800"/>
              </a:spcBef>
              <a:spcAft>
                <a:spcPts val="400"/>
              </a:spcAft>
            </a:pPr>
            <a:r>
              <a:rPr sz="1200" b="0" i="0" u="sng">
                <a:solidFill>
                  <a:srgbClr val="86BC25"/>
                </a:solidFill>
                <a:latin typeface="Calibri"/>
                <a:hlinkClick r:id="rId3"/>
              </a:rPr>
              <a:t>tinyurl.com/tc9nc223</a:t>
            </a:r>
          </a:p>
        </p:txBody>
      </p:sp>
      <p:sp>
        <p:nvSpPr>
          <p:cNvPr id="9" name="Rounded Rectangle 8"/>
          <p:cNvSpPr/>
          <p:nvPr/>
        </p:nvSpPr>
        <p:spPr>
          <a:xfrm>
            <a:off x="4297679" y="2011680"/>
            <a:ext cx="3566160" cy="2743200"/>
          </a:xfrm>
          <a:prstGeom prst="roundRect">
            <a:avLst>
              <a:gd name="adj" fmla="val 6000"/>
            </a:avLst>
          </a:prstGeom>
          <a:solidFill>
            <a:srgbClr val="1F23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Oval 9"/>
          <p:cNvSpPr/>
          <p:nvPr/>
        </p:nvSpPr>
        <p:spPr>
          <a:xfrm>
            <a:off x="4571999" y="2240280"/>
            <a:ext cx="548640" cy="548640"/>
          </a:xfrm>
          <a:prstGeom prst="ellipse">
            <a:avLst/>
          </a:prstGeom>
          <a:solidFill>
            <a:srgbClr val="86BC25"/>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a:solidFill>
                  <a:srgbClr val="0D0D0D"/>
                </a:solidFill>
                <a:latin typeface="Arial"/>
              </a:rPr>
              <a:t>2</a:t>
            </a:r>
          </a:p>
        </p:txBody>
      </p:sp>
      <p:sp>
        <p:nvSpPr>
          <p:cNvPr id="11" name="TextBox 10"/>
          <p:cNvSpPr txBox="1"/>
          <p:nvPr/>
        </p:nvSpPr>
        <p:spPr>
          <a:xfrm>
            <a:off x="4571999" y="2971800"/>
            <a:ext cx="3017520" cy="457200"/>
          </a:xfrm>
          <a:prstGeom prst="rect">
            <a:avLst/>
          </a:prstGeom>
          <a:noFill/>
        </p:spPr>
        <p:txBody>
          <a:bodyPr wrap="square" lIns="0" tIns="0" rIns="0" bIns="0" anchor="t">
            <a:spAutoFit/>
          </a:bodyPr>
          <a:lstStyle/>
          <a:p>
            <a:pPr algn="l">
              <a:spcAft>
                <a:spcPts val="400"/>
              </a:spcAft>
            </a:pPr>
            <a:r>
              <a:rPr sz="2000" b="1" i="0">
                <a:solidFill>
                  <a:srgbClr val="FFFFFF"/>
                </a:solidFill>
                <a:latin typeface="Arial"/>
              </a:rPr>
              <a:t>Clickable prototype</a:t>
            </a:r>
          </a:p>
        </p:txBody>
      </p:sp>
      <p:sp>
        <p:nvSpPr>
          <p:cNvPr id="12" name="TextBox 11"/>
          <p:cNvSpPr txBox="1"/>
          <p:nvPr/>
        </p:nvSpPr>
        <p:spPr>
          <a:xfrm>
            <a:off x="4571999" y="3520440"/>
            <a:ext cx="3017520" cy="1097280"/>
          </a:xfrm>
          <a:prstGeom prst="rect">
            <a:avLst/>
          </a:prstGeom>
          <a:noFill/>
        </p:spPr>
        <p:txBody>
          <a:bodyPr wrap="square" lIns="0" tIns="0" rIns="0" bIns="0" anchor="t">
            <a:spAutoFit/>
          </a:bodyPr>
          <a:lstStyle/>
          <a:p>
            <a:pPr algn="l">
              <a:spcAft>
                <a:spcPts val="400"/>
              </a:spcAft>
            </a:pPr>
            <a:r>
              <a:rPr sz="1500" b="0" i="0">
                <a:solidFill>
                  <a:srgbClr val="C9CDD1"/>
                </a:solidFill>
                <a:latin typeface="Calibri"/>
              </a:rPr>
              <a:t>Detect → Draft &amp; verify → Publish → Monitor, in any browser</a:t>
            </a:r>
          </a:p>
          <a:p>
            <a:pPr marL="0" algn="l">
              <a:spcBef>
                <a:spcPts val="800"/>
              </a:spcBef>
              <a:spcAft>
                <a:spcPts val="400"/>
              </a:spcAft>
            </a:pPr>
            <a:r>
              <a:rPr sz="1200" b="0" i="0" u="sng">
                <a:solidFill>
                  <a:srgbClr val="86BC25"/>
                </a:solidFill>
                <a:latin typeface="Calibri"/>
                <a:hlinkClick r:id="rId4"/>
              </a:rPr>
              <a:t>alexshajan.github.io/Ruleforge_HashedIn</a:t>
            </a:r>
          </a:p>
        </p:txBody>
      </p:sp>
      <p:sp>
        <p:nvSpPr>
          <p:cNvPr id="13" name="Rounded Rectangle 12"/>
          <p:cNvSpPr/>
          <p:nvPr/>
        </p:nvSpPr>
        <p:spPr>
          <a:xfrm>
            <a:off x="8046719" y="2011680"/>
            <a:ext cx="3566160" cy="2743200"/>
          </a:xfrm>
          <a:prstGeom prst="roundRect">
            <a:avLst>
              <a:gd name="adj" fmla="val 6000"/>
            </a:avLst>
          </a:prstGeom>
          <a:solidFill>
            <a:srgbClr val="1F23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Oval 13"/>
          <p:cNvSpPr/>
          <p:nvPr/>
        </p:nvSpPr>
        <p:spPr>
          <a:xfrm>
            <a:off x="8321040" y="2240280"/>
            <a:ext cx="548640" cy="548640"/>
          </a:xfrm>
          <a:prstGeom prst="ellipse">
            <a:avLst/>
          </a:prstGeom>
          <a:solidFill>
            <a:srgbClr val="86BC25"/>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a:solidFill>
                  <a:srgbClr val="0D0D0D"/>
                </a:solidFill>
                <a:latin typeface="Arial"/>
              </a:rPr>
              <a:t>3</a:t>
            </a:r>
          </a:p>
        </p:txBody>
      </p:sp>
      <p:sp>
        <p:nvSpPr>
          <p:cNvPr id="15" name="TextBox 14"/>
          <p:cNvSpPr txBox="1"/>
          <p:nvPr/>
        </p:nvSpPr>
        <p:spPr>
          <a:xfrm>
            <a:off x="8321040" y="2971800"/>
            <a:ext cx="3017520" cy="457200"/>
          </a:xfrm>
          <a:prstGeom prst="rect">
            <a:avLst/>
          </a:prstGeom>
          <a:noFill/>
        </p:spPr>
        <p:txBody>
          <a:bodyPr wrap="square" lIns="0" tIns="0" rIns="0" bIns="0" anchor="t">
            <a:spAutoFit/>
          </a:bodyPr>
          <a:lstStyle/>
          <a:p>
            <a:pPr algn="l">
              <a:spcAft>
                <a:spcPts val="400"/>
              </a:spcAft>
            </a:pPr>
            <a:r>
              <a:rPr sz="2000" b="1" i="0">
                <a:solidFill>
                  <a:srgbClr val="FFFFFF"/>
                </a:solidFill>
                <a:latin typeface="Arial"/>
              </a:rPr>
              <a:t>GitHub repository</a:t>
            </a:r>
          </a:p>
        </p:txBody>
      </p:sp>
      <p:sp>
        <p:nvSpPr>
          <p:cNvPr id="16" name="TextBox 15"/>
          <p:cNvSpPr txBox="1"/>
          <p:nvPr/>
        </p:nvSpPr>
        <p:spPr>
          <a:xfrm>
            <a:off x="8321040" y="3520440"/>
            <a:ext cx="3017520" cy="1097280"/>
          </a:xfrm>
          <a:prstGeom prst="rect">
            <a:avLst/>
          </a:prstGeom>
          <a:noFill/>
        </p:spPr>
        <p:txBody>
          <a:bodyPr wrap="square" lIns="0" tIns="0" rIns="0" bIns="0" anchor="t">
            <a:spAutoFit/>
          </a:bodyPr>
          <a:lstStyle/>
          <a:p>
            <a:pPr algn="l">
              <a:spcAft>
                <a:spcPts val="400"/>
              </a:spcAft>
            </a:pPr>
            <a:r>
              <a:rPr sz="1500" b="0" i="0">
                <a:solidFill>
                  <a:srgbClr val="C9CDD1"/>
                </a:solidFill>
                <a:latin typeface="Calibri"/>
              </a:rPr>
              <a:t>Deck, prototype, golden dataset, Figma SVGs and README</a:t>
            </a:r>
          </a:p>
          <a:p>
            <a:pPr marL="0" algn="l">
              <a:spcBef>
                <a:spcPts val="800"/>
              </a:spcBef>
              <a:spcAft>
                <a:spcPts val="400"/>
              </a:spcAft>
            </a:pPr>
            <a:r>
              <a:rPr sz="1200" b="0" i="0" u="sng">
                <a:solidFill>
                  <a:srgbClr val="86BC25"/>
                </a:solidFill>
                <a:latin typeface="Calibri"/>
                <a:hlinkClick r:id="rId5"/>
              </a:rPr>
              <a:t>github.com/alexshajan/Ruleforge_HashedIn</a:t>
            </a:r>
          </a:p>
        </p:txBody>
      </p:sp>
      <p:sp>
        <p:nvSpPr>
          <p:cNvPr id="17" name="TextBox 16"/>
          <p:cNvSpPr txBox="1"/>
          <p:nvPr/>
        </p:nvSpPr>
        <p:spPr>
          <a:xfrm>
            <a:off x="548640" y="5212080"/>
            <a:ext cx="10972800" cy="548640"/>
          </a:xfrm>
          <a:prstGeom prst="rect">
            <a:avLst/>
          </a:prstGeom>
          <a:noFill/>
        </p:spPr>
        <p:txBody>
          <a:bodyPr wrap="square" lIns="0" tIns="0" rIns="0" bIns="0" anchor="t">
            <a:spAutoFit/>
          </a:bodyPr>
          <a:lstStyle/>
          <a:p>
            <a:pPr algn="l">
              <a:spcAft>
                <a:spcPts val="400"/>
              </a:spcAft>
            </a:pPr>
            <a:r>
              <a:rPr sz="2200" b="0" i="1">
                <a:solidFill>
                  <a:srgbClr val="FFFFFF"/>
                </a:solidFill>
                <a:latin typeface="Calibri"/>
              </a:rPr>
              <a:t>Alex Shajan · IIM Shillong · 2025PGP280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86BC25"/>
      </a:hlink>
      <a:folHlink>
        <a:srgbClr val="86BC25"/>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TotalTime>
  <Words>3516</Words>
  <Application>Microsoft Macintosh PowerPoint</Application>
  <PresentationFormat>Widescreen</PresentationFormat>
  <Paragraphs>563</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ALEX SHAJAN</cp:lastModifiedBy>
  <cp:revision>26</cp:revision>
  <dcterms:created xsi:type="dcterms:W3CDTF">2013-01-27T09:14:16Z</dcterms:created>
  <dcterms:modified xsi:type="dcterms:W3CDTF">2026-10-27T12:22:28Z</dcterms:modified>
  <cp:category/>
</cp:coreProperties>
</file>